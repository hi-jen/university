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8" y="153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2F560-6B97-4E49-9E45-2F9EB48F1BB1}" type="datetimeFigureOut">
              <a:rPr lang="ko-KR" altLang="en-US" smtClean="0"/>
              <a:t>2025-06-13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D884D-5724-4430-9038-63AE3CCDF0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74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Butterworth </a:t>
            </a:r>
            <a:r>
              <a:rPr lang="ko-KR" altLang="en-US" dirty="0" err="1"/>
              <a:t>저역통과</a:t>
            </a:r>
            <a:r>
              <a:rPr lang="ko-KR" altLang="en-US" dirty="0"/>
              <a:t> 필터 사용한 이유와 </a:t>
            </a:r>
            <a:r>
              <a:rPr lang="en-US" altLang="ko-KR" dirty="0"/>
              <a:t>(</a:t>
            </a:r>
            <a:r>
              <a:rPr lang="ko-KR" altLang="en-US" dirty="0"/>
              <a:t>강의 시간에 배웠지만</a:t>
            </a:r>
            <a:r>
              <a:rPr lang="en-US" altLang="ko-KR" dirty="0"/>
              <a:t>)</a:t>
            </a:r>
            <a:r>
              <a:rPr lang="ko-KR" altLang="en-US" dirty="0"/>
              <a:t>다른 필터에 비해 다른 장점</a:t>
            </a:r>
            <a:r>
              <a:rPr lang="en-US" altLang="ko-KR" dirty="0"/>
              <a:t>(?)</a:t>
            </a:r>
            <a:r>
              <a:rPr lang="ko-KR" altLang="en-US" dirty="0"/>
              <a:t>같은 것이 있는지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884D-5724-4430-9038-63AE3CCDF02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79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file:///C:\Users\tv365\Desktop\newjeans\newjeans_festival_10s.wav" TargetMode="External"/><Relationship Id="rId3" Type="http://schemas.microsoft.com/office/2007/relationships/media" Target="file:///C:\Users\tv365\Desktop\newjeans\newjeans_festival_LPF_Order6_15kHz_MusicZone_10s.wav" TargetMode="External"/><Relationship Id="rId7" Type="http://schemas.microsoft.com/office/2007/relationships/media" Target="file:///C:\Users\tv365\Desktop\newjeans\newjeans_festival_10s.wav" TargetMode="External"/><Relationship Id="rId2" Type="http://schemas.openxmlformats.org/officeDocument/2006/relationships/audio" Target="file:///C:\Users\tv365\Desktop\newjeans\newjeans_festival_LPF_Order4_20kHz_HiFi_10s.wav" TargetMode="External"/><Relationship Id="rId1" Type="http://schemas.microsoft.com/office/2007/relationships/media" Target="file:///C:\Users\tv365\Desktop\newjeans\newjeans_festival_LPF_Order4_20kHz_HiFi_10s.wav" TargetMode="External"/><Relationship Id="rId6" Type="http://schemas.openxmlformats.org/officeDocument/2006/relationships/audio" Target="file:///C:\Users\tv365\Desktop\newjeans\newjeans_festival_LPF_Order6_3kHz_10s.wav" TargetMode="External"/><Relationship Id="rId5" Type="http://schemas.microsoft.com/office/2007/relationships/media" Target="file:///C:\Users\tv365\Desktop\newjeans\newjeans_festival_LPF_Order6_3kHz_10s.wav" TargetMode="External"/><Relationship Id="rId10" Type="http://schemas.openxmlformats.org/officeDocument/2006/relationships/image" Target="../media/image3.png"/><Relationship Id="rId4" Type="http://schemas.openxmlformats.org/officeDocument/2006/relationships/audio" Target="file:///C:\Users\tv365\Desktop\newjeans\newjeans_festival_LPF_Order6_15kHz_MusicZone_10s.wav" TargetMode="External"/><Relationship Id="rId9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492463"/>
            <a:ext cx="16021455" cy="9302074"/>
            <a:chOff x="0" y="0"/>
            <a:chExt cx="4219642" cy="2449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449929"/>
            </a:xfrm>
            <a:custGeom>
              <a:avLst/>
              <a:gdLst/>
              <a:ahLst/>
              <a:cxnLst/>
              <a:rect l="l" t="t" r="r" b="b"/>
              <a:pathLst>
                <a:path w="4219642" h="2449929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43199" y="3577785"/>
            <a:ext cx="12801601" cy="84741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7273"/>
              </a:lnSpc>
              <a:spcBef>
                <a:spcPct val="0"/>
              </a:spcBef>
              <a:defRPr/>
            </a:pP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공연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녹음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음원의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노이즈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제거와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음질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보존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6912" y="5759129"/>
            <a:ext cx="4654174" cy="8067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216"/>
              </a:lnSpc>
              <a:defRPr/>
            </a:pPr>
            <a:r>
              <a:rPr lang="en-US" sz="2297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응용소프트웨어공학과</a:t>
            </a:r>
            <a:endParaRPr lang="en-US" sz="2297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lvl="0" algn="ctr">
              <a:lnSpc>
                <a:spcPts val="3216"/>
              </a:lnSpc>
              <a:spcBef>
                <a:spcPct val="0"/>
              </a:spcBef>
              <a:defRPr/>
            </a:pPr>
            <a:r>
              <a:rPr lang="en-US" sz="2297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48367" y="2989735"/>
            <a:ext cx="5591266" cy="490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00"/>
              </a:lnSpc>
              <a:spcBef>
                <a:spcPct val="0"/>
              </a:spcBef>
              <a:defRPr/>
            </a:pP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오디오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신호처리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기말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프로젝트</a:t>
            </a:r>
            <a:endParaRPr lang="en-US" sz="3000" b="1" dirty="0">
              <a:solidFill>
                <a:srgbClr val="000000"/>
              </a:solidFill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965075" y="4635152"/>
            <a:ext cx="4357848" cy="4360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364"/>
              </a:lnSpc>
              <a:spcBef>
                <a:spcPct val="0"/>
              </a:spcBef>
              <a:defRPr/>
            </a:pP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이상적인</a:t>
            </a:r>
            <a:r>
              <a:rPr lang="en-US" sz="2900" b="1" dirty="0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필터</a:t>
            </a:r>
            <a:r>
              <a:rPr lang="en-US" sz="2900" b="1" dirty="0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설정</a:t>
            </a:r>
            <a:r>
              <a:rPr lang="en-US" sz="2900" b="1" dirty="0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찾기</a:t>
            </a:r>
            <a:endParaRPr lang="en-US" sz="2900" b="1" dirty="0">
              <a:solidFill>
                <a:srgbClr val="004AAD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1152728" y="5448300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2" y="777922"/>
            <a:ext cx="16021455" cy="8586494"/>
            <a:chOff x="0" y="-38100"/>
            <a:chExt cx="4219642" cy="2261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71600" y="2990847"/>
            <a:ext cx="15468601" cy="59700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6839"/>
              </a:lnSpc>
              <a:defRPr/>
            </a:pP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프로젝트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개요</a:t>
            </a:r>
            <a:r>
              <a:rPr lang="en-US" altLang="ko-KR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:</a:t>
            </a: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	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2024학년도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동의대학교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대동제에서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진행된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뉴진스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공연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(3분 40초)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에는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고주파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	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잡음이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포함되어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있습니다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</a:t>
            </a:r>
          </a:p>
          <a:p>
            <a:pPr lvl="0" algn="l">
              <a:lnSpc>
                <a:spcPts val="6839"/>
              </a:lnSpc>
              <a:defRPr/>
            </a:pP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문제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정의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및 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프로젝트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목표</a:t>
            </a:r>
            <a:r>
              <a:rPr lang="en-US" altLang="ko-KR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:</a:t>
            </a: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	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음원에서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고주파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노이즈를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효과적으로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제거하면서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공연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원래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음질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을 </a:t>
            </a:r>
            <a:endParaRPr lang="en-US" sz="30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	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최대한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보존하는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필터링 값을 찾는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것이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핵심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목표입니다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</a:t>
            </a: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적용 기술</a:t>
            </a:r>
            <a:r>
              <a:rPr lang="en-US" altLang="ko-KR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: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utterworth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필터링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FFT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스펙트로그램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분석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SNR(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신호대잡음비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) 계산을 통한 성능 평가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9645" y="1753624"/>
            <a:ext cx="96461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01 프로젝트 개요 및 문제 정의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0572" y="9471322"/>
            <a:ext cx="3548627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10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545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81158" y="4738374"/>
            <a:ext cx="3229473" cy="1543050"/>
            <a:chOff x="0" y="0"/>
            <a:chExt cx="850561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14527" y="4738374"/>
            <a:ext cx="3229473" cy="1543050"/>
            <a:chOff x="0" y="0"/>
            <a:chExt cx="850561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48775" y="4738374"/>
            <a:ext cx="3229473" cy="1543050"/>
            <a:chOff x="0" y="0"/>
            <a:chExt cx="850561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83023" y="4738374"/>
            <a:ext cx="3229473" cy="1543050"/>
            <a:chOff x="0" y="0"/>
            <a:chExt cx="850561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69645" y="1753624"/>
            <a:ext cx="6883254" cy="8872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</a:t>
            </a:r>
            <a:r>
              <a:rPr lang="en-US" altLang="ko-KR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2</a:t>
            </a: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프로젝트 진행과정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81158" y="4996248"/>
            <a:ext cx="266573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주파수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endParaRPr lang="en-US" sz="3500" b="1" dirty="0">
              <a:solidFill>
                <a:srgbClr val="FFFFFF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914966" y="4996182"/>
            <a:ext cx="266573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음원 노이즈 제거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8775" y="4996182"/>
            <a:ext cx="266573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음원 SNR </a:t>
            </a:r>
          </a:p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도출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83023" y="5253390"/>
            <a:ext cx="2665738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결론도출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56392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90201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4009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58258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81158" y="6554177"/>
            <a:ext cx="2752842" cy="915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FFT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스펙트로그램추출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914966" y="6554177"/>
            <a:ext cx="2665738" cy="89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</a:p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사용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48775" y="6554177"/>
            <a:ext cx="2665738" cy="91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시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각적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청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각적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</a:p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수치적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583023" y="6554177"/>
            <a:ext cx="2665738" cy="89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및 </a:t>
            </a:r>
          </a:p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결과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도출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80572" y="9471322"/>
            <a:ext cx="345343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2438" y="9487832"/>
            <a:ext cx="1912289" cy="29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33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2" y="777922"/>
            <a:ext cx="16021455" cy="8586494"/>
            <a:chOff x="0" y="-38100"/>
            <a:chExt cx="4219642" cy="2261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lvl="0">
                <a:defRPr/>
              </a:pPr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69645" y="1753624"/>
            <a:ext cx="88841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</a:t>
            </a:r>
            <a:r>
              <a:rPr lang="en-US" altLang="ko-KR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3</a:t>
            </a: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음성 및 음악 주파수 이해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0572" y="9471322"/>
            <a:ext cx="3701028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298" y="7978950"/>
            <a:ext cx="15011401" cy="8585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8225"/>
              </a:lnSpc>
              <a:defRPr/>
            </a:pP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15kHz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전후의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컷오프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설정으로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노이즈는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줄이고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음악의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음질은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최대한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살리는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설계가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중요합니다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10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graphicFrame>
        <p:nvGraphicFramePr>
          <p:cNvPr id="12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380351"/>
              </p:ext>
            </p:extLst>
          </p:nvPr>
        </p:nvGraphicFramePr>
        <p:xfrm>
          <a:off x="2004814" y="3711039"/>
          <a:ext cx="14278370" cy="4267911"/>
        </p:xfrm>
        <a:graphic>
          <a:graphicData uri="http://schemas.openxmlformats.org/drawingml/2006/table">
            <a:tbl>
              <a:tblPr firstRow="1" bandRow="1"/>
              <a:tblGrid>
                <a:gridCol w="345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316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구분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주파수</a:t>
                      </a:r>
                      <a:r>
                        <a:rPr 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범위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주요</a:t>
                      </a:r>
                      <a:r>
                        <a:rPr lang="en-US" altLang="ko-KR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 </a:t>
                      </a: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특징 및 설명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사람 목소리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altLang="ko-KR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85Hz</a:t>
                      </a: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altLang="ko-KR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~</a:t>
                      </a: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altLang="ko-KR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4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kHz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말소리의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기본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대역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감정·명료도는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500Hz~3kHz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639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음악 신호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최대 </a:t>
                      </a:r>
                      <a:r>
                        <a:rPr lang="en-US" altLang="ko-KR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20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kHz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멜로디, 악기 소리 전체 포함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야외 노이즈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altLang="ko-KR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12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kHz</a:t>
                      </a:r>
                      <a:r>
                        <a:rPr lang="ko-KR" alt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이상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바람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소리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앰프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잡음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환호성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등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고주파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노이즈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다수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존재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각진펜"/>
                        <a:sym typeface="각진펜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681954" y="3447440"/>
            <a:ext cx="14924092" cy="4906333"/>
          </a:xfrm>
          <a:custGeom>
            <a:avLst/>
            <a:gdLst/>
            <a:ahLst/>
            <a:cxnLst/>
            <a:rect l="l" t="t" r="r" b="b"/>
            <a:pathLst>
              <a:path w="14924092" h="5298628">
                <a:moveTo>
                  <a:pt x="0" y="0"/>
                </a:moveTo>
                <a:lnTo>
                  <a:pt x="14924092" y="0"/>
                </a:lnTo>
                <a:lnTo>
                  <a:pt x="14924092" y="5298628"/>
                </a:lnTo>
                <a:lnTo>
                  <a:pt x="0" y="5298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l="-1200" r="-1200" b="-3100"/>
            </a:stretch>
          </a:blipFill>
        </p:spPr>
        <p:txBody>
          <a:bodyPr/>
          <a:lstStyle/>
          <a:p>
            <a:pPr lvl="0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69645" y="1753624"/>
            <a:ext cx="142943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04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원본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음원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FFT</a:t>
            </a:r>
            <a:r>
              <a:rPr lang="en-US" sz="3200" b="1" dirty="0">
                <a:latin typeface="+mj-ea"/>
                <a:ea typeface="+mj-ea"/>
                <a:cs typeface="각진펜 Bold"/>
                <a:sym typeface="각진펜 Bold"/>
              </a:rPr>
              <a:t>(</a:t>
            </a:r>
            <a:r>
              <a:rPr lang="en-US" altLang="ko-KR" sz="3200" b="1" dirty="0">
                <a:latin typeface="+mj-ea"/>
                <a:ea typeface="+mj-ea"/>
              </a:rPr>
              <a:t>Fast Fourier Transform</a:t>
            </a:r>
            <a:r>
              <a:rPr lang="en-US" sz="3200" b="1" dirty="0">
                <a:latin typeface="+mj-ea"/>
                <a:ea typeface="+mj-ea"/>
                <a:cs typeface="각진펜 Bold"/>
                <a:sym typeface="각진펜 Bold"/>
              </a:rPr>
              <a:t>)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스펙트로그램</a:t>
            </a:r>
            <a:endParaRPr lang="en-US" sz="5395" b="1" dirty="0">
              <a:solidFill>
                <a:srgbClr val="5171FF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80572" y="9471322"/>
            <a:ext cx="3548627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10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3009900" y="8470351"/>
            <a:ext cx="126873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600" b="1">
                <a:latin typeface="+mj-ea"/>
                <a:ea typeface="+mj-ea"/>
              </a:rPr>
              <a:t>원본 음원에서 </a:t>
            </a:r>
            <a:r>
              <a:rPr lang="ko-KR" altLang="en-US" sz="2600" b="1" dirty="0">
                <a:latin typeface="+mj-ea"/>
                <a:ea typeface="+mj-ea"/>
              </a:rPr>
              <a:t>15kHz 이상의 고주파 대역에서 넓고 강한 노이즈 성분이 관찰됩니다.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69645" y="1753624"/>
            <a:ext cx="113987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05 </a:t>
            </a:r>
            <a:r>
              <a:rPr lang="ko-KR" alt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필터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노이즈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제거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후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스펙트로그램</a:t>
            </a:r>
            <a:endParaRPr lang="en-US" sz="5395" b="1" dirty="0">
              <a:solidFill>
                <a:srgbClr val="5171FF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80572" y="9471322"/>
            <a:ext cx="3624828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49504" y="3361360"/>
            <a:ext cx="10988992" cy="5105400"/>
          </a:xfrm>
          <a:prstGeom prst="rect">
            <a:avLst/>
          </a:prstGeom>
        </p:spPr>
      </p:pic>
      <p:sp>
        <p:nvSpPr>
          <p:cNvPr id="11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2438400" y="8506999"/>
            <a:ext cx="138684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500" b="1" dirty="0">
                <a:latin typeface="+mj-ea"/>
                <a:ea typeface="+mj-ea"/>
              </a:rPr>
              <a:t>필터링 후 15kHz 이상 고주파 노이즈는 효과적으로 제거되었고, 주요 음원은 잘 보존되었습니다.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4723" y="920755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46"/>
                </a:lnSpc>
                <a:defRPr/>
              </a:pPr>
              <a:endParaRPr lang="ko-KR" altLang="en-US"/>
            </a:p>
          </p:txBody>
        </p:sp>
      </p:grpSp>
      <p:sp>
        <p:nvSpPr>
          <p:cNvPr id="5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966714" y="3959018"/>
          <a:ext cx="14354570" cy="4267911"/>
        </p:xfrm>
        <a:graphic>
          <a:graphicData uri="http://schemas.openxmlformats.org/drawingml/2006/table">
            <a:tbl>
              <a:tblPr firstRow="1" bandRow="1"/>
              <a:tblGrid>
                <a:gridCol w="239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8316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음원 파일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  <a:cs typeface="각진펜 Bold"/>
                        <a:sym typeface="각진펜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필터 </a:t>
                      </a: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차수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주파수 컷오프 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SNR(dB)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음원 </a:t>
                      </a:r>
                      <a:r>
                        <a:rPr lang="en-US" altLang="ko-KR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해석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LPF_Order4_20kHz_HiFi 4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4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20kHz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79.46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원본과 거의 동일, 고역 보존, 공간감 유지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639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LPF_Order6_15kHz_MusicZone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6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15kHz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51.10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고역 노이즈 억제와 음질 절충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LPF_Order6_3kHz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6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3kHz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21.30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고역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노이즈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완전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제거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음질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크게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손상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각진펜"/>
                        <a:sym typeface="각진펜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469645" y="1753624"/>
            <a:ext cx="7436355" cy="96100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0</a:t>
            </a:r>
            <a:r>
              <a:rPr lang="en-US" altLang="ko-KR" sz="5395" b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6</a:t>
            </a:r>
            <a:r>
              <a:rPr lang="en-US" sz="5395" b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 SNR 실험 결과 요약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0572" y="9471322"/>
            <a:ext cx="3777228" cy="3394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2438" y="9487832"/>
            <a:ext cx="1912290" cy="2907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맑은 고딕"/>
                <a:ea typeface="맑은 고딕"/>
                <a:cs typeface="각진펜"/>
                <a:sym typeface="각진펜"/>
              </a:rPr>
              <a:t>20213032 권영훈</a:t>
            </a:r>
          </a:p>
        </p:txBody>
      </p:sp>
      <p:pic>
        <p:nvPicPr>
          <p:cNvPr id="15" name="newjeans_festival_LPF_Order4_20kHz_HiFi_10s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10325100" y="5257800"/>
            <a:ext cx="571500" cy="571500"/>
          </a:xfrm>
          <a:prstGeom prst="rect">
            <a:avLst/>
          </a:prstGeom>
        </p:spPr>
      </p:pic>
      <p:pic>
        <p:nvPicPr>
          <p:cNvPr id="16" name="newjeans_festival_LPF_Order6_15kHz_MusicZone_10s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10325100" y="6324600"/>
            <a:ext cx="571500" cy="571500"/>
          </a:xfrm>
          <a:prstGeom prst="rect">
            <a:avLst/>
          </a:prstGeom>
        </p:spPr>
      </p:pic>
      <p:pic>
        <p:nvPicPr>
          <p:cNvPr id="17" name="newjeans_festival_LPF_Order6_3kHz_10s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10325100" y="7391400"/>
            <a:ext cx="571500" cy="571500"/>
          </a:xfrm>
          <a:prstGeom prst="rect">
            <a:avLst/>
          </a:prstGeom>
        </p:spPr>
      </p:pic>
      <p:pic>
        <p:nvPicPr>
          <p:cNvPr id="18" name="newjeans_festival_10s.wav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9372600" y="3126583"/>
            <a:ext cx="571500" cy="571500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1966714" y="3239756"/>
            <a:ext cx="74058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latin typeface="맑은 고딕"/>
              </a:rPr>
              <a:t>원본 음원</a:t>
            </a:r>
            <a:r>
              <a:rPr lang="en-US" altLang="ko-KR" sz="2000" b="1" dirty="0">
                <a:latin typeface="맑은 고딕"/>
              </a:rPr>
              <a:t> SNR(dB) : 86.99 dB</a:t>
            </a:r>
            <a:r>
              <a:rPr lang="ko-KR" altLang="en-US" sz="2000" b="1" dirty="0">
                <a:latin typeface="맑은 고딕"/>
              </a:rPr>
              <a:t> </a:t>
            </a:r>
            <a:r>
              <a:rPr lang="en-US" altLang="ko-KR" sz="2000" b="1" dirty="0">
                <a:latin typeface="맑은 고딕"/>
              </a:rPr>
              <a:t>"newjeans_festival_10s.wav"</a:t>
            </a:r>
            <a:r>
              <a:rPr lang="ko-KR" altLang="en-US" sz="2000" b="1" dirty="0">
                <a:latin typeface="맑은 고딕"/>
              </a:rPr>
              <a:t> </a:t>
            </a:r>
          </a:p>
        </p:txBody>
      </p:sp>
      <p:sp>
        <p:nvSpPr>
          <p:cNvPr id="22" name="가로 글상자 21"/>
          <p:cNvSpPr txBox="1"/>
          <p:nvPr/>
        </p:nvSpPr>
        <p:spPr>
          <a:xfrm>
            <a:off x="1447800" y="8284225"/>
            <a:ext cx="15316200" cy="95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ko-KR" altLang="en-US" sz="2000" b="1" dirty="0" err="1">
                <a:solidFill>
                  <a:srgbClr val="000000"/>
                </a:solidFill>
                <a:latin typeface="맑은 고딕"/>
                <a:cs typeface="각진펜"/>
                <a:sym typeface="각진펜"/>
              </a:rPr>
              <a:t>뉴진스</a:t>
            </a:r>
            <a:r>
              <a:rPr lang="ko-KR" altLang="en-US" sz="2000" b="1" dirty="0">
                <a:solidFill>
                  <a:srgbClr val="000000"/>
                </a:solidFill>
                <a:latin typeface="맑은 고딕"/>
                <a:cs typeface="각진펜"/>
                <a:sym typeface="각진펜"/>
              </a:rPr>
              <a:t> 공연 음원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에 Butterworth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필터를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적용해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고주파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노이즈를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줄이고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, SNR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향상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효과를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청각적 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·</a:t>
            </a:r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수치적으로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입증했습니다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0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0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0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10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10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10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10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0200" y="3126584"/>
            <a:ext cx="14859000" cy="604599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1.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altLang="ko-KR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FFT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및 필터 적용 후 </a:t>
            </a:r>
            <a:r>
              <a:rPr lang="en-US" sz="28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스펙트로그램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과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SNR </a:t>
            </a:r>
            <a:r>
              <a:rPr lang="en-US" sz="28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을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통해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</a:t>
            </a: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고주파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제거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전후의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시각적 </a:t>
            </a:r>
            <a:r>
              <a:rPr 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·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청각적 </a:t>
            </a:r>
            <a:r>
              <a:rPr 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·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수치적 차이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를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확인할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수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있었</a:t>
            </a:r>
            <a:r>
              <a:rPr lang="ko-KR" alt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습니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다.</a:t>
            </a:r>
            <a:endParaRPr lang="en-US" altLang="ko-KR" sz="28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2.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실험을 통해 </a:t>
            </a:r>
            <a:r>
              <a:rPr 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  <a:r>
              <a:rPr lang="ko-KR" altLang="en-US" sz="28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필터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으로</a:t>
            </a: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고주파 노이즈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를 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제거</a:t>
            </a: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하는 동시에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 품질</a:t>
            </a: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을 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최대한 보존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시킬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수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있음을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검증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하였</a:t>
            </a:r>
            <a:r>
              <a:rPr lang="ko-KR" alt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습니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다.</a:t>
            </a: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3.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결론적으로 프로젝트의 목표였던 </a:t>
            </a:r>
            <a:r>
              <a:rPr lang="en-US" altLang="ko-KR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2024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학년도 동의대학교 </a:t>
            </a:r>
            <a:r>
              <a:rPr lang="ko-KR" altLang="en-US" sz="28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대동제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8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뉴진스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공연 음원 파일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에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가장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적합한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필터링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값은</a:t>
            </a: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  <a:r>
              <a:rPr lang="en-US" sz="28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en-US" sz="28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필터</a:t>
            </a:r>
            <a:r>
              <a:rPr lang="en-US" sz="28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차수</a:t>
            </a:r>
            <a:r>
              <a:rPr lang="en-US" sz="28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6차, </a:t>
            </a:r>
            <a:r>
              <a:rPr lang="en-US" sz="28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컷오프</a:t>
            </a:r>
            <a:r>
              <a:rPr lang="en-US" sz="28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주파수</a:t>
            </a:r>
            <a:r>
              <a:rPr lang="en-US" sz="28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15kHz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임을 </a:t>
            </a:r>
            <a:r>
              <a:rPr 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확인하였</a:t>
            </a:r>
            <a:r>
              <a:rPr lang="ko-KR" altLang="en-US" sz="28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습니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69645" y="1753624"/>
            <a:ext cx="2445255" cy="8872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</a:t>
            </a:r>
            <a:r>
              <a:rPr lang="en-US" altLang="ko-KR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7</a:t>
            </a: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결론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0572" y="9471322"/>
            <a:ext cx="3624828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ko-KR" alt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14935200" y="9471322"/>
            <a:ext cx="1878586" cy="2907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ts val="2520"/>
              </a:lnSpc>
              <a:spcBef>
                <a:spcPct val="0"/>
              </a:spcBef>
              <a:defRPr/>
            </a:pP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 권영훈</a:t>
            </a:r>
          </a:p>
        </p:txBody>
      </p:sp>
      <p:sp>
        <p:nvSpPr>
          <p:cNvPr id="14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492463"/>
            <a:ext cx="16021455" cy="9302074"/>
            <a:chOff x="0" y="0"/>
            <a:chExt cx="4219642" cy="2449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449929"/>
            </a:xfrm>
            <a:custGeom>
              <a:avLst/>
              <a:gdLst/>
              <a:ahLst/>
              <a:cxnLst/>
              <a:rect l="l" t="t" r="r" b="b"/>
              <a:pathLst>
                <a:path w="4219642" h="2449929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88985" y="3392809"/>
            <a:ext cx="10110029" cy="14173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1199"/>
              </a:lnSpc>
              <a:spcBef>
                <a:spcPct val="0"/>
              </a:spcBef>
              <a:defRPr/>
            </a:pPr>
            <a:r>
              <a:rPr lang="en-US" sz="7999" b="1">
                <a:solidFill>
                  <a:srgbClr val="5171FF"/>
                </a:solidFill>
                <a:latin typeface="맑은 고딕"/>
                <a:ea typeface="맑은 고딕"/>
                <a:cs typeface="윤고딕 Bold"/>
                <a:sym typeface="윤고딕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68152" y="5250200"/>
            <a:ext cx="8551696" cy="988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840"/>
              </a:lnSpc>
              <a:spcBef>
                <a:spcPct val="0"/>
              </a:spcBef>
              <a:defRPr/>
            </a:pPr>
            <a:r>
              <a:rPr lang="en-US" sz="5600" b="1">
                <a:solidFill>
                  <a:srgbClr val="000000"/>
                </a:solidFill>
                <a:latin typeface="맑은 고딕"/>
                <a:ea typeface="맑은 고딕"/>
                <a:cs typeface="각진펜 Bold"/>
                <a:sym typeface="각진펜 Bold"/>
              </a:rPr>
              <a:t>감사합니다</a:t>
            </a:r>
          </a:p>
        </p:txBody>
      </p:sp>
      <p:sp>
        <p:nvSpPr>
          <p:cNvPr id="8" name="AutoShape 5"/>
          <p:cNvSpPr/>
          <p:nvPr/>
        </p:nvSpPr>
        <p:spPr>
          <a:xfrm>
            <a:off x="1143000" y="4838700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516</Words>
  <Application>Microsoft Office PowerPoint</Application>
  <PresentationFormat>사용자 지정</PresentationFormat>
  <Paragraphs>93</Paragraphs>
  <Slides>9</Slides>
  <Notes>1</Notes>
  <HiddenSlides>0</HiddenSlides>
  <MMClips>4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공연 녹음 음원의 노이즈 제거와 음질 보존 </dc:title>
  <cp:lastModifiedBy>영훈 권</cp:lastModifiedBy>
  <cp:revision>41</cp:revision>
  <dcterms:created xsi:type="dcterms:W3CDTF">2006-08-16T00:00:00Z</dcterms:created>
  <dcterms:modified xsi:type="dcterms:W3CDTF">2025-06-13T06:48:55Z</dcterms:modified>
  <cp:version/>
</cp:coreProperties>
</file>