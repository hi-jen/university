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5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52F560-6B97-4E49-9E45-2F9EB48F1BB1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3D884D-5724-4430-9038-63AE3CCDF0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3747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예를 들어</a:t>
            </a:r>
            <a:r>
              <a:rPr lang="en-US" altLang="ko-KR" dirty="0"/>
              <a:t>, Butterworth </a:t>
            </a:r>
            <a:r>
              <a:rPr lang="ko-KR" altLang="en-US" dirty="0" err="1"/>
              <a:t>저역통과</a:t>
            </a:r>
            <a:r>
              <a:rPr lang="ko-KR" altLang="en-US" dirty="0"/>
              <a:t> 필터 사용한 이유와 </a:t>
            </a:r>
            <a:r>
              <a:rPr lang="en-US" altLang="ko-KR" dirty="0"/>
              <a:t>(</a:t>
            </a:r>
            <a:r>
              <a:rPr lang="ko-KR" altLang="en-US" dirty="0"/>
              <a:t>강의 시간에 배웠지만</a:t>
            </a:r>
            <a:r>
              <a:rPr lang="en-US" altLang="ko-KR" dirty="0"/>
              <a:t>)</a:t>
            </a:r>
            <a:r>
              <a:rPr lang="ko-KR" altLang="en-US" dirty="0"/>
              <a:t>다른 필터에 비해 다른 장점</a:t>
            </a:r>
            <a:r>
              <a:rPr lang="en-US" altLang="ko-KR" dirty="0"/>
              <a:t>(?)</a:t>
            </a:r>
            <a:r>
              <a:rPr lang="ko-KR" altLang="en-US" dirty="0"/>
              <a:t>같은 것이 있는지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3D884D-5724-4430-9038-63AE3CCDF02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9879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audio" Target="file:///C:\Users\tv365\Desktop\newjeans\newjeans_festival_10s.wav" TargetMode="External"/><Relationship Id="rId3" Type="http://schemas.microsoft.com/office/2007/relationships/media" Target="file:///C:\Users\tv365\Desktop\newjeans\newjeans_festival_LPF_Order6_15kHz_MusicZone_10s.wav" TargetMode="External"/><Relationship Id="rId7" Type="http://schemas.microsoft.com/office/2007/relationships/media" Target="file:///C:\Users\tv365\Desktop\newjeans\newjeans_festival_10s.wav" TargetMode="External"/><Relationship Id="rId2" Type="http://schemas.openxmlformats.org/officeDocument/2006/relationships/audio" Target="file:///C:\Users\tv365\Desktop\newjeans\newjeans_festival_LPF_Order4_20kHz_HiFi_10s.wav" TargetMode="External"/><Relationship Id="rId1" Type="http://schemas.microsoft.com/office/2007/relationships/media" Target="file:///C:\Users\tv365\Desktop\newjeans\newjeans_festival_LPF_Order4_20kHz_HiFi_10s.wav" TargetMode="External"/><Relationship Id="rId6" Type="http://schemas.openxmlformats.org/officeDocument/2006/relationships/audio" Target="file:///C:\Users\tv365\Desktop\newjeans\newjeans_festival_LPF_Order6_3kHz_10s.wav" TargetMode="External"/><Relationship Id="rId5" Type="http://schemas.microsoft.com/office/2007/relationships/media" Target="file:///C:\Users\tv365\Desktop\newjeans\newjeans_festival_LPF_Order6_3kHz_10s.wav" TargetMode="External"/><Relationship Id="rId10" Type="http://schemas.openxmlformats.org/officeDocument/2006/relationships/image" Target="../media/image3.png"/><Relationship Id="rId4" Type="http://schemas.openxmlformats.org/officeDocument/2006/relationships/audio" Target="file:///C:\Users\tv365\Desktop\newjeans\newjeans_festival_LPF_Order6_15kHz_MusicZone_10s.wav" TargetMode="External"/><Relationship Id="rId9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3273" y="492463"/>
            <a:ext cx="16021455" cy="9302074"/>
            <a:chOff x="0" y="0"/>
            <a:chExt cx="4219642" cy="24499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19642" cy="2449929"/>
            </a:xfrm>
            <a:custGeom>
              <a:avLst/>
              <a:gdLst/>
              <a:ahLst/>
              <a:cxnLst/>
              <a:rect l="l" t="t" r="r" b="b"/>
              <a:pathLst>
                <a:path w="4219642" h="2449929">
                  <a:moveTo>
                    <a:pt x="0" y="0"/>
                  </a:moveTo>
                  <a:lnTo>
                    <a:pt x="4219642" y="0"/>
                  </a:lnTo>
                  <a:lnTo>
                    <a:pt x="4219642" y="2449929"/>
                  </a:lnTo>
                  <a:lnTo>
                    <a:pt x="0" y="244992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19642" cy="24880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 b="1">
                <a:latin typeface="+mj-ea"/>
                <a:ea typeface="+mj-ea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743199" y="3577785"/>
            <a:ext cx="12801601" cy="84741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7273"/>
              </a:lnSpc>
              <a:spcBef>
                <a:spcPct val="0"/>
              </a:spcBef>
              <a:defRPr/>
            </a:pPr>
            <a:r>
              <a:rPr lang="en-US" altLang="ko-KR" sz="5195" b="1" dirty="0" err="1">
                <a:solidFill>
                  <a:srgbClr val="5171FF"/>
                </a:solidFill>
                <a:latin typeface="+mj-ea"/>
                <a:cs typeface="각진펜 Bold"/>
                <a:sym typeface="각진펜 Bold"/>
              </a:rPr>
              <a:t>공연</a:t>
            </a:r>
            <a:r>
              <a:rPr lang="en-US" altLang="ko-KR" sz="5195" b="1" dirty="0">
                <a:solidFill>
                  <a:srgbClr val="5171FF"/>
                </a:solidFill>
                <a:latin typeface="+mj-ea"/>
                <a:cs typeface="각진펜 Bold"/>
                <a:sym typeface="각진펜 Bold"/>
              </a:rPr>
              <a:t> </a:t>
            </a:r>
            <a:r>
              <a:rPr lang="en-US" altLang="ko-KR" sz="5195" b="1" dirty="0" err="1">
                <a:solidFill>
                  <a:srgbClr val="5171FF"/>
                </a:solidFill>
                <a:latin typeface="+mj-ea"/>
                <a:cs typeface="각진펜 Bold"/>
                <a:sym typeface="각진펜 Bold"/>
              </a:rPr>
              <a:t>녹음</a:t>
            </a:r>
            <a:r>
              <a:rPr lang="en-US" altLang="ko-KR" sz="5195" b="1" dirty="0">
                <a:solidFill>
                  <a:srgbClr val="5171FF"/>
                </a:solidFill>
                <a:latin typeface="+mj-ea"/>
                <a:cs typeface="각진펜 Bold"/>
                <a:sym typeface="각진펜 Bold"/>
              </a:rPr>
              <a:t> </a:t>
            </a:r>
            <a:r>
              <a:rPr lang="en-US" altLang="ko-KR" sz="5195" b="1" dirty="0" err="1">
                <a:solidFill>
                  <a:srgbClr val="5171FF"/>
                </a:solidFill>
                <a:latin typeface="+mj-ea"/>
                <a:cs typeface="각진펜 Bold"/>
                <a:sym typeface="각진펜 Bold"/>
              </a:rPr>
              <a:t>음원의</a:t>
            </a:r>
            <a:r>
              <a:rPr lang="en-US" altLang="ko-KR" sz="5195" b="1" dirty="0">
                <a:solidFill>
                  <a:srgbClr val="5171FF"/>
                </a:solidFill>
                <a:latin typeface="+mj-ea"/>
                <a:cs typeface="각진펜 Bold"/>
                <a:sym typeface="각진펜 Bold"/>
              </a:rPr>
              <a:t> </a:t>
            </a:r>
            <a:r>
              <a:rPr lang="en-US" altLang="ko-KR" sz="5195" b="1" dirty="0" err="1">
                <a:solidFill>
                  <a:srgbClr val="5171FF"/>
                </a:solidFill>
                <a:latin typeface="+mj-ea"/>
                <a:cs typeface="각진펜 Bold"/>
                <a:sym typeface="각진펜 Bold"/>
              </a:rPr>
              <a:t>노이즈</a:t>
            </a:r>
            <a:r>
              <a:rPr lang="en-US" altLang="ko-KR" sz="5195" b="1" dirty="0">
                <a:solidFill>
                  <a:srgbClr val="5171FF"/>
                </a:solidFill>
                <a:latin typeface="+mj-ea"/>
                <a:cs typeface="각진펜 Bold"/>
                <a:sym typeface="각진펜 Bold"/>
              </a:rPr>
              <a:t> </a:t>
            </a:r>
            <a:r>
              <a:rPr lang="en-US" altLang="ko-KR" sz="5195" b="1" dirty="0" err="1">
                <a:solidFill>
                  <a:srgbClr val="5171FF"/>
                </a:solidFill>
                <a:latin typeface="+mj-ea"/>
                <a:cs typeface="각진펜 Bold"/>
                <a:sym typeface="각진펜 Bold"/>
              </a:rPr>
              <a:t>제거와</a:t>
            </a:r>
            <a:r>
              <a:rPr lang="en-US" altLang="ko-KR" sz="5195" b="1" dirty="0">
                <a:solidFill>
                  <a:srgbClr val="5171FF"/>
                </a:solidFill>
                <a:latin typeface="+mj-ea"/>
                <a:cs typeface="각진펜 Bold"/>
                <a:sym typeface="각진펜 Bold"/>
              </a:rPr>
              <a:t> </a:t>
            </a:r>
            <a:r>
              <a:rPr lang="en-US" altLang="ko-KR" sz="5195" b="1" dirty="0" err="1">
                <a:solidFill>
                  <a:srgbClr val="5171FF"/>
                </a:solidFill>
                <a:latin typeface="+mj-ea"/>
                <a:cs typeface="각진펜 Bold"/>
                <a:sym typeface="각진펜 Bold"/>
              </a:rPr>
              <a:t>음질</a:t>
            </a:r>
            <a:r>
              <a:rPr lang="en-US" altLang="ko-KR" sz="5195" b="1" dirty="0">
                <a:solidFill>
                  <a:srgbClr val="5171FF"/>
                </a:solidFill>
                <a:latin typeface="+mj-ea"/>
                <a:cs typeface="각진펜 Bold"/>
                <a:sym typeface="각진펜 Bold"/>
              </a:rPr>
              <a:t> </a:t>
            </a:r>
            <a:r>
              <a:rPr lang="en-US" altLang="ko-KR" sz="5195" b="1" dirty="0" err="1">
                <a:solidFill>
                  <a:srgbClr val="5171FF"/>
                </a:solidFill>
                <a:latin typeface="+mj-ea"/>
                <a:cs typeface="각진펜 Bold"/>
                <a:sym typeface="각진펜 Bold"/>
              </a:rPr>
              <a:t>보존</a:t>
            </a:r>
            <a:r>
              <a:rPr lang="en-US" altLang="ko-KR" sz="5195" b="1" dirty="0">
                <a:solidFill>
                  <a:srgbClr val="5171FF"/>
                </a:solidFill>
                <a:latin typeface="+mj-ea"/>
                <a:cs typeface="각진펜 Bold"/>
                <a:sym typeface="각진펜 Bold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16912" y="5759129"/>
            <a:ext cx="4654174" cy="80670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3216"/>
              </a:lnSpc>
              <a:defRPr/>
            </a:pPr>
            <a:r>
              <a:rPr lang="en-US" sz="2297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응용소프트웨어공학과</a:t>
            </a:r>
            <a:endParaRPr lang="en-US" sz="2297" b="1" dirty="0">
              <a:solidFill>
                <a:srgbClr val="000000"/>
              </a:solidFill>
              <a:latin typeface="+mj-ea"/>
              <a:ea typeface="+mj-ea"/>
              <a:cs typeface="각진펜"/>
              <a:sym typeface="각진펜"/>
            </a:endParaRPr>
          </a:p>
          <a:p>
            <a:pPr lvl="0" algn="ctr">
              <a:lnSpc>
                <a:spcPts val="3216"/>
              </a:lnSpc>
              <a:spcBef>
                <a:spcPct val="0"/>
              </a:spcBef>
              <a:defRPr/>
            </a:pPr>
            <a:r>
              <a:rPr lang="en-US" sz="2297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20213032 권영훈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348367" y="2989735"/>
            <a:ext cx="5591266" cy="4907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4200"/>
              </a:lnSpc>
              <a:spcBef>
                <a:spcPct val="0"/>
              </a:spcBef>
              <a:defRPr/>
            </a:pP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윤고딕 Bold"/>
                <a:sym typeface="윤고딕 Bold"/>
              </a:rPr>
              <a:t>오디오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윤고딕 Bold"/>
                <a:sym typeface="윤고딕 Bold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윤고딕 Bold"/>
                <a:sym typeface="윤고딕 Bold"/>
              </a:rPr>
              <a:t>신호처리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윤고딕 Bold"/>
                <a:sym typeface="윤고딕 Bold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윤고딕 Bold"/>
                <a:sym typeface="윤고딕 Bold"/>
              </a:rPr>
              <a:t>기말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윤고딕 Bold"/>
                <a:sym typeface="윤고딕 Bold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윤고딕 Bold"/>
                <a:sym typeface="윤고딕 Bold"/>
              </a:rPr>
              <a:t>프로젝트</a:t>
            </a:r>
            <a:endParaRPr lang="en-US" sz="3000" b="1" dirty="0">
              <a:solidFill>
                <a:srgbClr val="000000"/>
              </a:solidFill>
              <a:latin typeface="+mj-ea"/>
              <a:ea typeface="+mj-ea"/>
              <a:cs typeface="윤고딕 Bold"/>
              <a:sym typeface="윤고딕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965075" y="4635152"/>
            <a:ext cx="4357848" cy="43601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3364"/>
              </a:lnSpc>
              <a:spcBef>
                <a:spcPct val="0"/>
              </a:spcBef>
              <a:defRPr/>
            </a:pPr>
            <a:r>
              <a:rPr lang="en-US" sz="2900" b="1" dirty="0" err="1">
                <a:solidFill>
                  <a:srgbClr val="004AAD"/>
                </a:solidFill>
                <a:latin typeface="+mj-ea"/>
                <a:ea typeface="+mj-ea"/>
                <a:cs typeface="각진펜 Bold"/>
                <a:sym typeface="각진펜 Bold"/>
              </a:rPr>
              <a:t>이상적인</a:t>
            </a:r>
            <a:r>
              <a:rPr lang="en-US" sz="2900" b="1" dirty="0">
                <a:solidFill>
                  <a:srgbClr val="004AAD"/>
                </a:solidFill>
                <a:latin typeface="+mj-ea"/>
                <a:ea typeface="+mj-ea"/>
                <a:cs typeface="각진펜 Bold"/>
                <a:sym typeface="각진펜 Bold"/>
              </a:rPr>
              <a:t> </a:t>
            </a:r>
            <a:r>
              <a:rPr lang="en-US" sz="2900" b="1" dirty="0" err="1">
                <a:solidFill>
                  <a:srgbClr val="004AAD"/>
                </a:solidFill>
                <a:latin typeface="+mj-ea"/>
                <a:ea typeface="+mj-ea"/>
                <a:cs typeface="각진펜 Bold"/>
                <a:sym typeface="각진펜 Bold"/>
              </a:rPr>
              <a:t>필터</a:t>
            </a:r>
            <a:r>
              <a:rPr lang="en-US" sz="2900" b="1" dirty="0">
                <a:solidFill>
                  <a:srgbClr val="004AAD"/>
                </a:solidFill>
                <a:latin typeface="+mj-ea"/>
                <a:ea typeface="+mj-ea"/>
                <a:cs typeface="각진펜 Bold"/>
                <a:sym typeface="각진펜 Bold"/>
              </a:rPr>
              <a:t> </a:t>
            </a:r>
            <a:r>
              <a:rPr lang="en-US" sz="2900" b="1" dirty="0" err="1">
                <a:solidFill>
                  <a:srgbClr val="004AAD"/>
                </a:solidFill>
                <a:latin typeface="+mj-ea"/>
                <a:ea typeface="+mj-ea"/>
                <a:cs typeface="각진펜 Bold"/>
                <a:sym typeface="각진펜 Bold"/>
              </a:rPr>
              <a:t>설정</a:t>
            </a:r>
            <a:r>
              <a:rPr lang="en-US" sz="2900" b="1" dirty="0">
                <a:solidFill>
                  <a:srgbClr val="004AAD"/>
                </a:solidFill>
                <a:latin typeface="+mj-ea"/>
                <a:ea typeface="+mj-ea"/>
                <a:cs typeface="각진펜 Bold"/>
                <a:sym typeface="각진펜 Bold"/>
              </a:rPr>
              <a:t> </a:t>
            </a:r>
            <a:r>
              <a:rPr lang="en-US" sz="2900" b="1" dirty="0" err="1">
                <a:solidFill>
                  <a:srgbClr val="004AAD"/>
                </a:solidFill>
                <a:latin typeface="+mj-ea"/>
                <a:ea typeface="+mj-ea"/>
                <a:cs typeface="각진펜 Bold"/>
                <a:sym typeface="각진펜 Bold"/>
              </a:rPr>
              <a:t>찾기</a:t>
            </a:r>
            <a:endParaRPr lang="en-US" sz="2900" b="1" dirty="0">
              <a:solidFill>
                <a:srgbClr val="004AAD"/>
              </a:solidFill>
              <a:latin typeface="+mj-ea"/>
              <a:ea typeface="+mj-ea"/>
              <a:cs typeface="각진펜 Bold"/>
              <a:sym typeface="각진펜 Bold"/>
            </a:endParaRPr>
          </a:p>
        </p:txBody>
      </p:sp>
      <p:sp>
        <p:nvSpPr>
          <p:cNvPr id="10" name="AutoShape 5"/>
          <p:cNvSpPr/>
          <p:nvPr/>
        </p:nvSpPr>
        <p:spPr>
          <a:xfrm>
            <a:off x="1152728" y="5448300"/>
            <a:ext cx="160020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 b="1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3272" y="777922"/>
            <a:ext cx="16021455" cy="8586494"/>
            <a:chOff x="0" y="-38100"/>
            <a:chExt cx="4219642" cy="22614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19642" cy="2223364"/>
            </a:xfrm>
            <a:custGeom>
              <a:avLst/>
              <a:gdLst/>
              <a:ahLst/>
              <a:cxnLst/>
              <a:rect l="l" t="t" r="r" b="b"/>
              <a:pathLst>
                <a:path w="4219642" h="2223364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520"/>
                </a:lnSpc>
                <a:defRPr/>
              </a:pPr>
              <a:endParaRPr lang="ko-KR" altLang="en-US" b="1">
                <a:latin typeface="+mj-ea"/>
                <a:ea typeface="+mj-ea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71600" y="2990847"/>
            <a:ext cx="15468601" cy="597009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6839"/>
              </a:lnSpc>
              <a:defRPr/>
            </a:pP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프로젝트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개요</a:t>
            </a:r>
            <a:r>
              <a:rPr lang="en-US" altLang="ko-KR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:</a:t>
            </a:r>
          </a:p>
          <a:p>
            <a:pPr lvl="0" algn="l">
              <a:lnSpc>
                <a:spcPts val="6839"/>
              </a:lnSpc>
              <a:defRPr/>
            </a:pPr>
            <a:r>
              <a:rPr lang="ko-KR" alt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	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2024학년도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동의대학교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대동제에서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진행된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뉴진스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공연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음원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(3분 40초)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에는</a:t>
            </a:r>
            <a:r>
              <a:rPr lang="ko-KR" alt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고주파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	</a:t>
            </a:r>
            <a:r>
              <a:rPr lang="ko-KR" alt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노이즈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잡음이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다수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포함되어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있습니다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.</a:t>
            </a:r>
          </a:p>
          <a:p>
            <a:pPr lvl="0" algn="l">
              <a:lnSpc>
                <a:spcPts val="6839"/>
              </a:lnSpc>
              <a:defRPr/>
            </a:pP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문제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정의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및 </a:t>
            </a:r>
            <a:r>
              <a:rPr lang="ko-KR" alt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프로젝트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목표</a:t>
            </a:r>
            <a:r>
              <a:rPr lang="en-US" altLang="ko-KR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:</a:t>
            </a:r>
          </a:p>
          <a:p>
            <a:pPr lvl="0" algn="l">
              <a:lnSpc>
                <a:spcPts val="6839"/>
              </a:lnSpc>
              <a:defRPr/>
            </a:pPr>
            <a:r>
              <a:rPr lang="ko-KR" alt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	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음원에서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고주파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노이즈를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효과적으로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제거하면서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,</a:t>
            </a:r>
            <a:r>
              <a:rPr lang="ko-KR" alt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공연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음원의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원래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음질</a:t>
            </a:r>
            <a:r>
              <a:rPr lang="ko-KR" alt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을 </a:t>
            </a:r>
            <a:endParaRPr lang="en-US" sz="3000" b="1" dirty="0">
              <a:solidFill>
                <a:srgbClr val="000000"/>
              </a:solidFill>
              <a:latin typeface="+mj-ea"/>
              <a:ea typeface="+mj-ea"/>
              <a:cs typeface="각진펜"/>
              <a:sym typeface="각진펜"/>
            </a:endParaRPr>
          </a:p>
          <a:p>
            <a:pPr lvl="0" algn="l">
              <a:lnSpc>
                <a:spcPts val="6839"/>
              </a:lnSpc>
              <a:defRPr/>
            </a:pPr>
            <a:r>
              <a:rPr lang="ko-KR" alt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	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최대한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보존하는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ko-KR" alt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필터링 값을 찾는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것이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핵심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목표입니다</a:t>
            </a:r>
            <a:r>
              <a:rPr 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.</a:t>
            </a:r>
          </a:p>
          <a:p>
            <a:pPr lvl="0" algn="l">
              <a:lnSpc>
                <a:spcPts val="6839"/>
              </a:lnSpc>
              <a:defRPr/>
            </a:pPr>
            <a:r>
              <a:rPr lang="ko-KR" alt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적용 기술</a:t>
            </a:r>
            <a:r>
              <a:rPr lang="en-US" altLang="ko-KR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:</a:t>
            </a:r>
            <a:r>
              <a:rPr lang="ko-KR" altLang="en-US" sz="30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altLang="ko-KR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B</a:t>
            </a:r>
            <a:r>
              <a:rPr lang="ko-KR" altLang="en-US" sz="24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utterworth</a:t>
            </a:r>
            <a:r>
              <a:rPr lang="ko-KR" alt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ko-KR" altLang="en-US" sz="24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저역통과</a:t>
            </a:r>
            <a:r>
              <a:rPr lang="ko-KR" alt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필터링</a:t>
            </a:r>
            <a:r>
              <a:rPr lang="en-US" altLang="ko-KR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, </a:t>
            </a:r>
            <a:r>
              <a:rPr lang="ko-KR" alt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FFT </a:t>
            </a:r>
            <a:r>
              <a:rPr lang="ko-KR" altLang="en-US" sz="24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스펙트로그램</a:t>
            </a:r>
            <a:r>
              <a:rPr lang="ko-KR" alt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분석</a:t>
            </a:r>
            <a:r>
              <a:rPr lang="en-US" altLang="ko-KR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, </a:t>
            </a:r>
            <a:r>
              <a:rPr lang="ko-KR" alt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SNR(</a:t>
            </a:r>
            <a:r>
              <a:rPr lang="ko-KR" altLang="en-US" sz="24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신호대잡음비</a:t>
            </a:r>
            <a:r>
              <a:rPr lang="ko-KR" alt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) 계산을 통한 성능 평가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69645" y="1753624"/>
            <a:ext cx="9646155" cy="88723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7553"/>
              </a:lnSpc>
              <a:spcBef>
                <a:spcPct val="0"/>
              </a:spcBef>
              <a:defRPr/>
            </a:pPr>
            <a:r>
              <a:rPr lang="en-US" sz="5395" b="1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01 프로젝트 개요 및 문제 정의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80572" y="9471322"/>
            <a:ext cx="3548627" cy="31470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660"/>
              </a:lnSpc>
              <a:spcBef>
                <a:spcPct val="0"/>
              </a:spcBef>
              <a:defRPr/>
            </a:pPr>
            <a:r>
              <a:rPr lang="en-US" sz="1900" b="1">
                <a:solidFill>
                  <a:srgbClr val="FFFFFF"/>
                </a:solidFill>
                <a:latin typeface="+mj-ea"/>
                <a:ea typeface="+mj-ea"/>
                <a:cs typeface="각진펜 Bold"/>
                <a:sym typeface="각진펜 Bold"/>
              </a:rPr>
              <a:t>오디오 신호 처리 기말 프로젝트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242438" y="9487832"/>
            <a:ext cx="1912290" cy="29258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2520"/>
              </a:lnSpc>
              <a:spcBef>
                <a:spcPct val="0"/>
              </a:spcBef>
              <a:defRPr/>
            </a:pPr>
            <a:r>
              <a:rPr lang="en-US" sz="1800" b="1" dirty="0">
                <a:solidFill>
                  <a:schemeClr val="bg1"/>
                </a:solidFill>
                <a:latin typeface="+mj-ea"/>
                <a:ea typeface="+mj-ea"/>
                <a:cs typeface="각진펜"/>
                <a:sym typeface="각진펜"/>
              </a:rPr>
              <a:t>20213032 권영훈</a:t>
            </a:r>
          </a:p>
        </p:txBody>
      </p:sp>
      <p:sp>
        <p:nvSpPr>
          <p:cNvPr id="10" name="AutoShape 5"/>
          <p:cNvSpPr/>
          <p:nvPr/>
        </p:nvSpPr>
        <p:spPr>
          <a:xfrm>
            <a:off x="1143000" y="2920604"/>
            <a:ext cx="160020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 b="1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23545" y="922583"/>
            <a:ext cx="16021455" cy="8441833"/>
            <a:chOff x="0" y="0"/>
            <a:chExt cx="4219642" cy="22233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19642" cy="2223364"/>
            </a:xfrm>
            <a:custGeom>
              <a:avLst/>
              <a:gdLst/>
              <a:ahLst/>
              <a:cxnLst/>
              <a:rect l="l" t="t" r="r" b="b"/>
              <a:pathLst>
                <a:path w="4219642" h="2223364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19642" cy="22709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6"/>
                </a:lnSpc>
              </a:pPr>
              <a:endParaRPr b="1">
                <a:latin typeface="+mj-ea"/>
                <a:ea typeface="+mj-ea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581158" y="4738374"/>
            <a:ext cx="3229473" cy="1543050"/>
            <a:chOff x="0" y="0"/>
            <a:chExt cx="850561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50561" cy="406400"/>
            </a:xfrm>
            <a:custGeom>
              <a:avLst/>
              <a:gdLst/>
              <a:ahLst/>
              <a:cxnLst/>
              <a:rect l="l" t="t" r="r" b="b"/>
              <a:pathLst>
                <a:path w="850561" h="406400">
                  <a:moveTo>
                    <a:pt x="64736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647361" y="406400"/>
                  </a:lnTo>
                  <a:lnTo>
                    <a:pt x="850561" y="203200"/>
                  </a:lnTo>
                  <a:lnTo>
                    <a:pt x="647361" y="0"/>
                  </a:lnTo>
                  <a:close/>
                </a:path>
              </a:pathLst>
            </a:custGeom>
            <a:solidFill>
              <a:srgbClr val="5171FF"/>
            </a:solidFill>
          </p:spPr>
          <p:txBody>
            <a:bodyPr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736261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 b="1">
                <a:latin typeface="+mj-ea"/>
                <a:ea typeface="+mj-ea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914527" y="4738374"/>
            <a:ext cx="3229473" cy="1543050"/>
            <a:chOff x="0" y="0"/>
            <a:chExt cx="850561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50561" cy="406400"/>
            </a:xfrm>
            <a:custGeom>
              <a:avLst/>
              <a:gdLst/>
              <a:ahLst/>
              <a:cxnLst/>
              <a:rect l="l" t="t" r="r" b="b"/>
              <a:pathLst>
                <a:path w="850561" h="406400">
                  <a:moveTo>
                    <a:pt x="64736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647361" y="406400"/>
                  </a:lnTo>
                  <a:lnTo>
                    <a:pt x="850561" y="203200"/>
                  </a:lnTo>
                  <a:lnTo>
                    <a:pt x="647361" y="0"/>
                  </a:lnTo>
                  <a:close/>
                </a:path>
              </a:pathLst>
            </a:custGeom>
            <a:solidFill>
              <a:srgbClr val="5171FF"/>
            </a:solidFill>
          </p:spPr>
          <p:txBody>
            <a:bodyPr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736261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 b="1">
                <a:latin typeface="+mj-ea"/>
                <a:ea typeface="+mj-ea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248775" y="4738374"/>
            <a:ext cx="3229473" cy="1543050"/>
            <a:chOff x="0" y="0"/>
            <a:chExt cx="850561" cy="406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50561" cy="406400"/>
            </a:xfrm>
            <a:custGeom>
              <a:avLst/>
              <a:gdLst/>
              <a:ahLst/>
              <a:cxnLst/>
              <a:rect l="l" t="t" r="r" b="b"/>
              <a:pathLst>
                <a:path w="850561" h="406400">
                  <a:moveTo>
                    <a:pt x="64736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647361" y="406400"/>
                  </a:lnTo>
                  <a:lnTo>
                    <a:pt x="850561" y="203200"/>
                  </a:lnTo>
                  <a:lnTo>
                    <a:pt x="647361" y="0"/>
                  </a:lnTo>
                  <a:close/>
                </a:path>
              </a:pathLst>
            </a:custGeom>
            <a:solidFill>
              <a:srgbClr val="5171FF"/>
            </a:solidFill>
          </p:spPr>
          <p:txBody>
            <a:bodyPr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736261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 b="1">
                <a:latin typeface="+mj-ea"/>
                <a:ea typeface="+mj-ea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583023" y="4738374"/>
            <a:ext cx="3229473" cy="1543050"/>
            <a:chOff x="0" y="0"/>
            <a:chExt cx="850561" cy="406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50561" cy="406400"/>
            </a:xfrm>
            <a:custGeom>
              <a:avLst/>
              <a:gdLst/>
              <a:ahLst/>
              <a:cxnLst/>
              <a:rect l="l" t="t" r="r" b="b"/>
              <a:pathLst>
                <a:path w="850561" h="406400">
                  <a:moveTo>
                    <a:pt x="64736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647361" y="406400"/>
                  </a:lnTo>
                  <a:lnTo>
                    <a:pt x="850561" y="203200"/>
                  </a:lnTo>
                  <a:lnTo>
                    <a:pt x="647361" y="0"/>
                  </a:lnTo>
                  <a:close/>
                </a:path>
              </a:pathLst>
            </a:custGeom>
            <a:solidFill>
              <a:srgbClr val="5171FF"/>
            </a:solidFill>
          </p:spPr>
          <p:txBody>
            <a:bodyPr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736261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 b="1">
                <a:latin typeface="+mj-ea"/>
                <a:ea typeface="+mj-ea"/>
              </a:endParaRP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469645" y="1753624"/>
            <a:ext cx="6883254" cy="88723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7553"/>
              </a:lnSpc>
              <a:spcBef>
                <a:spcPct val="0"/>
              </a:spcBef>
              <a:defRPr/>
            </a:pPr>
            <a:r>
              <a:rPr lang="en-US" sz="5395" b="1" dirty="0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0</a:t>
            </a:r>
            <a:r>
              <a:rPr lang="en-US" altLang="ko-KR" sz="5395" b="1" dirty="0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2</a:t>
            </a:r>
            <a:r>
              <a:rPr lang="en-US" sz="5395" b="1" dirty="0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 </a:t>
            </a:r>
            <a:r>
              <a:rPr lang="en-US" sz="5395" b="1" dirty="0" err="1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프로젝트</a:t>
            </a:r>
            <a:r>
              <a:rPr lang="en-US" sz="5395" b="1" dirty="0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 </a:t>
            </a:r>
            <a:r>
              <a:rPr lang="en-US" sz="5395" b="1" dirty="0" err="1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진행과정</a:t>
            </a:r>
            <a:endParaRPr lang="en-US" sz="5395" b="1" dirty="0">
              <a:solidFill>
                <a:srgbClr val="5171FF"/>
              </a:solidFill>
              <a:latin typeface="+mj-ea"/>
              <a:ea typeface="+mj-ea"/>
              <a:cs typeface="각진펜 Bold"/>
              <a:sym typeface="각진펜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2581158" y="4996248"/>
            <a:ext cx="2665738" cy="1051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3500" b="1" dirty="0" err="1">
                <a:solidFill>
                  <a:srgbClr val="FFFFFF"/>
                </a:solidFill>
                <a:latin typeface="+mj-ea"/>
                <a:ea typeface="+mj-ea"/>
                <a:cs typeface="각진펜"/>
                <a:sym typeface="각진펜"/>
              </a:rPr>
              <a:t>음원</a:t>
            </a:r>
            <a:r>
              <a:rPr lang="en-US" sz="3500" b="1" dirty="0">
                <a:solidFill>
                  <a:srgbClr val="FFFFFF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</a:p>
          <a:p>
            <a:pPr algn="ctr">
              <a:lnSpc>
                <a:spcPts val="4060"/>
              </a:lnSpc>
            </a:pPr>
            <a:r>
              <a:rPr lang="en-US" sz="3500" b="1" dirty="0" err="1">
                <a:solidFill>
                  <a:srgbClr val="FFFFFF"/>
                </a:solidFill>
                <a:latin typeface="+mj-ea"/>
                <a:ea typeface="+mj-ea"/>
                <a:cs typeface="각진펜"/>
                <a:sym typeface="각진펜"/>
              </a:rPr>
              <a:t>주파수</a:t>
            </a:r>
            <a:r>
              <a:rPr lang="en-US" sz="3500" b="1" dirty="0">
                <a:solidFill>
                  <a:srgbClr val="FFFFFF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500" b="1" dirty="0" err="1">
                <a:solidFill>
                  <a:srgbClr val="FFFFFF"/>
                </a:solidFill>
                <a:latin typeface="+mj-ea"/>
                <a:ea typeface="+mj-ea"/>
                <a:cs typeface="각진펜"/>
                <a:sym typeface="각진펜"/>
              </a:rPr>
              <a:t>분석</a:t>
            </a:r>
            <a:endParaRPr lang="en-US" sz="3500" b="1" dirty="0">
              <a:solidFill>
                <a:srgbClr val="FFFFFF"/>
              </a:solidFill>
              <a:latin typeface="+mj-ea"/>
              <a:ea typeface="+mj-ea"/>
              <a:cs typeface="각진펜"/>
              <a:sym typeface="각진펜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5914966" y="4996182"/>
            <a:ext cx="2665738" cy="1051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3500" b="1" dirty="0" err="1">
                <a:solidFill>
                  <a:srgbClr val="FFFFFF"/>
                </a:solidFill>
                <a:latin typeface="+mj-ea"/>
                <a:ea typeface="+mj-ea"/>
                <a:cs typeface="각진펜"/>
                <a:sym typeface="각진펜"/>
              </a:rPr>
              <a:t>음원</a:t>
            </a:r>
            <a:r>
              <a:rPr lang="en-US" sz="3500" b="1" dirty="0">
                <a:solidFill>
                  <a:srgbClr val="FFFFFF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</a:p>
          <a:p>
            <a:pPr algn="ctr">
              <a:lnSpc>
                <a:spcPts val="4060"/>
              </a:lnSpc>
            </a:pPr>
            <a:r>
              <a:rPr lang="en-US" sz="3500" b="1" dirty="0" err="1">
                <a:solidFill>
                  <a:srgbClr val="FFFFFF"/>
                </a:solidFill>
                <a:latin typeface="+mj-ea"/>
                <a:ea typeface="+mj-ea"/>
                <a:cs typeface="각진펜"/>
                <a:sym typeface="각진펜"/>
              </a:rPr>
              <a:t>노이즈</a:t>
            </a:r>
            <a:r>
              <a:rPr lang="en-US" sz="3500" b="1" dirty="0">
                <a:solidFill>
                  <a:srgbClr val="FFFFFF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3500" b="1" dirty="0" err="1">
                <a:solidFill>
                  <a:srgbClr val="FFFFFF"/>
                </a:solidFill>
                <a:latin typeface="+mj-ea"/>
                <a:ea typeface="+mj-ea"/>
                <a:cs typeface="각진펜"/>
                <a:sym typeface="각진펜"/>
              </a:rPr>
              <a:t>제거</a:t>
            </a:r>
            <a:endParaRPr lang="en-US" sz="3500" b="1" dirty="0">
              <a:solidFill>
                <a:srgbClr val="FFFFFF"/>
              </a:solidFill>
              <a:latin typeface="+mj-ea"/>
              <a:ea typeface="+mj-ea"/>
              <a:cs typeface="각진펜"/>
              <a:sym typeface="각진펜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248775" y="4996182"/>
            <a:ext cx="2665738" cy="1051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3500" b="1" dirty="0" err="1">
                <a:solidFill>
                  <a:srgbClr val="FFFFFF"/>
                </a:solidFill>
                <a:latin typeface="+mj-ea"/>
                <a:ea typeface="+mj-ea"/>
                <a:cs typeface="각진펜"/>
                <a:sym typeface="각진펜"/>
              </a:rPr>
              <a:t>음원</a:t>
            </a:r>
            <a:r>
              <a:rPr lang="en-US" sz="3500" b="1" dirty="0">
                <a:solidFill>
                  <a:srgbClr val="FFFFFF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</a:p>
          <a:p>
            <a:pPr algn="ctr">
              <a:lnSpc>
                <a:spcPts val="4060"/>
              </a:lnSpc>
            </a:pPr>
            <a:r>
              <a:rPr lang="en-US" sz="3500" b="1" dirty="0">
                <a:solidFill>
                  <a:srgbClr val="FFFFFF"/>
                </a:solidFill>
                <a:latin typeface="+mj-ea"/>
                <a:ea typeface="+mj-ea"/>
                <a:cs typeface="각진펜"/>
                <a:sym typeface="각진펜"/>
              </a:rPr>
              <a:t>SNR </a:t>
            </a:r>
            <a:r>
              <a:rPr lang="en-US" sz="3500" b="1" dirty="0" err="1">
                <a:solidFill>
                  <a:srgbClr val="FFFFFF"/>
                </a:solidFill>
                <a:latin typeface="+mj-ea"/>
                <a:ea typeface="+mj-ea"/>
                <a:cs typeface="각진펜"/>
                <a:sym typeface="각진펜"/>
              </a:rPr>
              <a:t>도출</a:t>
            </a:r>
            <a:endParaRPr lang="en-US" sz="3500" b="1" dirty="0">
              <a:solidFill>
                <a:srgbClr val="FFFFFF"/>
              </a:solidFill>
              <a:latin typeface="+mj-ea"/>
              <a:ea typeface="+mj-ea"/>
              <a:cs typeface="각진펜"/>
              <a:sym typeface="각진펜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2583023" y="5253390"/>
            <a:ext cx="2665738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3500" b="1" dirty="0" err="1">
                <a:solidFill>
                  <a:srgbClr val="FFFFFF"/>
                </a:solidFill>
                <a:latin typeface="+mj-ea"/>
                <a:ea typeface="+mj-ea"/>
                <a:cs typeface="각진펜"/>
                <a:sym typeface="각진펜"/>
              </a:rPr>
              <a:t>결론도출</a:t>
            </a:r>
            <a:endParaRPr lang="en-US" sz="3500" b="1" dirty="0">
              <a:solidFill>
                <a:srgbClr val="FFFFFF"/>
              </a:solidFill>
              <a:latin typeface="+mj-ea"/>
              <a:ea typeface="+mj-ea"/>
              <a:cs typeface="각진펜"/>
              <a:sym typeface="각진펜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756392" y="3972258"/>
            <a:ext cx="2315270" cy="522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3500" b="1">
                <a:solidFill>
                  <a:srgbClr val="000000"/>
                </a:solidFill>
                <a:latin typeface="+mj-ea"/>
                <a:ea typeface="+mj-ea"/>
                <a:cs typeface="각진펜 Bold"/>
                <a:sym typeface="각진펜 Bold"/>
              </a:rPr>
              <a:t>STEP 01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090201" y="3972258"/>
            <a:ext cx="2315270" cy="522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3500" b="1">
                <a:solidFill>
                  <a:srgbClr val="000000"/>
                </a:solidFill>
                <a:latin typeface="+mj-ea"/>
                <a:ea typeface="+mj-ea"/>
                <a:cs typeface="각진펜 Bold"/>
                <a:sym typeface="각진펜 Bold"/>
              </a:rPr>
              <a:t>STEP 02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424009" y="3972258"/>
            <a:ext cx="2315270" cy="522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3500" b="1">
                <a:solidFill>
                  <a:srgbClr val="000000"/>
                </a:solidFill>
                <a:latin typeface="+mj-ea"/>
                <a:ea typeface="+mj-ea"/>
                <a:cs typeface="각진펜 Bold"/>
                <a:sym typeface="각진펜 Bold"/>
              </a:rPr>
              <a:t>STEP 03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758258" y="3972258"/>
            <a:ext cx="2315270" cy="522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3500" b="1">
                <a:solidFill>
                  <a:srgbClr val="000000"/>
                </a:solidFill>
                <a:latin typeface="+mj-ea"/>
                <a:ea typeface="+mj-ea"/>
                <a:cs typeface="각진펜 Bold"/>
                <a:sym typeface="각진펜 Bold"/>
              </a:rPr>
              <a:t>STEP 04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581158" y="6554177"/>
            <a:ext cx="2752842" cy="9157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24"/>
              </a:lnSpc>
            </a:pPr>
            <a:r>
              <a:rPr 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FFT </a:t>
            </a:r>
            <a:r>
              <a:rPr lang="en-US" sz="24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스펙트로그램추출</a:t>
            </a:r>
            <a:endParaRPr lang="en-US" sz="2400" b="1" dirty="0">
              <a:solidFill>
                <a:srgbClr val="000000"/>
              </a:solidFill>
              <a:latin typeface="+mj-ea"/>
              <a:ea typeface="+mj-ea"/>
              <a:cs typeface="각진펜"/>
              <a:sym typeface="각진펜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914966" y="6554177"/>
            <a:ext cx="2665738" cy="899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24"/>
              </a:lnSpc>
            </a:pPr>
            <a:r>
              <a:rPr 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Butterworth </a:t>
            </a:r>
          </a:p>
          <a:p>
            <a:pPr algn="ctr">
              <a:lnSpc>
                <a:spcPts val="3724"/>
              </a:lnSpc>
            </a:pPr>
            <a:r>
              <a:rPr lang="en-US" sz="24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저역통과</a:t>
            </a:r>
            <a:r>
              <a:rPr 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필터</a:t>
            </a:r>
            <a:r>
              <a:rPr 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사용</a:t>
            </a:r>
            <a:endParaRPr lang="en-US" sz="2400" b="1" dirty="0">
              <a:solidFill>
                <a:srgbClr val="000000"/>
              </a:solidFill>
              <a:latin typeface="+mj-ea"/>
              <a:ea typeface="+mj-ea"/>
              <a:cs typeface="각진펜"/>
              <a:sym typeface="각진펜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9248775" y="6554177"/>
            <a:ext cx="2665738" cy="915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24"/>
              </a:lnSpc>
            </a:pPr>
            <a:r>
              <a:rPr lang="ko-KR" alt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시</a:t>
            </a:r>
            <a:r>
              <a:rPr lang="en-US" sz="24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각적</a:t>
            </a:r>
            <a:r>
              <a:rPr 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, </a:t>
            </a:r>
            <a:r>
              <a:rPr lang="ko-KR" alt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청</a:t>
            </a:r>
            <a:r>
              <a:rPr lang="en-US" sz="24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각적</a:t>
            </a:r>
            <a:r>
              <a:rPr 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, </a:t>
            </a:r>
          </a:p>
          <a:p>
            <a:pPr algn="ctr">
              <a:lnSpc>
                <a:spcPts val="3724"/>
              </a:lnSpc>
            </a:pPr>
            <a:r>
              <a:rPr lang="en-US" sz="24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수치적</a:t>
            </a:r>
            <a:r>
              <a:rPr 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ko-KR" alt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분석</a:t>
            </a:r>
            <a:endParaRPr lang="en-US" sz="2400" b="1" dirty="0">
              <a:solidFill>
                <a:srgbClr val="000000"/>
              </a:solidFill>
              <a:latin typeface="+mj-ea"/>
              <a:ea typeface="+mj-ea"/>
              <a:cs typeface="각진펜"/>
              <a:sym typeface="각진펜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2583023" y="6554177"/>
            <a:ext cx="2665738" cy="899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24"/>
              </a:lnSpc>
            </a:pPr>
            <a:r>
              <a:rPr lang="en-US" sz="24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음원</a:t>
            </a:r>
            <a:r>
              <a:rPr 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분석</a:t>
            </a:r>
            <a:r>
              <a:rPr 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및 </a:t>
            </a:r>
          </a:p>
          <a:p>
            <a:pPr algn="ctr">
              <a:lnSpc>
                <a:spcPts val="3724"/>
              </a:lnSpc>
            </a:pPr>
            <a:r>
              <a:rPr lang="en-US" sz="24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결과</a:t>
            </a:r>
            <a:r>
              <a:rPr 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도출</a:t>
            </a:r>
            <a:endParaRPr lang="en-US" sz="2400" b="1" dirty="0">
              <a:solidFill>
                <a:srgbClr val="000000"/>
              </a:solidFill>
              <a:latin typeface="+mj-ea"/>
              <a:ea typeface="+mj-ea"/>
              <a:cs typeface="각진펜"/>
              <a:sym typeface="각진펜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480572" y="9471322"/>
            <a:ext cx="345343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b="1">
                <a:solidFill>
                  <a:srgbClr val="FFFFFF"/>
                </a:solidFill>
                <a:latin typeface="+mj-ea"/>
                <a:ea typeface="+mj-ea"/>
                <a:cs typeface="각진펜 Bold"/>
                <a:sym typeface="각진펜 Bold"/>
              </a:rPr>
              <a:t>오디오 신호 처리 기말 프로젝트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242438" y="9487832"/>
            <a:ext cx="1912289" cy="292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 dirty="0">
                <a:solidFill>
                  <a:schemeClr val="bg1"/>
                </a:solidFill>
                <a:latin typeface="+mj-ea"/>
                <a:ea typeface="+mj-ea"/>
                <a:cs typeface="각진펜"/>
                <a:sym typeface="각진펜"/>
              </a:rPr>
              <a:t>20213032 권영훈</a:t>
            </a:r>
          </a:p>
        </p:txBody>
      </p:sp>
      <p:sp>
        <p:nvSpPr>
          <p:cNvPr id="33" name="AutoShape 5"/>
          <p:cNvSpPr/>
          <p:nvPr/>
        </p:nvSpPr>
        <p:spPr>
          <a:xfrm>
            <a:off x="1143000" y="2920604"/>
            <a:ext cx="160020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 b="1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3272" y="777922"/>
            <a:ext cx="16021455" cy="8586494"/>
            <a:chOff x="0" y="-38100"/>
            <a:chExt cx="4219642" cy="22614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19642" cy="2223364"/>
            </a:xfrm>
            <a:custGeom>
              <a:avLst/>
              <a:gdLst/>
              <a:ahLst/>
              <a:cxnLst/>
              <a:rect l="l" t="t" r="r" b="b"/>
              <a:pathLst>
                <a:path w="4219642" h="2223364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lvl="0">
                <a:defRPr/>
              </a:pPr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520"/>
                </a:lnSpc>
                <a:defRPr/>
              </a:pPr>
              <a:endParaRPr lang="ko-KR" altLang="en-US" b="1">
                <a:latin typeface="+mj-ea"/>
                <a:ea typeface="+mj-ea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469645" y="1753624"/>
            <a:ext cx="8884155" cy="88723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7553"/>
              </a:lnSpc>
              <a:spcBef>
                <a:spcPct val="0"/>
              </a:spcBef>
              <a:defRPr/>
            </a:pPr>
            <a:r>
              <a:rPr lang="en-US" sz="5395" b="1" dirty="0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0</a:t>
            </a:r>
            <a:r>
              <a:rPr lang="en-US" altLang="ko-KR" sz="5395" b="1" dirty="0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3</a:t>
            </a:r>
            <a:r>
              <a:rPr lang="en-US" sz="5395" b="1" dirty="0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 </a:t>
            </a:r>
            <a:r>
              <a:rPr lang="en-US" sz="5395" b="1" dirty="0" err="1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음성</a:t>
            </a:r>
            <a:r>
              <a:rPr lang="en-US" sz="5395" b="1" dirty="0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 및 </a:t>
            </a:r>
            <a:r>
              <a:rPr lang="en-US" sz="5395" b="1" dirty="0" err="1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음악</a:t>
            </a:r>
            <a:r>
              <a:rPr lang="en-US" sz="5395" b="1" dirty="0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 </a:t>
            </a:r>
            <a:r>
              <a:rPr lang="en-US" sz="5395" b="1" dirty="0" err="1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주파수</a:t>
            </a:r>
            <a:r>
              <a:rPr lang="en-US" sz="5395" b="1" dirty="0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 </a:t>
            </a:r>
            <a:r>
              <a:rPr lang="en-US" sz="5395" b="1" dirty="0" err="1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이해</a:t>
            </a:r>
            <a:endParaRPr lang="en-US" sz="5395" b="1" dirty="0">
              <a:solidFill>
                <a:srgbClr val="5171FF"/>
              </a:solidFill>
              <a:latin typeface="+mj-ea"/>
              <a:ea typeface="+mj-ea"/>
              <a:cs typeface="각진펜 Bold"/>
              <a:sym typeface="각진펜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80572" y="9471322"/>
            <a:ext cx="3701028" cy="31470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660"/>
              </a:lnSpc>
              <a:spcBef>
                <a:spcPct val="0"/>
              </a:spcBef>
              <a:defRPr/>
            </a:pPr>
            <a:r>
              <a:rPr lang="en-US" sz="1900" b="1">
                <a:solidFill>
                  <a:srgbClr val="FFFFFF"/>
                </a:solidFill>
                <a:latin typeface="+mj-ea"/>
                <a:ea typeface="+mj-ea"/>
                <a:cs typeface="각진펜 Bold"/>
                <a:sym typeface="각진펜 Bold"/>
              </a:rPr>
              <a:t>오디오 신호 처리 기말 프로젝트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38298" y="7978950"/>
            <a:ext cx="15011401" cy="85856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8225"/>
              </a:lnSpc>
              <a:defRPr/>
            </a:pPr>
            <a:r>
              <a:rPr lang="en-US" sz="25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15kHz </a:t>
            </a:r>
            <a:r>
              <a:rPr lang="en-US" sz="25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전후의</a:t>
            </a:r>
            <a:r>
              <a:rPr lang="en-US" sz="25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25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컷오프</a:t>
            </a:r>
            <a:r>
              <a:rPr lang="en-US" sz="25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25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설정으로</a:t>
            </a:r>
            <a:r>
              <a:rPr lang="en-US" sz="25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25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노이즈는</a:t>
            </a:r>
            <a:r>
              <a:rPr lang="en-US" sz="25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25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줄이고</a:t>
            </a:r>
            <a:r>
              <a:rPr lang="en-US" sz="25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, </a:t>
            </a:r>
            <a:r>
              <a:rPr lang="en-US" sz="25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음악의</a:t>
            </a:r>
            <a:r>
              <a:rPr lang="en-US" sz="25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ko-KR" altLang="en-US" sz="25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음질은 </a:t>
            </a:r>
            <a:r>
              <a:rPr lang="en-US" sz="25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최대한</a:t>
            </a:r>
            <a:r>
              <a:rPr lang="en-US" sz="25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25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살리는</a:t>
            </a:r>
            <a:r>
              <a:rPr lang="en-US" sz="25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25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필터</a:t>
            </a:r>
            <a:r>
              <a:rPr lang="en-US" sz="25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25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설계가</a:t>
            </a:r>
            <a:r>
              <a:rPr lang="en-US" sz="25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25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중요합니다</a:t>
            </a:r>
            <a:r>
              <a:rPr lang="en-US" sz="25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242438" y="9487832"/>
            <a:ext cx="1912290" cy="29258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2520"/>
              </a:lnSpc>
              <a:spcBef>
                <a:spcPct val="0"/>
              </a:spcBef>
              <a:defRPr/>
            </a:pPr>
            <a:r>
              <a:rPr lang="en-US" sz="1800" b="1" dirty="0">
                <a:solidFill>
                  <a:schemeClr val="bg1"/>
                </a:solidFill>
                <a:latin typeface="+mj-ea"/>
                <a:ea typeface="+mj-ea"/>
                <a:cs typeface="각진펜"/>
                <a:sym typeface="각진펜"/>
              </a:rPr>
              <a:t>20213032 권영훈</a:t>
            </a:r>
          </a:p>
        </p:txBody>
      </p:sp>
      <p:sp>
        <p:nvSpPr>
          <p:cNvPr id="10" name="AutoShape 5"/>
          <p:cNvSpPr/>
          <p:nvPr/>
        </p:nvSpPr>
        <p:spPr>
          <a:xfrm>
            <a:off x="1143000" y="2920604"/>
            <a:ext cx="160020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 b="1">
              <a:latin typeface="+mj-ea"/>
              <a:ea typeface="+mj-ea"/>
            </a:endParaRPr>
          </a:p>
        </p:txBody>
      </p:sp>
      <p:graphicFrame>
        <p:nvGraphicFramePr>
          <p:cNvPr id="12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5380351"/>
              </p:ext>
            </p:extLst>
          </p:nvPr>
        </p:nvGraphicFramePr>
        <p:xfrm>
          <a:off x="2004814" y="3711039"/>
          <a:ext cx="14278370" cy="4267911"/>
        </p:xfrm>
        <a:graphic>
          <a:graphicData uri="http://schemas.openxmlformats.org/drawingml/2006/table">
            <a:tbl>
              <a:tblPr firstRow="1" bandRow="1"/>
              <a:tblGrid>
                <a:gridCol w="3457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8316"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ko-KR" altLang="en-US" sz="2000" b="1" dirty="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각진펜 Bold"/>
                          <a:sym typeface="각진펜 Bold"/>
                        </a:rPr>
                        <a:t>구분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5171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sz="2000" b="1" dirty="0" err="1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각진펜 Bold"/>
                          <a:sym typeface="각진펜 Bold"/>
                        </a:rPr>
                        <a:t>주파수</a:t>
                      </a:r>
                      <a:r>
                        <a:rPr lang="en-US" sz="2000" b="1" dirty="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각진펜 Bold"/>
                          <a:sym typeface="각진펜 Bold"/>
                        </a:rPr>
                        <a:t> </a:t>
                      </a:r>
                      <a:r>
                        <a:rPr lang="ko-KR" altLang="en-US" sz="2000" b="1" dirty="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각진펜 Bold"/>
                          <a:sym typeface="각진펜 Bold"/>
                        </a:rPr>
                        <a:t>범위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5171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ko-KR" altLang="en-US" sz="2000" b="1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각진펜 Bold"/>
                          <a:sym typeface="각진펜 Bold"/>
                        </a:rPr>
                        <a:t>주요</a:t>
                      </a:r>
                      <a:r>
                        <a:rPr lang="en-US" altLang="ko-KR" sz="2000" b="1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각진펜 Bold"/>
                          <a:sym typeface="각진펜 Bold"/>
                        </a:rPr>
                        <a:t> </a:t>
                      </a:r>
                      <a:r>
                        <a:rPr lang="ko-KR" altLang="en-US" sz="2000" b="1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각진펜 Bold"/>
                          <a:sym typeface="각진펜 Bold"/>
                        </a:rPr>
                        <a:t>특징 및 설명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517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5978"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ko-KR" alt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사람 목소리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altLang="ko-KR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85Hz</a:t>
                      </a:r>
                      <a:r>
                        <a:rPr lang="ko-KR" alt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 </a:t>
                      </a:r>
                      <a:r>
                        <a:rPr lang="en-US" altLang="ko-KR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~</a:t>
                      </a:r>
                      <a:r>
                        <a:rPr lang="ko-KR" alt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 </a:t>
                      </a:r>
                      <a:r>
                        <a:rPr lang="en-US" altLang="ko-KR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4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kHz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말소리의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기본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대역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,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감정·명료도는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 500Hz~3kHz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7639"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ko-KR" alt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음악 신호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ko-KR" alt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최대 </a:t>
                      </a:r>
                      <a:r>
                        <a:rPr lang="en-US" altLang="ko-KR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20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kHz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멜로디, 악기 소리 전체 포함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5978"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ko-KR" alt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야외 노이즈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altLang="ko-KR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12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kHz</a:t>
                      </a:r>
                      <a:r>
                        <a:rPr lang="ko-KR" alt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 이상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바람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소리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,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앰프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잡음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,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환호성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 등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고주파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노이즈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다수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존재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각진펜"/>
                        <a:sym typeface="각진펜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3273" y="922583"/>
            <a:ext cx="16021455" cy="8441833"/>
            <a:chOff x="0" y="0"/>
            <a:chExt cx="4219642" cy="22233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19642" cy="2223364"/>
            </a:xfrm>
            <a:custGeom>
              <a:avLst/>
              <a:gdLst/>
              <a:ahLst/>
              <a:cxnLst/>
              <a:rect l="l" t="t" r="r" b="b"/>
              <a:pathLst>
                <a:path w="4219642" h="2223364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19642" cy="22709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6"/>
                </a:lnSpc>
              </a:pPr>
              <a:endParaRPr b="1">
                <a:latin typeface="+mj-ea"/>
                <a:ea typeface="+mj-ea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1681954" y="3447440"/>
            <a:ext cx="14924092" cy="4906333"/>
          </a:xfrm>
          <a:custGeom>
            <a:avLst/>
            <a:gdLst/>
            <a:ahLst/>
            <a:cxnLst/>
            <a:rect l="l" t="t" r="r" b="b"/>
            <a:pathLst>
              <a:path w="14924092" h="5298628">
                <a:moveTo>
                  <a:pt x="0" y="0"/>
                </a:moveTo>
                <a:lnTo>
                  <a:pt x="14924092" y="0"/>
                </a:lnTo>
                <a:lnTo>
                  <a:pt x="14924092" y="5298628"/>
                </a:lnTo>
                <a:lnTo>
                  <a:pt x="0" y="52986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 l="-1200" r="-1200" b="-3100"/>
            </a:stretch>
          </a:blipFill>
        </p:spPr>
        <p:txBody>
          <a:bodyPr/>
          <a:lstStyle/>
          <a:p>
            <a:pPr lvl="0">
              <a:defRPr/>
            </a:pPr>
            <a:endParaRPr lang="ko-KR" altLang="en-US" b="1">
              <a:latin typeface="+mj-ea"/>
              <a:ea typeface="+mj-ea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469645" y="1753624"/>
            <a:ext cx="14294355" cy="88723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>
              <a:lnSpc>
                <a:spcPts val="7553"/>
              </a:lnSpc>
              <a:spcBef>
                <a:spcPct val="0"/>
              </a:spcBef>
              <a:defRPr/>
            </a:pPr>
            <a:r>
              <a:rPr lang="en-US" sz="5395" b="1" dirty="0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04 </a:t>
            </a:r>
            <a:r>
              <a:rPr lang="en-US" sz="5395" b="1" dirty="0" err="1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원본</a:t>
            </a:r>
            <a:r>
              <a:rPr lang="en-US" sz="5395" b="1" dirty="0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 </a:t>
            </a:r>
            <a:r>
              <a:rPr lang="en-US" sz="5395" b="1" dirty="0" err="1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음원</a:t>
            </a:r>
            <a:r>
              <a:rPr lang="en-US" sz="5395" b="1" dirty="0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 FFT</a:t>
            </a:r>
            <a:r>
              <a:rPr lang="en-US" sz="3200" b="1" dirty="0">
                <a:latin typeface="+mj-ea"/>
                <a:ea typeface="+mj-ea"/>
                <a:cs typeface="각진펜 Bold"/>
                <a:sym typeface="각진펜 Bold"/>
              </a:rPr>
              <a:t>(</a:t>
            </a:r>
            <a:r>
              <a:rPr lang="en-US" altLang="ko-KR" sz="3200" b="1" dirty="0">
                <a:latin typeface="+mj-ea"/>
                <a:ea typeface="+mj-ea"/>
              </a:rPr>
              <a:t>Fast Fourier Transform</a:t>
            </a:r>
            <a:r>
              <a:rPr lang="en-US" sz="3200" b="1" dirty="0">
                <a:latin typeface="+mj-ea"/>
                <a:ea typeface="+mj-ea"/>
                <a:cs typeface="각진펜 Bold"/>
                <a:sym typeface="각진펜 Bold"/>
              </a:rPr>
              <a:t>) </a:t>
            </a:r>
            <a:r>
              <a:rPr lang="en-US" sz="5395" b="1" dirty="0" err="1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스펙트로그램</a:t>
            </a:r>
            <a:endParaRPr lang="en-US" sz="5395" b="1" dirty="0">
              <a:solidFill>
                <a:srgbClr val="5171FF"/>
              </a:solidFill>
              <a:latin typeface="+mj-ea"/>
              <a:ea typeface="+mj-ea"/>
              <a:cs typeface="각진펜 Bold"/>
              <a:sym typeface="각진펜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480572" y="9471322"/>
            <a:ext cx="3548627" cy="31470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660"/>
              </a:lnSpc>
              <a:spcBef>
                <a:spcPct val="0"/>
              </a:spcBef>
              <a:defRPr/>
            </a:pPr>
            <a:r>
              <a:rPr lang="en-US" sz="1900" b="1">
                <a:solidFill>
                  <a:srgbClr val="FFFFFF"/>
                </a:solidFill>
                <a:latin typeface="+mj-ea"/>
                <a:ea typeface="+mj-ea"/>
                <a:cs typeface="각진펜 Bold"/>
                <a:sym typeface="각진펜 Bold"/>
              </a:rPr>
              <a:t>오디오 신호 처리 기말 프로젝트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242438" y="9487832"/>
            <a:ext cx="1912290" cy="29258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2520"/>
              </a:lnSpc>
              <a:spcBef>
                <a:spcPct val="0"/>
              </a:spcBef>
              <a:defRPr/>
            </a:pPr>
            <a:r>
              <a:rPr lang="en-US" sz="1800" b="1" dirty="0">
                <a:solidFill>
                  <a:schemeClr val="bg1"/>
                </a:solidFill>
                <a:latin typeface="+mj-ea"/>
                <a:ea typeface="+mj-ea"/>
                <a:cs typeface="각진펜"/>
                <a:sym typeface="각진펜"/>
              </a:rPr>
              <a:t>20213032 권영훈</a:t>
            </a:r>
          </a:p>
        </p:txBody>
      </p:sp>
      <p:sp>
        <p:nvSpPr>
          <p:cNvPr id="10" name="AutoShape 5"/>
          <p:cNvSpPr/>
          <p:nvPr/>
        </p:nvSpPr>
        <p:spPr>
          <a:xfrm>
            <a:off x="1143000" y="2920604"/>
            <a:ext cx="160020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 b="1">
              <a:latin typeface="+mj-ea"/>
              <a:ea typeface="+mj-ea"/>
            </a:endParaRPr>
          </a:p>
        </p:txBody>
      </p:sp>
      <p:sp>
        <p:nvSpPr>
          <p:cNvPr id="12" name="가로 글상자 11"/>
          <p:cNvSpPr txBox="1"/>
          <p:nvPr/>
        </p:nvSpPr>
        <p:spPr>
          <a:xfrm>
            <a:off x="3009900" y="8470351"/>
            <a:ext cx="126873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600" b="1">
                <a:latin typeface="+mj-ea"/>
                <a:ea typeface="+mj-ea"/>
              </a:rPr>
              <a:t>원본 음원에서 </a:t>
            </a:r>
            <a:r>
              <a:rPr lang="ko-KR" altLang="en-US" sz="2600" b="1" dirty="0">
                <a:latin typeface="+mj-ea"/>
                <a:ea typeface="+mj-ea"/>
              </a:rPr>
              <a:t>15kHz 이상의 고주파 대역에서 넓고 강한 노이즈 성분이 관찰됩니다.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3273" y="922583"/>
            <a:ext cx="16021455" cy="8441833"/>
            <a:chOff x="0" y="0"/>
            <a:chExt cx="4219642" cy="22233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19642" cy="2223364"/>
            </a:xfrm>
            <a:custGeom>
              <a:avLst/>
              <a:gdLst/>
              <a:ahLst/>
              <a:cxnLst/>
              <a:rect l="l" t="t" r="r" b="b"/>
              <a:pathLst>
                <a:path w="4219642" h="2223364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19642" cy="22709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6"/>
                </a:lnSpc>
              </a:pPr>
              <a:endParaRPr b="1">
                <a:latin typeface="+mj-ea"/>
                <a:ea typeface="+mj-ea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469645" y="1753624"/>
            <a:ext cx="11398755" cy="88723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7553"/>
              </a:lnSpc>
              <a:spcBef>
                <a:spcPct val="0"/>
              </a:spcBef>
              <a:defRPr/>
            </a:pPr>
            <a:r>
              <a:rPr lang="en-US" sz="5395" b="1" dirty="0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05 </a:t>
            </a:r>
            <a:r>
              <a:rPr lang="ko-KR" altLang="en-US" sz="5395" b="1" dirty="0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필터 </a:t>
            </a:r>
            <a:r>
              <a:rPr lang="en-US" sz="5395" b="1" dirty="0" err="1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노이즈</a:t>
            </a:r>
            <a:r>
              <a:rPr lang="en-US" sz="5395" b="1" dirty="0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 </a:t>
            </a:r>
            <a:r>
              <a:rPr lang="en-US" sz="5395" b="1" dirty="0" err="1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제거</a:t>
            </a:r>
            <a:r>
              <a:rPr lang="en-US" sz="5395" b="1" dirty="0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 후 </a:t>
            </a:r>
            <a:r>
              <a:rPr lang="en-US" sz="5395" b="1" dirty="0" err="1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스펙트로그램</a:t>
            </a:r>
            <a:endParaRPr lang="en-US" sz="5395" b="1" dirty="0">
              <a:solidFill>
                <a:srgbClr val="5171FF"/>
              </a:solidFill>
              <a:latin typeface="+mj-ea"/>
              <a:ea typeface="+mj-ea"/>
              <a:cs typeface="각진펜 Bold"/>
              <a:sym typeface="각진펜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480572" y="9471322"/>
            <a:ext cx="3624828" cy="31470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660"/>
              </a:lnSpc>
              <a:spcBef>
                <a:spcPct val="0"/>
              </a:spcBef>
              <a:defRPr/>
            </a:pPr>
            <a:r>
              <a:rPr lang="en-US" sz="1900" b="1">
                <a:solidFill>
                  <a:srgbClr val="FFFFFF"/>
                </a:solidFill>
                <a:latin typeface="+mj-ea"/>
                <a:ea typeface="+mj-ea"/>
                <a:cs typeface="각진펜 Bold"/>
                <a:sym typeface="각진펜 Bold"/>
              </a:rPr>
              <a:t>오디오 신호 처리 기말 프로젝트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242438" y="9487832"/>
            <a:ext cx="1912290" cy="29258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2520"/>
              </a:lnSpc>
              <a:spcBef>
                <a:spcPct val="0"/>
              </a:spcBef>
              <a:defRPr/>
            </a:pPr>
            <a:r>
              <a:rPr lang="en-US" sz="1800" b="1" dirty="0">
                <a:solidFill>
                  <a:schemeClr val="bg1"/>
                </a:solidFill>
                <a:latin typeface="+mj-ea"/>
                <a:ea typeface="+mj-ea"/>
                <a:cs typeface="각진펜"/>
                <a:sym typeface="각진펜"/>
              </a:rPr>
              <a:t>20213032 권영훈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649504" y="3361360"/>
            <a:ext cx="10988992" cy="5105400"/>
          </a:xfrm>
          <a:prstGeom prst="rect">
            <a:avLst/>
          </a:prstGeom>
        </p:spPr>
      </p:pic>
      <p:sp>
        <p:nvSpPr>
          <p:cNvPr id="11" name="AutoShape 5"/>
          <p:cNvSpPr/>
          <p:nvPr/>
        </p:nvSpPr>
        <p:spPr>
          <a:xfrm>
            <a:off x="1143000" y="2920604"/>
            <a:ext cx="160020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 b="1">
              <a:latin typeface="+mj-ea"/>
              <a:ea typeface="+mj-ea"/>
            </a:endParaRPr>
          </a:p>
        </p:txBody>
      </p:sp>
      <p:sp>
        <p:nvSpPr>
          <p:cNvPr id="12" name="가로 글상자 11"/>
          <p:cNvSpPr txBox="1"/>
          <p:nvPr/>
        </p:nvSpPr>
        <p:spPr>
          <a:xfrm>
            <a:off x="2438400" y="8506999"/>
            <a:ext cx="13868400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500" b="1" dirty="0">
                <a:latin typeface="+mj-ea"/>
                <a:ea typeface="+mj-ea"/>
              </a:rPr>
              <a:t>필터링 후 15kHz 이상 고주파 노이즈는 효과적으로 제거되었고, 주요 음원은 잘 보존되었습니다.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54723" y="920755"/>
            <a:ext cx="16021455" cy="8441833"/>
            <a:chOff x="0" y="0"/>
            <a:chExt cx="4219642" cy="22233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19642" cy="2223364"/>
            </a:xfrm>
            <a:custGeom>
              <a:avLst/>
              <a:gdLst/>
              <a:ahLst/>
              <a:cxnLst/>
              <a:rect l="l" t="t" r="r" b="b"/>
              <a:pathLst>
                <a:path w="4219642" h="2223364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lvl="0">
                <a:defRPr/>
              </a:pPr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19642" cy="2270989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646"/>
                </a:lnSpc>
                <a:defRPr/>
              </a:pPr>
              <a:endParaRPr lang="ko-KR" altLang="en-US"/>
            </a:p>
          </p:txBody>
        </p:sp>
      </p:grpSp>
      <p:sp>
        <p:nvSpPr>
          <p:cNvPr id="5" name="AutoShape 5"/>
          <p:cNvSpPr/>
          <p:nvPr/>
        </p:nvSpPr>
        <p:spPr>
          <a:xfrm>
            <a:off x="1143000" y="2920604"/>
            <a:ext cx="160020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1966714" y="3959018"/>
          <a:ext cx="14354570" cy="4267911"/>
        </p:xfrm>
        <a:graphic>
          <a:graphicData uri="http://schemas.openxmlformats.org/drawingml/2006/table">
            <a:tbl>
              <a:tblPr firstRow="1" bandRow="1"/>
              <a:tblGrid>
                <a:gridCol w="239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5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5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28316"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ko-KR" altLang="en-US" sz="2000" b="1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각진펜 Bold"/>
                          <a:sym typeface="각진펜 Bold"/>
                        </a:rPr>
                        <a:t>음원 파일</a:t>
                      </a:r>
                      <a:endParaRPr lang="en-US" sz="2000" b="1">
                        <a:solidFill>
                          <a:schemeClr val="lt1"/>
                        </a:solidFill>
                        <a:latin typeface="맑은 고딕"/>
                        <a:ea typeface="맑은 고딕"/>
                        <a:cs typeface="각진펜 Bold"/>
                        <a:sym typeface="각진펜 Bold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5171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ko-KR" altLang="en-US" sz="2000" b="1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각진펜 Bold"/>
                          <a:sym typeface="각진펜 Bold"/>
                        </a:rPr>
                        <a:t>필터 </a:t>
                      </a:r>
                      <a:r>
                        <a:rPr lang="en-US" sz="2000" b="1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각진펜 Bold"/>
                          <a:sym typeface="각진펜 Bold"/>
                        </a:rPr>
                        <a:t>차수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5171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sz="2000" b="1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각진펜 Bold"/>
                          <a:sym typeface="각진펜 Bold"/>
                        </a:rPr>
                        <a:t>주파수 컷오프 </a:t>
                      </a:r>
                      <a:endParaRPr lang="en-US" sz="2000" b="1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5171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sz="2000" b="1" dirty="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각진펜 Bold"/>
                          <a:sym typeface="각진펜 Bold"/>
                        </a:rPr>
                        <a:t>SNR(dB)</a:t>
                      </a:r>
                      <a:endParaRPr lang="en-US" sz="2000" b="1" dirty="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5171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ko-KR" altLang="en-US" sz="2000" b="1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</a:rPr>
                        <a:t>음원 </a:t>
                      </a:r>
                      <a:r>
                        <a:rPr lang="en-US" altLang="ko-KR" sz="2000" b="1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  <a:r>
                        <a:rPr lang="ko-KR" altLang="en-US" sz="2000" b="1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</a:rPr>
                        <a:t>초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5171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sz="2000" b="1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각진펜 Bold"/>
                          <a:sym typeface="각진펜 Bold"/>
                        </a:rPr>
                        <a:t>해석</a:t>
                      </a:r>
                      <a:endParaRPr lang="en-US" sz="2000" b="1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517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5978"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LPF_Order4_20kHz_HiFi 4</a:t>
                      </a:r>
                      <a:endParaRPr lang="en-US" sz="1100" b="1">
                        <a:latin typeface="맑은 고딕"/>
                        <a:ea typeface="맑은 고딕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4</a:t>
                      </a:r>
                      <a:endParaRPr lang="en-US" sz="1100" b="1">
                        <a:latin typeface="맑은 고딕"/>
                        <a:ea typeface="맑은 고딕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20kHz</a:t>
                      </a:r>
                      <a:endParaRPr lang="en-US" sz="1100" b="1" dirty="0">
                        <a:latin typeface="맑은 고딕"/>
                        <a:ea typeface="맑은 고딕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79.46</a:t>
                      </a:r>
                      <a:endParaRPr lang="en-US" sz="1100" b="1" dirty="0">
                        <a:latin typeface="맑은 고딕"/>
                        <a:ea typeface="맑은 고딕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endParaRPr lang="en-US" sz="1100" b="1" dirty="0">
                        <a:latin typeface="맑은 고딕"/>
                        <a:ea typeface="맑은 고딕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원본과 거의 동일, 고역 보존, 공간감 유지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7639"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LPF_Order6_15kHz_MusicZone</a:t>
                      </a:r>
                      <a:endParaRPr lang="en-US" sz="1100" b="1">
                        <a:latin typeface="맑은 고딕"/>
                        <a:ea typeface="맑은 고딕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6</a:t>
                      </a:r>
                      <a:endParaRPr lang="en-US" sz="1100" b="1">
                        <a:latin typeface="맑은 고딕"/>
                        <a:ea typeface="맑은 고딕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15kHz</a:t>
                      </a:r>
                      <a:endParaRPr lang="en-US" sz="1100" b="1" dirty="0">
                        <a:latin typeface="맑은 고딕"/>
                        <a:ea typeface="맑은 고딕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51.10</a:t>
                      </a:r>
                      <a:endParaRPr lang="en-US" sz="1100" b="1" dirty="0">
                        <a:latin typeface="맑은 고딕"/>
                        <a:ea typeface="맑은 고딕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endParaRPr lang="en-US" sz="1100" b="1">
                        <a:latin typeface="맑은 고딕"/>
                        <a:ea typeface="맑은 고딕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고역 노이즈 억제와 음질 절충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5978"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LPF_Order6_3kHz</a:t>
                      </a:r>
                      <a:endParaRPr lang="en-US" sz="1100" b="1">
                        <a:latin typeface="맑은 고딕"/>
                        <a:ea typeface="맑은 고딕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6</a:t>
                      </a:r>
                      <a:endParaRPr lang="en-US" sz="1100" b="1">
                        <a:latin typeface="맑은 고딕"/>
                        <a:ea typeface="맑은 고딕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3kHz</a:t>
                      </a:r>
                      <a:endParaRPr lang="en-US" sz="1100" b="1">
                        <a:latin typeface="맑은 고딕"/>
                        <a:ea typeface="맑은 고딕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21.30</a:t>
                      </a:r>
                      <a:endParaRPr lang="en-US" sz="1100" b="1" dirty="0">
                        <a:latin typeface="맑은 고딕"/>
                        <a:ea typeface="맑은 고딕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endParaRPr lang="en-US" sz="1100" b="1">
                        <a:latin typeface="맑은 고딕"/>
                        <a:ea typeface="맑은 고딕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고역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 </a:t>
                      </a:r>
                      <a:r>
                        <a:rPr lang="ko-KR" alt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노이즈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완전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제거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,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음질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크게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각진펜"/>
                          <a:sym typeface="각진펜"/>
                        </a:rPr>
                        <a:t>손상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각진펜"/>
                        <a:sym typeface="각진펜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10"/>
          <p:cNvSpPr txBox="1"/>
          <p:nvPr/>
        </p:nvSpPr>
        <p:spPr>
          <a:xfrm>
            <a:off x="2469645" y="1753624"/>
            <a:ext cx="10636755" cy="88184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7553"/>
              </a:lnSpc>
              <a:spcBef>
                <a:spcPct val="0"/>
              </a:spcBef>
              <a:defRPr/>
            </a:pPr>
            <a:r>
              <a:rPr lang="en-US" sz="5395" b="1" dirty="0">
                <a:solidFill>
                  <a:srgbClr val="5171FF"/>
                </a:solidFill>
                <a:latin typeface="맑은 고딕"/>
                <a:ea typeface="맑은 고딕"/>
                <a:cs typeface="각진펜 Bold"/>
                <a:sym typeface="각진펜 Bold"/>
              </a:rPr>
              <a:t>0</a:t>
            </a:r>
            <a:r>
              <a:rPr lang="en-US" altLang="ko-KR" sz="5395" b="1" dirty="0">
                <a:solidFill>
                  <a:srgbClr val="5171FF"/>
                </a:solidFill>
                <a:latin typeface="맑은 고딕"/>
                <a:ea typeface="맑은 고딕"/>
                <a:cs typeface="각진펜 Bold"/>
                <a:sym typeface="각진펜 Bold"/>
              </a:rPr>
              <a:t>6</a:t>
            </a:r>
            <a:r>
              <a:rPr lang="en-US" sz="5395" b="1" dirty="0">
                <a:solidFill>
                  <a:srgbClr val="5171FF"/>
                </a:solidFill>
                <a:latin typeface="맑은 고딕"/>
                <a:ea typeface="맑은 고딕"/>
                <a:cs typeface="각진펜 Bold"/>
                <a:sym typeface="각진펜 Bold"/>
              </a:rPr>
              <a:t> SNR(</a:t>
            </a:r>
            <a:r>
              <a:rPr lang="ko-KR" altLang="en-US" sz="5395" b="1" dirty="0" err="1">
                <a:solidFill>
                  <a:srgbClr val="5171FF"/>
                </a:solidFill>
                <a:latin typeface="맑은 고딕"/>
                <a:ea typeface="맑은 고딕"/>
                <a:cs typeface="각진펜 Bold"/>
                <a:sym typeface="각진펜 Bold"/>
              </a:rPr>
              <a:t>신호대</a:t>
            </a:r>
            <a:r>
              <a:rPr lang="ko-KR" altLang="en-US" sz="5395" b="1" dirty="0">
                <a:solidFill>
                  <a:srgbClr val="5171FF"/>
                </a:solidFill>
                <a:latin typeface="맑은 고딕"/>
                <a:ea typeface="맑은 고딕"/>
                <a:cs typeface="각진펜 Bold"/>
                <a:sym typeface="각진펜 Bold"/>
              </a:rPr>
              <a:t> </a:t>
            </a:r>
            <a:r>
              <a:rPr lang="ko-KR" altLang="en-US" sz="5395" b="1" dirty="0" err="1">
                <a:solidFill>
                  <a:srgbClr val="5171FF"/>
                </a:solidFill>
                <a:latin typeface="맑은 고딕"/>
                <a:ea typeface="맑은 고딕"/>
                <a:cs typeface="각진펜 Bold"/>
                <a:sym typeface="각진펜 Bold"/>
              </a:rPr>
              <a:t>잡음비</a:t>
            </a:r>
            <a:r>
              <a:rPr lang="en-US" sz="5395" b="1" dirty="0">
                <a:solidFill>
                  <a:srgbClr val="5171FF"/>
                </a:solidFill>
                <a:latin typeface="맑은 고딕"/>
                <a:ea typeface="맑은 고딕"/>
                <a:cs typeface="각진펜 Bold"/>
                <a:sym typeface="각진펜 Bold"/>
              </a:rPr>
              <a:t>) </a:t>
            </a:r>
            <a:r>
              <a:rPr lang="en-US" sz="5395" b="1" dirty="0" err="1">
                <a:solidFill>
                  <a:srgbClr val="5171FF"/>
                </a:solidFill>
                <a:latin typeface="맑은 고딕"/>
                <a:ea typeface="맑은 고딕"/>
                <a:cs typeface="각진펜 Bold"/>
                <a:sym typeface="각진펜 Bold"/>
              </a:rPr>
              <a:t>실험</a:t>
            </a:r>
            <a:r>
              <a:rPr lang="en-US" sz="5395" b="1" dirty="0">
                <a:solidFill>
                  <a:srgbClr val="5171FF"/>
                </a:solidFill>
                <a:latin typeface="맑은 고딕"/>
                <a:ea typeface="맑은 고딕"/>
                <a:cs typeface="각진펜 Bold"/>
                <a:sym typeface="각진펜 Bold"/>
              </a:rPr>
              <a:t> </a:t>
            </a:r>
            <a:r>
              <a:rPr lang="en-US" sz="5395" b="1" dirty="0" err="1">
                <a:solidFill>
                  <a:srgbClr val="5171FF"/>
                </a:solidFill>
                <a:latin typeface="맑은 고딕"/>
                <a:ea typeface="맑은 고딕"/>
                <a:cs typeface="각진펜 Bold"/>
                <a:sym typeface="각진펜 Bold"/>
              </a:rPr>
              <a:t>결과</a:t>
            </a:r>
            <a:endParaRPr lang="en-US" sz="5395" b="1" dirty="0">
              <a:solidFill>
                <a:srgbClr val="5171FF"/>
              </a:solidFill>
              <a:latin typeface="맑은 고딕"/>
              <a:ea typeface="맑은 고딕"/>
              <a:cs typeface="각진펜 Bold"/>
              <a:sym typeface="각진펜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80572" y="9471322"/>
            <a:ext cx="3777228" cy="33942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660"/>
              </a:lnSpc>
              <a:spcBef>
                <a:spcPct val="0"/>
              </a:spcBef>
              <a:defRPr/>
            </a:pPr>
            <a:r>
              <a:rPr lang="en-US" sz="1900" b="1">
                <a:solidFill>
                  <a:srgbClr val="FFFFFF"/>
                </a:solidFill>
                <a:latin typeface="맑은 고딕"/>
                <a:ea typeface="맑은 고딕"/>
                <a:cs typeface="각진펜 Bold"/>
                <a:sym typeface="각진펜 Bold"/>
              </a:rPr>
              <a:t>오디오 신호 처리 기말 프로젝트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242438" y="9487832"/>
            <a:ext cx="1912290" cy="29078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2520"/>
              </a:lnSpc>
              <a:spcBef>
                <a:spcPct val="0"/>
              </a:spcBef>
              <a:defRPr/>
            </a:pPr>
            <a:r>
              <a:rPr lang="en-US" sz="1800" b="1" dirty="0">
                <a:solidFill>
                  <a:schemeClr val="bg1"/>
                </a:solidFill>
                <a:latin typeface="맑은 고딕"/>
                <a:ea typeface="맑은 고딕"/>
                <a:cs typeface="각진펜"/>
                <a:sym typeface="각진펜"/>
              </a:rPr>
              <a:t>20213032 권영훈</a:t>
            </a:r>
          </a:p>
        </p:txBody>
      </p:sp>
      <p:pic>
        <p:nvPicPr>
          <p:cNvPr id="15" name="newjeans_festival_LPF_Order4_20kHz_HiFi_10s.wav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link="rId1"/>
              </p:ext>
            </p:extLst>
          </p:nvPr>
        </p:nvPicPr>
        <p:blipFill rotWithShape="1">
          <a:blip r:embed="rId10"/>
          <a:stretch>
            <a:fillRect/>
          </a:stretch>
        </p:blipFill>
        <p:spPr>
          <a:xfrm>
            <a:off x="10325100" y="5257800"/>
            <a:ext cx="571500" cy="571500"/>
          </a:xfrm>
          <a:prstGeom prst="rect">
            <a:avLst/>
          </a:prstGeom>
        </p:spPr>
      </p:pic>
      <p:pic>
        <p:nvPicPr>
          <p:cNvPr id="16" name="newjeans_festival_LPF_Order6_15kHz_MusicZone_10s.wav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 rotWithShape="1">
          <a:blip r:embed="rId10"/>
          <a:stretch>
            <a:fillRect/>
          </a:stretch>
        </p:blipFill>
        <p:spPr>
          <a:xfrm>
            <a:off x="10325100" y="6324600"/>
            <a:ext cx="571500" cy="571500"/>
          </a:xfrm>
          <a:prstGeom prst="rect">
            <a:avLst/>
          </a:prstGeom>
        </p:spPr>
      </p:pic>
      <p:pic>
        <p:nvPicPr>
          <p:cNvPr id="17" name="newjeans_festival_LPF_Order6_3kHz_10s.wav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link="rId5"/>
              </p:ext>
            </p:extLst>
          </p:nvPr>
        </p:nvPicPr>
        <p:blipFill rotWithShape="1">
          <a:blip r:embed="rId10"/>
          <a:stretch>
            <a:fillRect/>
          </a:stretch>
        </p:blipFill>
        <p:spPr>
          <a:xfrm>
            <a:off x="10325100" y="7391400"/>
            <a:ext cx="571500" cy="571500"/>
          </a:xfrm>
          <a:prstGeom prst="rect">
            <a:avLst/>
          </a:prstGeom>
        </p:spPr>
      </p:pic>
      <p:pic>
        <p:nvPicPr>
          <p:cNvPr id="18" name="newjeans_festival_10s.wav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link="rId7"/>
              </p:ext>
            </p:extLst>
          </p:nvPr>
        </p:nvPicPr>
        <p:blipFill rotWithShape="1">
          <a:blip r:embed="rId10"/>
          <a:stretch>
            <a:fillRect/>
          </a:stretch>
        </p:blipFill>
        <p:spPr>
          <a:xfrm>
            <a:off x="9372600" y="3126583"/>
            <a:ext cx="571500" cy="571500"/>
          </a:xfrm>
          <a:prstGeom prst="rect">
            <a:avLst/>
          </a:prstGeom>
        </p:spPr>
      </p:pic>
      <p:sp>
        <p:nvSpPr>
          <p:cNvPr id="21" name="가로 글상자 20"/>
          <p:cNvSpPr txBox="1"/>
          <p:nvPr/>
        </p:nvSpPr>
        <p:spPr>
          <a:xfrm>
            <a:off x="1966714" y="3239756"/>
            <a:ext cx="740588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latin typeface="맑은 고딕"/>
              </a:rPr>
              <a:t>원본 음원</a:t>
            </a:r>
            <a:r>
              <a:rPr lang="en-US" altLang="ko-KR" sz="2000" b="1" dirty="0">
                <a:latin typeface="맑은 고딕"/>
              </a:rPr>
              <a:t> SNR(dB) : 86.99 dB</a:t>
            </a:r>
            <a:r>
              <a:rPr lang="ko-KR" altLang="en-US" sz="2000" b="1" dirty="0">
                <a:latin typeface="맑은 고딕"/>
              </a:rPr>
              <a:t> </a:t>
            </a:r>
            <a:r>
              <a:rPr lang="en-US" altLang="ko-KR" sz="2000" b="1" dirty="0">
                <a:latin typeface="맑은 고딕"/>
              </a:rPr>
              <a:t>"newjeans_festival_10s.wav"</a:t>
            </a:r>
            <a:r>
              <a:rPr lang="ko-KR" altLang="en-US" sz="2000" b="1" dirty="0">
                <a:latin typeface="맑은 고딕"/>
              </a:rPr>
              <a:t> </a:t>
            </a:r>
          </a:p>
        </p:txBody>
      </p:sp>
      <p:sp>
        <p:nvSpPr>
          <p:cNvPr id="22" name="가로 글상자 21"/>
          <p:cNvSpPr txBox="1"/>
          <p:nvPr/>
        </p:nvSpPr>
        <p:spPr>
          <a:xfrm>
            <a:off x="1447800" y="8284225"/>
            <a:ext cx="15316200" cy="953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23850" lvl="1" indent="0" algn="l">
              <a:lnSpc>
                <a:spcPts val="6839"/>
              </a:lnSpc>
              <a:buFont typeface="Arial"/>
              <a:buNone/>
              <a:defRPr/>
            </a:pPr>
            <a:r>
              <a:rPr lang="ko-KR" altLang="en-US" sz="2000" b="1" dirty="0" err="1">
                <a:solidFill>
                  <a:srgbClr val="000000"/>
                </a:solidFill>
                <a:latin typeface="맑은 고딕"/>
                <a:cs typeface="각진펜"/>
                <a:sym typeface="각진펜"/>
              </a:rPr>
              <a:t>뉴진스</a:t>
            </a:r>
            <a:r>
              <a:rPr lang="ko-KR" altLang="en-US" sz="2000" b="1" dirty="0">
                <a:solidFill>
                  <a:srgbClr val="000000"/>
                </a:solidFill>
                <a:latin typeface="맑은 고딕"/>
                <a:cs typeface="각진펜"/>
                <a:sym typeface="각진펜"/>
              </a:rPr>
              <a:t> 공연 음원</a:t>
            </a:r>
            <a:r>
              <a:rPr lang="en-US" sz="2000" b="1" dirty="0">
                <a:solidFill>
                  <a:srgbClr val="000000"/>
                </a:solidFill>
                <a:latin typeface="맑은 고딕"/>
                <a:ea typeface="맑은 고딕"/>
                <a:cs typeface="각진펜"/>
                <a:sym typeface="각진펜"/>
              </a:rPr>
              <a:t>에 Butterworth </a:t>
            </a:r>
            <a:r>
              <a:rPr lang="en-US" sz="2000" b="1" dirty="0" err="1">
                <a:solidFill>
                  <a:srgbClr val="000000"/>
                </a:solidFill>
                <a:latin typeface="맑은 고딕"/>
                <a:ea typeface="맑은 고딕"/>
                <a:cs typeface="각진펜"/>
                <a:sym typeface="각진펜"/>
              </a:rPr>
              <a:t>필터를</a:t>
            </a:r>
            <a:r>
              <a:rPr lang="en-US" sz="2000" b="1" dirty="0">
                <a:solidFill>
                  <a:srgbClr val="000000"/>
                </a:solidFill>
                <a:latin typeface="맑은 고딕"/>
                <a:ea typeface="맑은 고딕"/>
                <a:cs typeface="각진펜"/>
                <a:sym typeface="각진펜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맑은 고딕"/>
                <a:ea typeface="맑은 고딕"/>
                <a:cs typeface="각진펜"/>
                <a:sym typeface="각진펜"/>
              </a:rPr>
              <a:t>적용해</a:t>
            </a:r>
            <a:r>
              <a:rPr lang="en-US" sz="2000" b="1" dirty="0">
                <a:solidFill>
                  <a:srgbClr val="000000"/>
                </a:solidFill>
                <a:latin typeface="맑은 고딕"/>
                <a:ea typeface="맑은 고딕"/>
                <a:cs typeface="각진펜"/>
                <a:sym typeface="각진펜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맑은 고딕"/>
                <a:ea typeface="맑은 고딕"/>
                <a:cs typeface="각진펜"/>
                <a:sym typeface="각진펜"/>
              </a:rPr>
              <a:t>고주파</a:t>
            </a:r>
            <a:r>
              <a:rPr lang="en-US" sz="2000" b="1" dirty="0">
                <a:solidFill>
                  <a:srgbClr val="000000"/>
                </a:solidFill>
                <a:latin typeface="맑은 고딕"/>
                <a:ea typeface="맑은 고딕"/>
                <a:cs typeface="각진펜"/>
                <a:sym typeface="각진펜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맑은 고딕"/>
                <a:ea typeface="맑은 고딕"/>
                <a:cs typeface="각진펜"/>
                <a:sym typeface="각진펜"/>
              </a:rPr>
              <a:t>노이즈를</a:t>
            </a:r>
            <a:r>
              <a:rPr lang="en-US" sz="2000" b="1" dirty="0">
                <a:solidFill>
                  <a:srgbClr val="000000"/>
                </a:solidFill>
                <a:latin typeface="맑은 고딕"/>
                <a:ea typeface="맑은 고딕"/>
                <a:cs typeface="각진펜"/>
                <a:sym typeface="각진펜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맑은 고딕"/>
                <a:ea typeface="맑은 고딕"/>
                <a:cs typeface="각진펜"/>
                <a:sym typeface="각진펜"/>
              </a:rPr>
              <a:t>줄이고</a:t>
            </a:r>
            <a:r>
              <a:rPr lang="en-US" sz="2000" b="1" dirty="0">
                <a:solidFill>
                  <a:srgbClr val="000000"/>
                </a:solidFill>
                <a:latin typeface="맑은 고딕"/>
                <a:ea typeface="맑은 고딕"/>
                <a:cs typeface="각진펜"/>
                <a:sym typeface="각진펜"/>
              </a:rPr>
              <a:t>, SNR </a:t>
            </a:r>
            <a:r>
              <a:rPr lang="en-US" sz="2000" b="1" dirty="0" err="1">
                <a:solidFill>
                  <a:srgbClr val="000000"/>
                </a:solidFill>
                <a:latin typeface="맑은 고딕"/>
                <a:ea typeface="맑은 고딕"/>
                <a:cs typeface="각진펜"/>
                <a:sym typeface="각진펜"/>
              </a:rPr>
              <a:t>향상</a:t>
            </a:r>
            <a:r>
              <a:rPr lang="en-US" sz="2000" b="1" dirty="0">
                <a:solidFill>
                  <a:srgbClr val="000000"/>
                </a:solidFill>
                <a:latin typeface="맑은 고딕"/>
                <a:ea typeface="맑은 고딕"/>
                <a:cs typeface="각진펜"/>
                <a:sym typeface="각진펜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맑은 고딕"/>
                <a:ea typeface="맑은 고딕"/>
                <a:cs typeface="각진펜"/>
                <a:sym typeface="각진펜"/>
              </a:rPr>
              <a:t>효과를</a:t>
            </a:r>
            <a:r>
              <a:rPr lang="en-US" sz="2000" b="1" dirty="0">
                <a:solidFill>
                  <a:srgbClr val="000000"/>
                </a:solidFill>
                <a:latin typeface="맑은 고딕"/>
                <a:ea typeface="맑은 고딕"/>
                <a:cs typeface="각진펜"/>
                <a:sym typeface="각진펜"/>
              </a:rPr>
              <a:t> </a:t>
            </a:r>
            <a:r>
              <a:rPr lang="ko-KR" altLang="en-US" sz="2000" b="1" dirty="0">
                <a:solidFill>
                  <a:srgbClr val="000000"/>
                </a:solidFill>
                <a:latin typeface="맑은 고딕"/>
                <a:ea typeface="맑은 고딕"/>
                <a:cs typeface="각진펜"/>
                <a:sym typeface="각진펜"/>
              </a:rPr>
              <a:t>청각적 </a:t>
            </a:r>
            <a:r>
              <a:rPr lang="en-US" sz="2000" b="1" dirty="0">
                <a:solidFill>
                  <a:srgbClr val="000000"/>
                </a:solidFill>
                <a:latin typeface="맑은 고딕"/>
                <a:ea typeface="맑은 고딕"/>
                <a:cs typeface="각진펜"/>
                <a:sym typeface="각진펜"/>
              </a:rPr>
              <a:t>·</a:t>
            </a:r>
            <a:r>
              <a:rPr lang="ko-KR" altLang="en-US" sz="2000" b="1" dirty="0">
                <a:solidFill>
                  <a:srgbClr val="000000"/>
                </a:solidFill>
                <a:latin typeface="맑은 고딕"/>
                <a:ea typeface="맑은 고딕"/>
                <a:cs typeface="각진펜"/>
                <a:sym typeface="각진펜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맑은 고딕"/>
                <a:ea typeface="맑은 고딕"/>
                <a:cs typeface="각진펜"/>
                <a:sym typeface="각진펜"/>
              </a:rPr>
              <a:t>수치적으로</a:t>
            </a:r>
            <a:r>
              <a:rPr lang="en-US" sz="2000" b="1" dirty="0">
                <a:solidFill>
                  <a:srgbClr val="000000"/>
                </a:solidFill>
                <a:latin typeface="맑은 고딕"/>
                <a:ea typeface="맑은 고딕"/>
                <a:cs typeface="각진펜"/>
                <a:sym typeface="각진펜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맑은 고딕"/>
                <a:ea typeface="맑은 고딕"/>
                <a:cs typeface="각진펜"/>
                <a:sym typeface="각진펜"/>
              </a:rPr>
              <a:t>입증했습니다</a:t>
            </a:r>
            <a:r>
              <a:rPr lang="en-US" sz="2000" b="1" dirty="0">
                <a:solidFill>
                  <a:srgbClr val="000000"/>
                </a:solidFill>
                <a:latin typeface="맑은 고딕"/>
                <a:ea typeface="맑은 고딕"/>
                <a:cs typeface="각진펜"/>
                <a:sym typeface="각진펜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10000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10000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" dur="10000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audio>
              <p:cMediaNode vol="10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  <p:audio>
              <p:cMediaNode vol="10000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  <p:audio>
              <p:cMediaNode vol="100000">
                <p:cTn id="2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100000">
                <p:cTn id="2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3273" y="922583"/>
            <a:ext cx="16021455" cy="8441833"/>
            <a:chOff x="0" y="0"/>
            <a:chExt cx="4219642" cy="22233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19642" cy="2223364"/>
            </a:xfrm>
            <a:custGeom>
              <a:avLst/>
              <a:gdLst/>
              <a:ahLst/>
              <a:cxnLst/>
              <a:rect l="l" t="t" r="r" b="b"/>
              <a:pathLst>
                <a:path w="4219642" h="2223364">
                  <a:moveTo>
                    <a:pt x="0" y="0"/>
                  </a:moveTo>
                  <a:lnTo>
                    <a:pt x="4219642" y="0"/>
                  </a:lnTo>
                  <a:lnTo>
                    <a:pt x="4219642" y="2223364"/>
                  </a:lnTo>
                  <a:lnTo>
                    <a:pt x="0" y="222336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19642" cy="2261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>
                <a:latin typeface="+mj-ea"/>
                <a:ea typeface="+mj-ea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00200" y="3126584"/>
            <a:ext cx="14859000" cy="595573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781050" lvl="1" indent="-457200" algn="l">
              <a:lnSpc>
                <a:spcPts val="6839"/>
              </a:lnSpc>
              <a:buFont typeface="Arial"/>
              <a:buAutoNum type="arabicPeriod"/>
              <a:defRPr/>
            </a:pPr>
            <a:r>
              <a:rPr lang="en-US" altLang="ko-KR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FFT</a:t>
            </a:r>
            <a:r>
              <a:rPr lang="ko-KR" alt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및 </a:t>
            </a:r>
            <a:r>
              <a:rPr lang="en-US" altLang="ko-KR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Butterworth </a:t>
            </a:r>
            <a:r>
              <a:rPr lang="ko-KR" alt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필터 적용 후 </a:t>
            </a:r>
            <a:r>
              <a:rPr lang="en-US" sz="24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스펙트로그램</a:t>
            </a:r>
            <a:r>
              <a:rPr lang="en-US" sz="2400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과</a:t>
            </a:r>
            <a:r>
              <a:rPr lang="en-US" sz="24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SNR </a:t>
            </a:r>
            <a:r>
              <a:rPr lang="en-US" sz="24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분석</a:t>
            </a:r>
            <a:r>
              <a:rPr lang="en-US" sz="2400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을</a:t>
            </a:r>
            <a:r>
              <a:rPr lang="en-US" sz="24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통해</a:t>
            </a:r>
            <a:r>
              <a:rPr lang="en-US" sz="24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,</a:t>
            </a:r>
            <a:r>
              <a:rPr lang="ko-KR" altLang="en-US" sz="24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고주파 </a:t>
            </a:r>
            <a:r>
              <a:rPr lang="en-US" sz="2400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노이즈</a:t>
            </a:r>
            <a:r>
              <a:rPr lang="en-US" sz="24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제거</a:t>
            </a:r>
            <a:r>
              <a:rPr lang="en-US" sz="24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전, </a:t>
            </a:r>
            <a:r>
              <a:rPr lang="en-US" sz="2400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후의</a:t>
            </a:r>
            <a:r>
              <a:rPr lang="en-US" sz="24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</a:p>
          <a:p>
            <a:pPr marL="323850" lvl="1" algn="l">
              <a:lnSpc>
                <a:spcPts val="6839"/>
              </a:lnSpc>
              <a:defRPr/>
            </a:pPr>
            <a:r>
              <a:rPr lang="en-US" sz="24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    </a:t>
            </a:r>
            <a:r>
              <a:rPr lang="ko-KR" alt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시각적 </a:t>
            </a:r>
            <a:r>
              <a:rPr 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·</a:t>
            </a:r>
            <a:r>
              <a:rPr lang="ko-KR" alt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청각적 </a:t>
            </a:r>
            <a:r>
              <a:rPr 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·</a:t>
            </a:r>
            <a:r>
              <a:rPr lang="ko-KR" alt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수치적 차이</a:t>
            </a:r>
            <a:r>
              <a:rPr lang="en-US" sz="24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를 </a:t>
            </a:r>
            <a:r>
              <a:rPr lang="en-US" sz="2400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확인할</a:t>
            </a:r>
            <a:r>
              <a:rPr lang="en-US" sz="24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수 </a:t>
            </a:r>
            <a:r>
              <a:rPr lang="en-US" sz="2400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있었</a:t>
            </a:r>
            <a:r>
              <a:rPr lang="ko-KR" altLang="en-US" sz="2400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습니</a:t>
            </a:r>
            <a:r>
              <a:rPr lang="en-US" sz="24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다.</a:t>
            </a:r>
            <a:endParaRPr lang="en-US" altLang="ko-KR" sz="2400" b="1" dirty="0">
              <a:solidFill>
                <a:srgbClr val="000000"/>
              </a:solidFill>
              <a:latin typeface="+mj-ea"/>
              <a:ea typeface="+mj-ea"/>
              <a:cs typeface="각진펜"/>
              <a:sym typeface="각진펜"/>
            </a:endParaRPr>
          </a:p>
          <a:p>
            <a:pPr marL="323850" lvl="1" indent="0" algn="l">
              <a:lnSpc>
                <a:spcPts val="6839"/>
              </a:lnSpc>
              <a:buFont typeface="Arial"/>
              <a:buNone/>
              <a:defRPr/>
            </a:pPr>
            <a:r>
              <a:rPr lang="en-US" altLang="ko-KR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2.</a:t>
            </a:r>
            <a:r>
              <a:rPr lang="ko-KR" alt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ko-KR" altLang="en-US" sz="24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실험을 통해 </a:t>
            </a:r>
            <a:r>
              <a:rPr 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Butterworth </a:t>
            </a:r>
            <a:r>
              <a:rPr lang="ko-KR" altLang="en-US" sz="24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저역통과</a:t>
            </a:r>
            <a:r>
              <a:rPr lang="ko-KR" alt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필터</a:t>
            </a:r>
            <a:r>
              <a:rPr lang="en-US" sz="24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로</a:t>
            </a:r>
            <a:r>
              <a:rPr lang="ko-KR" altLang="en-US" sz="24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ko-KR" alt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고주파 노이즈</a:t>
            </a:r>
            <a:r>
              <a:rPr lang="en-US" sz="24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를 </a:t>
            </a:r>
            <a:r>
              <a:rPr lang="ko-KR" alt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제거</a:t>
            </a:r>
            <a:r>
              <a:rPr lang="ko-KR" altLang="en-US" sz="24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하는 동시에</a:t>
            </a:r>
            <a:r>
              <a:rPr lang="en-US" sz="24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ko-KR" alt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음원 품질</a:t>
            </a:r>
            <a:r>
              <a:rPr lang="ko-KR" altLang="en-US" sz="24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을 </a:t>
            </a:r>
            <a:r>
              <a:rPr lang="ko-KR" alt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최대한 </a:t>
            </a:r>
            <a:endParaRPr lang="en-US" altLang="ko-KR" sz="2400" b="1" dirty="0">
              <a:solidFill>
                <a:srgbClr val="000000"/>
              </a:solidFill>
              <a:latin typeface="+mj-ea"/>
              <a:ea typeface="+mj-ea"/>
              <a:cs typeface="각진펜"/>
              <a:sym typeface="각진펜"/>
            </a:endParaRPr>
          </a:p>
          <a:p>
            <a:pPr marL="323850" lvl="1" indent="0" algn="l">
              <a:lnSpc>
                <a:spcPts val="6839"/>
              </a:lnSpc>
              <a:buFont typeface="Arial"/>
              <a:buNone/>
              <a:defRPr/>
            </a:pPr>
            <a:r>
              <a:rPr lang="en-US" altLang="ko-KR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  </a:t>
            </a:r>
            <a:r>
              <a:rPr lang="ko-KR" alt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보존</a:t>
            </a:r>
            <a:r>
              <a:rPr lang="en-US" sz="2400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시킬</a:t>
            </a:r>
            <a:r>
              <a:rPr lang="en-US" sz="24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수 </a:t>
            </a:r>
            <a:r>
              <a:rPr lang="en-US" sz="2400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있음을</a:t>
            </a:r>
            <a:r>
              <a:rPr lang="en-US" sz="24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검증</a:t>
            </a:r>
            <a:r>
              <a:rPr lang="en-US" sz="2400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하였</a:t>
            </a:r>
            <a:r>
              <a:rPr lang="ko-KR" altLang="en-US" sz="2400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습니</a:t>
            </a:r>
            <a:r>
              <a:rPr lang="en-US" sz="24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다.</a:t>
            </a:r>
          </a:p>
          <a:p>
            <a:pPr marL="323850" lvl="1" indent="0" algn="l">
              <a:lnSpc>
                <a:spcPts val="6839"/>
              </a:lnSpc>
              <a:buFont typeface="Arial"/>
              <a:buNone/>
              <a:defRPr/>
            </a:pPr>
            <a:r>
              <a:rPr lang="en-US" altLang="ko-KR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3.</a:t>
            </a:r>
            <a:r>
              <a:rPr lang="ko-KR" alt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ko-KR" altLang="en-US" sz="24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이를 통해 향후에는 </a:t>
            </a:r>
            <a:r>
              <a:rPr lang="ko-KR" alt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축제</a:t>
            </a:r>
            <a:r>
              <a:rPr lang="en-US" altLang="ko-KR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, </a:t>
            </a:r>
            <a:r>
              <a:rPr lang="ko-KR" alt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공연 등 현장 녹음 음원 품질 향상 프로그램</a:t>
            </a:r>
            <a:r>
              <a:rPr lang="ko-KR" altLang="en-US" sz="24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으로 </a:t>
            </a:r>
            <a:r>
              <a:rPr lang="ko-KR" alt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개선</a:t>
            </a:r>
            <a:r>
              <a:rPr lang="ko-KR" altLang="en-US" sz="24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할 수 있습니다</a:t>
            </a:r>
            <a:r>
              <a:rPr lang="en-US" altLang="ko-KR" sz="24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. </a:t>
            </a:r>
          </a:p>
          <a:p>
            <a:pPr marL="323850" lvl="1" indent="0" algn="l">
              <a:lnSpc>
                <a:spcPts val="6839"/>
              </a:lnSpc>
              <a:buFont typeface="Arial"/>
              <a:buNone/>
              <a:defRPr/>
            </a:pPr>
            <a:r>
              <a:rPr lang="en-US" altLang="ko-KR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4. </a:t>
            </a:r>
            <a:r>
              <a:rPr lang="ko-KR" alt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결론적으로 프로젝트의 목표였던 </a:t>
            </a:r>
            <a:r>
              <a:rPr lang="en-US" altLang="ko-KR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2024</a:t>
            </a:r>
            <a:r>
              <a:rPr lang="ko-KR" alt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학년도 동의대학교 </a:t>
            </a:r>
            <a:r>
              <a:rPr lang="ko-KR" altLang="en-US" sz="24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대동제</a:t>
            </a:r>
            <a:r>
              <a:rPr lang="ko-KR" alt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ko-KR" altLang="en-US" sz="2400" b="1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뉴진스</a:t>
            </a:r>
            <a:r>
              <a:rPr lang="ko-KR" altLang="en-US" sz="2400" b="1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공연 음원 파일</a:t>
            </a:r>
            <a:r>
              <a:rPr lang="en-US" sz="24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에 </a:t>
            </a:r>
          </a:p>
          <a:p>
            <a:pPr marL="323850" lvl="1" indent="0" algn="l">
              <a:lnSpc>
                <a:spcPts val="6839"/>
              </a:lnSpc>
              <a:buFont typeface="Arial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가장</a:t>
            </a:r>
            <a:r>
              <a:rPr lang="en-US" sz="24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ko-KR" altLang="en-US" sz="24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이상적인</a:t>
            </a:r>
            <a:r>
              <a:rPr lang="en-US" sz="24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필터링</a:t>
            </a:r>
            <a:r>
              <a:rPr lang="en-US" sz="24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ko-KR" altLang="en-US" sz="24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결과 </a:t>
            </a:r>
            <a:r>
              <a:rPr lang="en-US" sz="2400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값은</a:t>
            </a:r>
            <a:r>
              <a:rPr lang="ko-KR" altLang="en-US" sz="24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2400" b="1" dirty="0">
                <a:solidFill>
                  <a:schemeClr val="dk1"/>
                </a:solidFill>
                <a:latin typeface="+mj-ea"/>
                <a:ea typeface="+mj-ea"/>
                <a:cs typeface="각진펜"/>
                <a:sym typeface="각진펜"/>
              </a:rPr>
              <a:t>Butterworth </a:t>
            </a:r>
            <a:r>
              <a:rPr lang="en-US" sz="2400" b="1" dirty="0" err="1">
                <a:solidFill>
                  <a:schemeClr val="dk1"/>
                </a:solidFill>
                <a:latin typeface="+mj-ea"/>
                <a:ea typeface="+mj-ea"/>
                <a:cs typeface="각진펜"/>
                <a:sym typeface="각진펜"/>
              </a:rPr>
              <a:t>필터</a:t>
            </a:r>
            <a:r>
              <a:rPr lang="en-US" sz="2400" b="1" dirty="0">
                <a:solidFill>
                  <a:schemeClr val="dk1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2400" b="1" dirty="0" err="1">
                <a:solidFill>
                  <a:schemeClr val="dk1"/>
                </a:solidFill>
                <a:latin typeface="+mj-ea"/>
                <a:ea typeface="+mj-ea"/>
                <a:cs typeface="각진펜"/>
                <a:sym typeface="각진펜"/>
              </a:rPr>
              <a:t>차수</a:t>
            </a:r>
            <a:r>
              <a:rPr lang="en-US" sz="2400" b="1" dirty="0">
                <a:solidFill>
                  <a:schemeClr val="dk1"/>
                </a:solidFill>
                <a:latin typeface="+mj-ea"/>
                <a:ea typeface="+mj-ea"/>
                <a:cs typeface="각진펜"/>
                <a:sym typeface="각진펜"/>
              </a:rPr>
              <a:t> 6차, </a:t>
            </a:r>
            <a:r>
              <a:rPr lang="en-US" sz="2400" b="1" dirty="0" err="1">
                <a:solidFill>
                  <a:schemeClr val="dk1"/>
                </a:solidFill>
                <a:latin typeface="+mj-ea"/>
                <a:ea typeface="+mj-ea"/>
                <a:cs typeface="각진펜"/>
                <a:sym typeface="각진펜"/>
              </a:rPr>
              <a:t>컷오프</a:t>
            </a:r>
            <a:r>
              <a:rPr lang="en-US" sz="2400" b="1" dirty="0">
                <a:solidFill>
                  <a:schemeClr val="dk1"/>
                </a:solidFill>
                <a:latin typeface="+mj-ea"/>
                <a:ea typeface="+mj-ea"/>
                <a:cs typeface="각진펜"/>
                <a:sym typeface="각진펜"/>
              </a:rPr>
              <a:t> </a:t>
            </a:r>
            <a:r>
              <a:rPr lang="en-US" sz="2400" b="1" dirty="0" err="1">
                <a:solidFill>
                  <a:schemeClr val="dk1"/>
                </a:solidFill>
                <a:latin typeface="+mj-ea"/>
                <a:ea typeface="+mj-ea"/>
                <a:cs typeface="각진펜"/>
                <a:sym typeface="각진펜"/>
              </a:rPr>
              <a:t>주파수</a:t>
            </a:r>
            <a:r>
              <a:rPr lang="en-US" sz="2400" b="1" dirty="0">
                <a:solidFill>
                  <a:schemeClr val="dk1"/>
                </a:solidFill>
                <a:latin typeface="+mj-ea"/>
                <a:ea typeface="+mj-ea"/>
                <a:cs typeface="각진펜"/>
                <a:sym typeface="각진펜"/>
              </a:rPr>
              <a:t> 15kHz</a:t>
            </a:r>
            <a:r>
              <a:rPr lang="en-US" sz="24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임을 </a:t>
            </a:r>
            <a:r>
              <a:rPr lang="en-US" sz="2400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확인하였</a:t>
            </a:r>
            <a:r>
              <a:rPr lang="ko-KR" altLang="en-US" sz="2400" dirty="0" err="1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습니</a:t>
            </a:r>
            <a:r>
              <a:rPr lang="en-US" sz="2400" dirty="0">
                <a:solidFill>
                  <a:srgbClr val="000000"/>
                </a:solidFill>
                <a:latin typeface="+mj-ea"/>
                <a:ea typeface="+mj-ea"/>
                <a:cs typeface="각진펜"/>
                <a:sym typeface="각진펜"/>
              </a:rPr>
              <a:t>다.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69645" y="1753624"/>
            <a:ext cx="2445255" cy="88723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7553"/>
              </a:lnSpc>
              <a:spcBef>
                <a:spcPct val="0"/>
              </a:spcBef>
              <a:defRPr/>
            </a:pPr>
            <a:r>
              <a:rPr lang="en-US" sz="5395" b="1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0</a:t>
            </a:r>
            <a:r>
              <a:rPr lang="en-US" altLang="ko-KR" sz="5395" b="1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7</a:t>
            </a:r>
            <a:r>
              <a:rPr lang="en-US" sz="5395" b="1">
                <a:solidFill>
                  <a:srgbClr val="5171FF"/>
                </a:solidFill>
                <a:latin typeface="+mj-ea"/>
                <a:ea typeface="+mj-ea"/>
                <a:cs typeface="각진펜 Bold"/>
                <a:sym typeface="각진펜 Bold"/>
              </a:rPr>
              <a:t> 결론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80572" y="9471322"/>
            <a:ext cx="3624828" cy="31470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660"/>
              </a:lnSpc>
              <a:spcBef>
                <a:spcPct val="0"/>
              </a:spcBef>
              <a:defRPr/>
            </a:pPr>
            <a:r>
              <a:rPr lang="ko-KR" altLang="en-US" sz="1900" b="1">
                <a:solidFill>
                  <a:srgbClr val="FFFFFF"/>
                </a:solidFill>
                <a:latin typeface="+mj-ea"/>
                <a:ea typeface="+mj-ea"/>
                <a:cs typeface="각진펜 Bold"/>
                <a:sym typeface="각진펜 Bold"/>
              </a:rPr>
              <a:t>오디오 신호 처리 기말 프로젝트</a:t>
            </a:r>
            <a:r>
              <a:rPr lang="en-US" sz="1900" b="1">
                <a:solidFill>
                  <a:srgbClr val="FFFFFF"/>
                </a:solidFill>
                <a:latin typeface="+mj-ea"/>
                <a:ea typeface="+mj-ea"/>
                <a:cs typeface="각진펜 Bold"/>
                <a:sym typeface="각진펜 Bold"/>
              </a:rPr>
              <a:t> </a:t>
            </a:r>
          </a:p>
        </p:txBody>
      </p:sp>
      <p:sp>
        <p:nvSpPr>
          <p:cNvPr id="13" name="TextBox 11"/>
          <p:cNvSpPr txBox="1"/>
          <p:nvPr/>
        </p:nvSpPr>
        <p:spPr>
          <a:xfrm>
            <a:off x="14935200" y="9471322"/>
            <a:ext cx="1878586" cy="29078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r">
              <a:lnSpc>
                <a:spcPts val="2520"/>
              </a:lnSpc>
              <a:spcBef>
                <a:spcPct val="0"/>
              </a:spcBef>
              <a:defRPr/>
            </a:pPr>
            <a:r>
              <a:rPr lang="en-US" altLang="ko-KR" sz="1800" b="1" dirty="0">
                <a:solidFill>
                  <a:schemeClr val="bg1"/>
                </a:solidFill>
                <a:latin typeface="+mj-ea"/>
                <a:ea typeface="+mj-ea"/>
                <a:cs typeface="각진펜"/>
                <a:sym typeface="각진펜"/>
              </a:rPr>
              <a:t>20213032</a:t>
            </a:r>
            <a:r>
              <a:rPr lang="ko-KR" altLang="en-US" sz="1800" b="1" dirty="0">
                <a:solidFill>
                  <a:schemeClr val="bg1"/>
                </a:solidFill>
                <a:latin typeface="+mj-ea"/>
                <a:ea typeface="+mj-ea"/>
                <a:cs typeface="각진펜"/>
                <a:sym typeface="각진펜"/>
              </a:rPr>
              <a:t> 권영훈</a:t>
            </a:r>
          </a:p>
        </p:txBody>
      </p:sp>
      <p:sp>
        <p:nvSpPr>
          <p:cNvPr id="14" name="AutoShape 5"/>
          <p:cNvSpPr/>
          <p:nvPr/>
        </p:nvSpPr>
        <p:spPr>
          <a:xfrm>
            <a:off x="1143000" y="2920604"/>
            <a:ext cx="160020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3273" y="492463"/>
            <a:ext cx="16021455" cy="9302074"/>
            <a:chOff x="0" y="0"/>
            <a:chExt cx="4219642" cy="24499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19642" cy="2449929"/>
            </a:xfrm>
            <a:custGeom>
              <a:avLst/>
              <a:gdLst/>
              <a:ahLst/>
              <a:cxnLst/>
              <a:rect l="l" t="t" r="r" b="b"/>
              <a:pathLst>
                <a:path w="4219642" h="2449929">
                  <a:moveTo>
                    <a:pt x="0" y="0"/>
                  </a:moveTo>
                  <a:lnTo>
                    <a:pt x="4219642" y="0"/>
                  </a:lnTo>
                  <a:lnTo>
                    <a:pt x="4219642" y="2449929"/>
                  </a:lnTo>
                  <a:lnTo>
                    <a:pt x="0" y="244992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19642" cy="24880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088985" y="3392809"/>
            <a:ext cx="10110029" cy="14173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11199"/>
              </a:lnSpc>
              <a:spcBef>
                <a:spcPct val="0"/>
              </a:spcBef>
              <a:defRPr/>
            </a:pPr>
            <a:r>
              <a:rPr lang="en-US" sz="7999" b="1">
                <a:solidFill>
                  <a:srgbClr val="5171FF"/>
                </a:solidFill>
                <a:latin typeface="맑은 고딕"/>
                <a:ea typeface="맑은 고딕"/>
                <a:cs typeface="윤고딕 Bold"/>
                <a:sym typeface="윤고딕 Bold"/>
              </a:rPr>
              <a:t>THANK YOU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868152" y="5250200"/>
            <a:ext cx="8551696" cy="9886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7840"/>
              </a:lnSpc>
              <a:spcBef>
                <a:spcPct val="0"/>
              </a:spcBef>
              <a:defRPr/>
            </a:pPr>
            <a:r>
              <a:rPr lang="en-US" sz="5600" b="1">
                <a:solidFill>
                  <a:srgbClr val="000000"/>
                </a:solidFill>
                <a:latin typeface="맑은 고딕"/>
                <a:ea typeface="맑은 고딕"/>
                <a:cs typeface="각진펜 Bold"/>
                <a:sym typeface="각진펜 Bold"/>
              </a:rPr>
              <a:t>감사합니다</a:t>
            </a:r>
          </a:p>
        </p:txBody>
      </p:sp>
      <p:sp>
        <p:nvSpPr>
          <p:cNvPr id="8" name="AutoShape 5"/>
          <p:cNvSpPr/>
          <p:nvPr/>
        </p:nvSpPr>
        <p:spPr>
          <a:xfrm>
            <a:off x="1143000" y="4838700"/>
            <a:ext cx="160020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541</Words>
  <Application>Microsoft Office PowerPoint</Application>
  <PresentationFormat>사용자 지정</PresentationFormat>
  <Paragraphs>99</Paragraphs>
  <Slides>9</Slides>
  <Notes>1</Notes>
  <HiddenSlides>0</HiddenSlides>
  <MMClips>4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공연 녹음 음원의 노이즈 제거와 음질 보존 </dc:title>
  <cp:lastModifiedBy>영훈 권</cp:lastModifiedBy>
  <cp:revision>51</cp:revision>
  <dcterms:created xsi:type="dcterms:W3CDTF">2006-08-16T00:00:00Z</dcterms:created>
  <dcterms:modified xsi:type="dcterms:W3CDTF">2025-06-18T15:51:29Z</dcterms:modified>
  <cp:version/>
</cp:coreProperties>
</file>