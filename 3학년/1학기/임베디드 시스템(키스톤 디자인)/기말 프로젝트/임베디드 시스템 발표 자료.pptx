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70" r:id="rId5"/>
    <p:sldId id="260" r:id="rId6"/>
    <p:sldId id="268" r:id="rId7"/>
    <p:sldId id="269" r:id="rId8"/>
    <p:sldId id="267" r:id="rId9"/>
    <p:sldId id="264" r:id="rId10"/>
    <p:sldId id="266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5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2025-06-18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5170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6252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4EA99-D491-CBBF-B71C-6BCF55B1D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1CD1F693-8EB0-889E-BF60-67DA6C316D6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F61DE369-377C-8963-FEBB-71B3C2F41C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5114F88A-3F4A-D34A-4EF8-F3DFA91C5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898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76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57FCC-C5E1-D565-F5C7-9893FA85E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91309B0-E5E2-10B5-42F7-4DA10AFB87F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0D71707C-4E38-1472-8964-63B952067F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CE4B8254-4FAA-7CDE-CB0E-6026015978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664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E5DEA-BFFA-B441-2902-24016C0DD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64E3E527-8210-6163-4C62-469F989C5BC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329979-2E27-0C75-13AA-09ABA18F14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4676C4F-13C1-7B0D-6B7A-AB3B5398F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593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90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700"/>
            <a:ext cx="18288000" cy="10281645"/>
          </a:xfrm>
          <a:custGeom>
            <a:avLst/>
            <a:gdLst/>
            <a:ahLst/>
            <a:cxnLst/>
            <a:rect l="l" t="t" r="r" b="b"/>
            <a:pathLst>
              <a:path w="18288000" h="10281645">
                <a:moveTo>
                  <a:pt x="0" y="0"/>
                </a:moveTo>
                <a:lnTo>
                  <a:pt x="18288000" y="0"/>
                </a:lnTo>
                <a:lnTo>
                  <a:pt x="18288000" y="10281644"/>
                </a:lnTo>
                <a:lnTo>
                  <a:pt x="0" y="10281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516927" y="715994"/>
            <a:ext cx="16535400" cy="8826256"/>
            <a:chOff x="0" y="0"/>
            <a:chExt cx="4355002" cy="23246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55002" cy="2324611"/>
            </a:xfrm>
            <a:custGeom>
              <a:avLst/>
              <a:gdLst/>
              <a:ahLst/>
              <a:cxnLst/>
              <a:rect l="l" t="t" r="r" b="b"/>
              <a:pathLst>
                <a:path w="4355002" h="2324611">
                  <a:moveTo>
                    <a:pt x="0" y="0"/>
                  </a:moveTo>
                  <a:lnTo>
                    <a:pt x="4355002" y="0"/>
                  </a:lnTo>
                  <a:lnTo>
                    <a:pt x="4355002" y="2324611"/>
                  </a:lnTo>
                  <a:lnTo>
                    <a:pt x="0" y="23246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55002" cy="23627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875196" y="4211267"/>
            <a:ext cx="14537608" cy="0"/>
          </a:xfrm>
          <a:prstGeom prst="line">
            <a:avLst/>
          </a:prstGeom>
          <a:ln w="9525" cap="flat">
            <a:solidFill>
              <a:srgbClr val="7F90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871929" y="3213517"/>
            <a:ext cx="14375978" cy="81028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7044"/>
              </a:lnSpc>
              <a:spcBef>
                <a:spcPct val="0"/>
              </a:spcBef>
              <a:defRPr/>
            </a:pPr>
            <a:r>
              <a:rPr lang="en-US" sz="4900" b="1" dirty="0" err="1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사람</a:t>
            </a:r>
            <a:r>
              <a:rPr lang="en-US" sz="4900" b="1" dirty="0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 </a:t>
            </a:r>
            <a:r>
              <a:rPr lang="en-US" sz="4900" b="1" dirty="0" err="1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인식</a:t>
            </a:r>
            <a:r>
              <a:rPr lang="en-US" sz="4900" b="1" dirty="0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 </a:t>
            </a:r>
            <a:r>
              <a:rPr lang="en-US" sz="4900" b="1" dirty="0" err="1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기반</a:t>
            </a:r>
            <a:r>
              <a:rPr lang="en-US" sz="4900" b="1" dirty="0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 </a:t>
            </a:r>
            <a:r>
              <a:rPr lang="en-US" sz="4900" b="1" dirty="0" err="1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혼잡도</a:t>
            </a:r>
            <a:r>
              <a:rPr lang="en-US" sz="4900" b="1" dirty="0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 </a:t>
            </a:r>
            <a:r>
              <a:rPr lang="ko-KR" altLang="en-US" sz="4900" b="1" dirty="0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판정</a:t>
            </a:r>
            <a:r>
              <a:rPr lang="en-US" sz="4900" b="1" dirty="0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 </a:t>
            </a:r>
            <a:r>
              <a:rPr lang="en-US" sz="4900" b="1" dirty="0" err="1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시스템</a:t>
            </a:r>
            <a:endParaRPr lang="en-US" sz="4900" b="1" dirty="0">
              <a:solidFill>
                <a:srgbClr val="7F90D4"/>
              </a:solidFill>
              <a:latin typeface="맑은 고딕"/>
              <a:ea typeface="맑은 고딕"/>
              <a:cs typeface="TDTD한강고딕"/>
              <a:sym typeface="TDTD한강고딕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875196" y="4326784"/>
            <a:ext cx="14537608" cy="4226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359"/>
              </a:lnSpc>
              <a:spcBef>
                <a:spcPct val="0"/>
              </a:spcBef>
              <a:defRPr/>
            </a:pPr>
            <a:r>
              <a:rPr lang="en-US" sz="2800" b="1">
                <a:solidFill>
                  <a:srgbClr val="545454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2025학년도 1학기 임베디드 시스템(키스톤 디자인)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500221" y="7770308"/>
            <a:ext cx="3912583" cy="38331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r">
              <a:lnSpc>
                <a:spcPts val="2939"/>
              </a:lnSpc>
              <a:spcBef>
                <a:spcPct val="0"/>
              </a:spcBef>
              <a:defRPr/>
            </a:pPr>
            <a:r>
              <a:rPr lang="en-US" sz="3200" b="1" dirty="0">
                <a:solidFill>
                  <a:srgbClr val="545454"/>
                </a:solidFill>
                <a:latin typeface="맑은 고딕"/>
                <a:ea typeface="맑은 고딕"/>
                <a:cs typeface="윤고딕"/>
                <a:sym typeface="윤고딕"/>
              </a:rPr>
              <a:t>Team 404</a:t>
            </a:r>
            <a:endParaRPr lang="en-US" sz="3200" b="1" dirty="0">
              <a:solidFill>
                <a:srgbClr val="545454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500221" y="8213417"/>
            <a:ext cx="3912583" cy="31145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r">
              <a:lnSpc>
                <a:spcPts val="2468"/>
              </a:lnSpc>
              <a:spcBef>
                <a:spcPct val="0"/>
              </a:spcBef>
              <a:defRPr/>
            </a:pPr>
            <a:r>
              <a:rPr lang="en-US" sz="2600" b="1">
                <a:solidFill>
                  <a:srgbClr val="545454"/>
                </a:solidFill>
                <a:latin typeface="맑은 고딕"/>
                <a:ea typeface="맑은 고딕"/>
                <a:cs typeface="윤고딕 Semi-Bold"/>
                <a:sym typeface="윤고딕 Semi-Bold"/>
              </a:rPr>
              <a:t>권영훈 | 강신혁 | 하유빈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71929" y="2671092"/>
            <a:ext cx="5591266" cy="52930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4226"/>
              </a:lnSpc>
              <a:spcBef>
                <a:spcPct val="0"/>
              </a:spcBef>
              <a:defRPr/>
            </a:pPr>
            <a:r>
              <a:rPr lang="en-US" sz="3300" b="1" dirty="0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90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700"/>
            <a:ext cx="18288000" cy="10281645"/>
          </a:xfrm>
          <a:custGeom>
            <a:avLst/>
            <a:gdLst/>
            <a:ahLst/>
            <a:cxnLst/>
            <a:rect l="l" t="t" r="r" b="b"/>
            <a:pathLst>
              <a:path w="18288000" h="10281645">
                <a:moveTo>
                  <a:pt x="0" y="0"/>
                </a:moveTo>
                <a:lnTo>
                  <a:pt x="18288000" y="0"/>
                </a:lnTo>
                <a:lnTo>
                  <a:pt x="18288000" y="10281644"/>
                </a:lnTo>
                <a:lnTo>
                  <a:pt x="0" y="10281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3000"/>
            </a:blip>
            <a:stretch>
              <a:fillRect/>
            </a:stretch>
          </a:blipFill>
        </p:spPr>
        <p:txBody>
          <a:bodyPr anchor="ctr"/>
          <a:lstStyle/>
          <a:p>
            <a:pPr lvl="0" algn="ctr">
              <a:defRPr/>
            </a:pPr>
            <a:endParaRPr lang="ko-KR" altLang="en-US" b="1">
              <a:latin typeface="맑은 고딕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876300" y="730372"/>
            <a:ext cx="16535400" cy="8826256"/>
            <a:chOff x="0" y="0"/>
            <a:chExt cx="4355002" cy="23246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55002" cy="2324611"/>
            </a:xfrm>
            <a:custGeom>
              <a:avLst/>
              <a:gdLst/>
              <a:ahLst/>
              <a:cxnLst/>
              <a:rect l="l" t="t" r="r" b="b"/>
              <a:pathLst>
                <a:path w="4355002" h="2324611">
                  <a:moveTo>
                    <a:pt x="0" y="0"/>
                  </a:moveTo>
                  <a:lnTo>
                    <a:pt x="4355002" y="0"/>
                  </a:lnTo>
                  <a:lnTo>
                    <a:pt x="4355002" y="2324611"/>
                  </a:lnTo>
                  <a:lnTo>
                    <a:pt x="0" y="23246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55002" cy="236271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 b="1">
                <a:latin typeface="맑은 고딕"/>
              </a:endParaRPr>
            </a:p>
          </p:txBody>
        </p:sp>
      </p:grpSp>
      <p:sp>
        <p:nvSpPr>
          <p:cNvPr id="6" name="AutoShape 6"/>
          <p:cNvSpPr/>
          <p:nvPr/>
        </p:nvSpPr>
        <p:spPr>
          <a:xfrm>
            <a:off x="1875196" y="3192092"/>
            <a:ext cx="14537608" cy="0"/>
          </a:xfrm>
          <a:prstGeom prst="line">
            <a:avLst/>
          </a:prstGeom>
          <a:ln w="9525" cap="flat">
            <a:solidFill>
              <a:srgbClr val="7F90D4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 b="1">
              <a:latin typeface="맑은 고딕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014804" y="1694012"/>
            <a:ext cx="2525890" cy="131588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10359"/>
              </a:lnSpc>
              <a:spcBef>
                <a:spcPct val="0"/>
              </a:spcBef>
              <a:defRPr/>
            </a:pPr>
            <a:r>
              <a:rPr lang="en-US" sz="7399" b="1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목차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38879" y="2333432"/>
            <a:ext cx="3000466" cy="52406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4226"/>
              </a:lnSpc>
              <a:spcBef>
                <a:spcPct val="0"/>
              </a:spcBef>
              <a:defRPr/>
            </a:pPr>
            <a:r>
              <a:rPr lang="en-US" sz="3019" b="1" dirty="0">
                <a:solidFill>
                  <a:srgbClr val="54545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LIST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00609" y="3739619"/>
            <a:ext cx="5171432" cy="356315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7200"/>
              </a:lnSpc>
              <a:defRPr/>
            </a:pPr>
            <a:r>
              <a:rPr lang="ko-KR" altLang="en-US" sz="3600" b="1" dirty="0">
                <a:solidFill>
                  <a:srgbClr val="000000"/>
                </a:solidFill>
                <a:latin typeface="맑은 고딕"/>
                <a:ea typeface="맑은 고딕"/>
                <a:cs typeface="윤고딕"/>
                <a:sym typeface="윤고딕"/>
              </a:rPr>
              <a:t>프로젝트 시연 영상</a:t>
            </a:r>
            <a:endParaRPr lang="en-US" sz="3600" b="1" dirty="0">
              <a:solidFill>
                <a:srgbClr val="000000"/>
              </a:solidFill>
              <a:latin typeface="맑은 고딕"/>
              <a:ea typeface="맑은 고딕"/>
              <a:cs typeface="윤고딕"/>
              <a:sym typeface="윤고딕"/>
            </a:endParaRPr>
          </a:p>
          <a:p>
            <a:pPr lvl="0" algn="l">
              <a:lnSpc>
                <a:spcPts val="7200"/>
              </a:lnSpc>
              <a:defRPr/>
            </a:pPr>
            <a:r>
              <a:rPr lang="en-US" sz="3600" b="1" dirty="0" err="1">
                <a:solidFill>
                  <a:srgbClr val="000000"/>
                </a:solidFill>
                <a:latin typeface="맑은 고딕"/>
                <a:ea typeface="맑은 고딕"/>
                <a:cs typeface="윤고딕"/>
                <a:sym typeface="윤고딕"/>
              </a:rPr>
              <a:t>성과</a:t>
            </a:r>
            <a:r>
              <a:rPr lang="en-US" sz="3600" b="1" dirty="0">
                <a:solidFill>
                  <a:srgbClr val="000000"/>
                </a:solidFill>
                <a:latin typeface="맑은 고딕"/>
                <a:ea typeface="맑은 고딕"/>
                <a:cs typeface="윤고딕"/>
                <a:sym typeface="윤고딕"/>
              </a:rPr>
              <a:t> 및 </a:t>
            </a:r>
            <a:r>
              <a:rPr lang="en-US" sz="3600" b="1" dirty="0" err="1">
                <a:solidFill>
                  <a:srgbClr val="000000"/>
                </a:solidFill>
                <a:latin typeface="맑은 고딕"/>
                <a:ea typeface="맑은 고딕"/>
                <a:cs typeface="윤고딕"/>
                <a:sym typeface="윤고딕"/>
              </a:rPr>
              <a:t>결론도출</a:t>
            </a:r>
            <a:endParaRPr lang="en-US" sz="3600" b="1" dirty="0">
              <a:solidFill>
                <a:srgbClr val="000000"/>
              </a:solidFill>
              <a:latin typeface="맑은 고딕"/>
              <a:ea typeface="맑은 고딕"/>
              <a:cs typeface="윤고딕"/>
              <a:sym typeface="윤고딕"/>
            </a:endParaRPr>
          </a:p>
          <a:p>
            <a:pPr lvl="0" algn="l">
              <a:lnSpc>
                <a:spcPts val="7200"/>
              </a:lnSpc>
              <a:defRPr/>
            </a:pPr>
            <a:r>
              <a:rPr lang="en-US" sz="3600" b="1" dirty="0" err="1">
                <a:solidFill>
                  <a:srgbClr val="000000"/>
                </a:solidFill>
                <a:latin typeface="맑은 고딕"/>
                <a:ea typeface="맑은 고딕"/>
                <a:cs typeface="윤고딕"/>
                <a:sym typeface="윤고딕"/>
              </a:rPr>
              <a:t>향후</a:t>
            </a:r>
            <a:r>
              <a:rPr lang="en-US" sz="3600" b="1" dirty="0">
                <a:solidFill>
                  <a:srgbClr val="000000"/>
                </a:solidFill>
                <a:latin typeface="맑은 고딕"/>
                <a:ea typeface="맑은 고딕"/>
                <a:cs typeface="윤고딕"/>
                <a:sym typeface="윤고딕"/>
              </a:rPr>
              <a:t> </a:t>
            </a:r>
            <a:r>
              <a:rPr lang="en-US" sz="3600" b="1" dirty="0" err="1">
                <a:solidFill>
                  <a:srgbClr val="000000"/>
                </a:solidFill>
                <a:latin typeface="맑은 고딕"/>
                <a:ea typeface="맑은 고딕"/>
                <a:cs typeface="윤고딕"/>
                <a:sym typeface="윤고딕"/>
              </a:rPr>
              <a:t>개선방향</a:t>
            </a:r>
            <a:endParaRPr lang="en-US" sz="3600" b="1" dirty="0">
              <a:solidFill>
                <a:srgbClr val="000000"/>
              </a:solidFill>
              <a:latin typeface="맑은 고딕"/>
              <a:ea typeface="맑은 고딕"/>
              <a:cs typeface="윤고딕"/>
              <a:sym typeface="윤고딕"/>
            </a:endParaRPr>
          </a:p>
          <a:p>
            <a:pPr lvl="0" algn="l">
              <a:lnSpc>
                <a:spcPts val="7200"/>
              </a:lnSpc>
              <a:defRPr/>
            </a:pPr>
            <a:r>
              <a:rPr lang="ko-KR" altLang="en-US" sz="3600" b="1" dirty="0">
                <a:solidFill>
                  <a:srgbClr val="000000"/>
                </a:solidFill>
                <a:latin typeface="맑은 고딕"/>
                <a:ea typeface="맑은 고딕"/>
                <a:cs typeface="윤고딕"/>
                <a:sym typeface="윤고딕"/>
              </a:rPr>
              <a:t>마무리</a:t>
            </a:r>
            <a:endParaRPr lang="en-US" sz="3600" b="1" dirty="0">
              <a:solidFill>
                <a:srgbClr val="000000"/>
              </a:solidFill>
              <a:latin typeface="맑은 고딕"/>
              <a:ea typeface="맑은 고딕"/>
              <a:cs typeface="윤고딕"/>
              <a:sym typeface="윤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134307" y="3739619"/>
            <a:ext cx="4722758" cy="356315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7200"/>
              </a:lnSpc>
              <a:defRPr/>
            </a:pPr>
            <a:r>
              <a:rPr lang="en-US" sz="3600" b="1" dirty="0" err="1">
                <a:solidFill>
                  <a:srgbClr val="000000"/>
                </a:solidFill>
                <a:latin typeface="맑은 고딕"/>
                <a:ea typeface="맑은 고딕"/>
                <a:cs typeface="윤고딕"/>
                <a:sym typeface="윤고딕"/>
              </a:rPr>
              <a:t>프로젝트</a:t>
            </a:r>
            <a:r>
              <a:rPr lang="en-US" sz="3600" b="1" dirty="0">
                <a:solidFill>
                  <a:srgbClr val="000000"/>
                </a:solidFill>
                <a:latin typeface="맑은 고딕"/>
                <a:ea typeface="맑은 고딕"/>
                <a:cs typeface="윤고딕"/>
                <a:sym typeface="윤고딕"/>
              </a:rPr>
              <a:t> </a:t>
            </a:r>
            <a:r>
              <a:rPr lang="en-US" sz="3600" b="1" dirty="0" err="1">
                <a:solidFill>
                  <a:srgbClr val="000000"/>
                </a:solidFill>
                <a:latin typeface="맑은 고딕"/>
                <a:ea typeface="맑은 고딕"/>
                <a:cs typeface="윤고딕"/>
                <a:sym typeface="윤고딕"/>
              </a:rPr>
              <a:t>개요</a:t>
            </a:r>
            <a:endParaRPr lang="en-US" sz="3600" b="1" dirty="0">
              <a:solidFill>
                <a:srgbClr val="000000"/>
              </a:solidFill>
              <a:latin typeface="맑은 고딕"/>
              <a:ea typeface="맑은 고딕"/>
              <a:cs typeface="윤고딕"/>
              <a:sym typeface="윤고딕"/>
            </a:endParaRPr>
          </a:p>
          <a:p>
            <a:pPr lvl="0" algn="l">
              <a:lnSpc>
                <a:spcPts val="7200"/>
              </a:lnSpc>
              <a:defRPr/>
            </a:pPr>
            <a:r>
              <a:rPr lang="ko-KR" altLang="en-US" sz="3600" b="1" dirty="0">
                <a:solidFill>
                  <a:srgbClr val="000000"/>
                </a:solidFill>
                <a:latin typeface="맑은 고딕"/>
                <a:ea typeface="맑은 고딕"/>
                <a:cs typeface="윤고딕"/>
                <a:sym typeface="윤고딕"/>
              </a:rPr>
              <a:t>프로젝트 동기 프로젝트 진행과정</a:t>
            </a:r>
            <a:endParaRPr lang="en-US" sz="3600" b="1" dirty="0">
              <a:solidFill>
                <a:srgbClr val="000000"/>
              </a:solidFill>
              <a:latin typeface="맑은 고딕"/>
              <a:ea typeface="맑은 고딕"/>
              <a:cs typeface="윤고딕"/>
              <a:sym typeface="윤고딕"/>
            </a:endParaRPr>
          </a:p>
          <a:p>
            <a:pPr lvl="0" algn="l">
              <a:lnSpc>
                <a:spcPts val="7200"/>
              </a:lnSpc>
              <a:defRPr/>
            </a:pPr>
            <a:r>
              <a:rPr lang="ko-KR" altLang="en-US" sz="3600" b="1" dirty="0">
                <a:solidFill>
                  <a:srgbClr val="000000"/>
                </a:solidFill>
                <a:latin typeface="맑은 고딕"/>
                <a:ea typeface="맑은 고딕"/>
                <a:cs typeface="윤고딕"/>
                <a:sym typeface="윤고딕"/>
              </a:rPr>
              <a:t>시스템 구조 및 흐름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38879" y="3730094"/>
            <a:ext cx="1136015" cy="365178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7200"/>
              </a:lnSpc>
              <a:defRPr/>
            </a:pPr>
            <a:r>
              <a:rPr lang="en-US" sz="3600" b="1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01</a:t>
            </a:r>
          </a:p>
          <a:p>
            <a:pPr lvl="0" algn="l">
              <a:lnSpc>
                <a:spcPts val="7200"/>
              </a:lnSpc>
              <a:defRPr/>
            </a:pPr>
            <a:r>
              <a:rPr lang="en-US" sz="3600" b="1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02</a:t>
            </a:r>
          </a:p>
          <a:p>
            <a:pPr lvl="0" algn="l">
              <a:lnSpc>
                <a:spcPts val="7200"/>
              </a:lnSpc>
              <a:defRPr/>
            </a:pPr>
            <a:r>
              <a:rPr lang="en-US" sz="3600" b="1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03</a:t>
            </a:r>
          </a:p>
          <a:p>
            <a:pPr lvl="0" algn="l">
              <a:lnSpc>
                <a:spcPts val="7200"/>
              </a:lnSpc>
              <a:defRPr/>
            </a:pPr>
            <a:r>
              <a:rPr lang="en-US" sz="3600" b="1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04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05180" y="3730094"/>
            <a:ext cx="1136015" cy="365178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7200"/>
              </a:lnSpc>
              <a:defRPr/>
            </a:pPr>
            <a:r>
              <a:rPr lang="en-US" sz="3600" b="1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05</a:t>
            </a:r>
          </a:p>
          <a:p>
            <a:pPr lvl="0" algn="l">
              <a:lnSpc>
                <a:spcPts val="7200"/>
              </a:lnSpc>
              <a:defRPr/>
            </a:pPr>
            <a:r>
              <a:rPr lang="en-US" sz="3600" b="1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06</a:t>
            </a:r>
          </a:p>
          <a:p>
            <a:pPr lvl="0" algn="l">
              <a:lnSpc>
                <a:spcPts val="7200"/>
              </a:lnSpc>
              <a:defRPr/>
            </a:pPr>
            <a:r>
              <a:rPr lang="en-US" sz="3600" b="1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07</a:t>
            </a:r>
          </a:p>
          <a:p>
            <a:pPr lvl="0" algn="l">
              <a:lnSpc>
                <a:spcPts val="7200"/>
              </a:lnSpc>
              <a:defRPr/>
            </a:pPr>
            <a:r>
              <a:rPr lang="en-US" sz="3600" b="1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08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90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700"/>
            <a:ext cx="18288000" cy="10281645"/>
          </a:xfrm>
          <a:custGeom>
            <a:avLst/>
            <a:gdLst/>
            <a:ahLst/>
            <a:cxnLst/>
            <a:rect l="l" t="t" r="r" b="b"/>
            <a:pathLst>
              <a:path w="18288000" h="10281645">
                <a:moveTo>
                  <a:pt x="0" y="0"/>
                </a:moveTo>
                <a:lnTo>
                  <a:pt x="18288000" y="0"/>
                </a:lnTo>
                <a:lnTo>
                  <a:pt x="18288000" y="10281644"/>
                </a:lnTo>
                <a:lnTo>
                  <a:pt x="0" y="10281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000"/>
            </a:blip>
            <a:stretch>
              <a:fillRect/>
            </a:stretch>
          </a:blipFill>
        </p:spPr>
        <p:txBody>
          <a:bodyPr anchor="ctr"/>
          <a:lstStyle/>
          <a:p>
            <a:pPr lvl="0" algn="ctr">
              <a:defRPr/>
            </a:pPr>
            <a:endParaRPr lang="ko-KR" altLang="en-US" b="1">
              <a:latin typeface="맑은 고딕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876300" y="730372"/>
            <a:ext cx="16535400" cy="8826256"/>
            <a:chOff x="0" y="0"/>
            <a:chExt cx="4355002" cy="23246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55002" cy="2324611"/>
            </a:xfrm>
            <a:custGeom>
              <a:avLst/>
              <a:gdLst/>
              <a:ahLst/>
              <a:cxnLst/>
              <a:rect l="l" t="t" r="r" b="b"/>
              <a:pathLst>
                <a:path w="4355002" h="2324611">
                  <a:moveTo>
                    <a:pt x="0" y="0"/>
                  </a:moveTo>
                  <a:lnTo>
                    <a:pt x="4355002" y="0"/>
                  </a:lnTo>
                  <a:lnTo>
                    <a:pt x="4355002" y="2324611"/>
                  </a:lnTo>
                  <a:lnTo>
                    <a:pt x="0" y="23246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55002" cy="236271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 b="1">
                <a:latin typeface="맑은 고딕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14804" y="1694012"/>
            <a:ext cx="2525890" cy="131588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10359"/>
              </a:lnSpc>
              <a:spcBef>
                <a:spcPct val="0"/>
              </a:spcBef>
              <a:defRPr/>
            </a:pPr>
            <a:r>
              <a:rPr lang="en-US" sz="7399" b="1" dirty="0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11099" y="1694012"/>
            <a:ext cx="6967659" cy="131588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10359"/>
              </a:lnSpc>
              <a:spcBef>
                <a:spcPct val="0"/>
              </a:spcBef>
              <a:defRPr/>
            </a:pPr>
            <a:r>
              <a:rPr lang="en-US" sz="7399" b="1" dirty="0" err="1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프로젝트</a:t>
            </a:r>
            <a:r>
              <a:rPr lang="en-US" sz="7399" b="1" dirty="0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 </a:t>
            </a:r>
            <a:r>
              <a:rPr lang="en-US" sz="7399" b="1" dirty="0" err="1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개요</a:t>
            </a:r>
            <a:endParaRPr lang="en-US" sz="7399" b="1" dirty="0">
              <a:solidFill>
                <a:srgbClr val="000000"/>
              </a:solidFill>
              <a:latin typeface="맑은 고딕"/>
              <a:ea typeface="맑은 고딕"/>
              <a:cs typeface="TDTD한강고딕"/>
              <a:sym typeface="TDTD한강고딕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875196" y="3192092"/>
            <a:ext cx="14537608" cy="0"/>
          </a:xfrm>
          <a:prstGeom prst="line">
            <a:avLst/>
          </a:prstGeom>
          <a:ln w="9525" cap="flat">
            <a:solidFill>
              <a:srgbClr val="7F90D4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 b="1">
              <a:latin typeface="맑은 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543550" y="3526684"/>
            <a:ext cx="11601450" cy="17305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7296"/>
              </a:lnSpc>
              <a:defRPr/>
            </a:pPr>
            <a:r>
              <a:rPr lang="en-US" sz="3300" b="1" dirty="0" err="1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사람</a:t>
            </a:r>
            <a:r>
              <a:rPr lang="en-US" sz="3300" b="1" dirty="0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 </a:t>
            </a:r>
            <a:r>
              <a:rPr lang="en-US" sz="3300" b="1" dirty="0" err="1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얼굴을</a:t>
            </a:r>
            <a:r>
              <a:rPr lang="en-US" sz="3300" b="1" dirty="0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 </a:t>
            </a:r>
            <a:r>
              <a:rPr lang="en-US" sz="3300" b="1" dirty="0" err="1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인식하여</a:t>
            </a:r>
            <a:r>
              <a:rPr lang="en-US" sz="3300" b="1" dirty="0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 </a:t>
            </a:r>
            <a:r>
              <a:rPr lang="ko-KR" altLang="en-US" sz="3300" b="1" dirty="0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웹 영상 혹은 정적 이미지 상의 사람 수를 감지하고 이를 기반으로 혼잡도를 분석하는 시스템 </a:t>
            </a:r>
            <a:endParaRPr lang="en-US" sz="3300" b="1" dirty="0">
              <a:solidFill>
                <a:srgbClr val="000000"/>
              </a:solidFill>
              <a:latin typeface="맑은 고딕"/>
              <a:ea typeface="맑은 고딕"/>
              <a:cs typeface="윤고딕 Light"/>
              <a:sym typeface="윤고딕 Light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905000" y="3902371"/>
            <a:ext cx="3417703" cy="899973"/>
            <a:chOff x="0" y="0"/>
            <a:chExt cx="900136" cy="23703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00136" cy="237030"/>
            </a:xfrm>
            <a:custGeom>
              <a:avLst/>
              <a:gdLst/>
              <a:ahLst/>
              <a:cxnLst/>
              <a:rect l="l" t="t" r="r" b="b"/>
              <a:pathLst>
                <a:path w="900136" h="237030">
                  <a:moveTo>
                    <a:pt x="33979" y="0"/>
                  </a:moveTo>
                  <a:lnTo>
                    <a:pt x="866157" y="0"/>
                  </a:lnTo>
                  <a:cubicBezTo>
                    <a:pt x="884923" y="0"/>
                    <a:pt x="900136" y="15213"/>
                    <a:pt x="900136" y="33979"/>
                  </a:cubicBezTo>
                  <a:lnTo>
                    <a:pt x="900136" y="203051"/>
                  </a:lnTo>
                  <a:cubicBezTo>
                    <a:pt x="900136" y="221817"/>
                    <a:pt x="884923" y="237030"/>
                    <a:pt x="866157" y="237030"/>
                  </a:cubicBezTo>
                  <a:lnTo>
                    <a:pt x="33979" y="237030"/>
                  </a:lnTo>
                  <a:cubicBezTo>
                    <a:pt x="15213" y="237030"/>
                    <a:pt x="0" y="221817"/>
                    <a:pt x="0" y="203051"/>
                  </a:cubicBezTo>
                  <a:lnTo>
                    <a:pt x="0" y="33979"/>
                  </a:lnTo>
                  <a:cubicBezTo>
                    <a:pt x="0" y="15213"/>
                    <a:pt x="15213" y="0"/>
                    <a:pt x="33979" y="0"/>
                  </a:cubicBezTo>
                  <a:close/>
                </a:path>
              </a:pathLst>
            </a:custGeom>
            <a:solidFill>
              <a:srgbClr val="F0EAEB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00136" cy="275130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 b="1">
                <a:latin typeface="맑은 고딕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952352" y="3798095"/>
            <a:ext cx="3417703" cy="88934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777243" lvl="1" indent="-388622" algn="l">
              <a:lnSpc>
                <a:spcPts val="8208"/>
              </a:lnSpc>
              <a:buFont typeface="Arial"/>
              <a:buChar char="•"/>
              <a:defRPr/>
            </a:pPr>
            <a:r>
              <a:rPr lang="en-US" sz="3600" b="1" dirty="0" err="1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주제</a:t>
            </a:r>
            <a:endParaRPr lang="en-US" sz="3600" b="1" dirty="0">
              <a:solidFill>
                <a:srgbClr val="000000"/>
              </a:solidFill>
              <a:latin typeface="맑은 고딕"/>
              <a:ea typeface="맑은 고딕"/>
              <a:cs typeface="TDTD한강고딕"/>
              <a:sym typeface="TDTD한강고딕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916297" y="5404270"/>
            <a:ext cx="3417703" cy="899973"/>
            <a:chOff x="0" y="0"/>
            <a:chExt cx="900136" cy="23703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00136" cy="237030"/>
            </a:xfrm>
            <a:custGeom>
              <a:avLst/>
              <a:gdLst/>
              <a:ahLst/>
              <a:cxnLst/>
              <a:rect l="l" t="t" r="r" b="b"/>
              <a:pathLst>
                <a:path w="900136" h="237030">
                  <a:moveTo>
                    <a:pt x="33979" y="0"/>
                  </a:moveTo>
                  <a:lnTo>
                    <a:pt x="866157" y="0"/>
                  </a:lnTo>
                  <a:cubicBezTo>
                    <a:pt x="884923" y="0"/>
                    <a:pt x="900136" y="15213"/>
                    <a:pt x="900136" y="33979"/>
                  </a:cubicBezTo>
                  <a:lnTo>
                    <a:pt x="900136" y="203051"/>
                  </a:lnTo>
                  <a:cubicBezTo>
                    <a:pt x="900136" y="221817"/>
                    <a:pt x="884923" y="237030"/>
                    <a:pt x="866157" y="237030"/>
                  </a:cubicBezTo>
                  <a:lnTo>
                    <a:pt x="33979" y="237030"/>
                  </a:lnTo>
                  <a:cubicBezTo>
                    <a:pt x="15213" y="237030"/>
                    <a:pt x="0" y="221817"/>
                    <a:pt x="0" y="203051"/>
                  </a:cubicBezTo>
                  <a:lnTo>
                    <a:pt x="0" y="33979"/>
                  </a:lnTo>
                  <a:cubicBezTo>
                    <a:pt x="0" y="15213"/>
                    <a:pt x="15213" y="0"/>
                    <a:pt x="33979" y="0"/>
                  </a:cubicBezTo>
                  <a:close/>
                </a:path>
              </a:pathLst>
            </a:custGeom>
            <a:solidFill>
              <a:srgbClr val="F0EAEB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900136" cy="275130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 b="1">
                <a:latin typeface="맑은 고딕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952352" y="5243053"/>
            <a:ext cx="3417703" cy="103584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777243" lvl="1" indent="-388622" algn="l">
              <a:lnSpc>
                <a:spcPts val="8208"/>
              </a:lnSpc>
              <a:buFont typeface="Arial"/>
              <a:buChar char="•"/>
              <a:defRPr/>
            </a:pPr>
            <a:r>
              <a:rPr lang="en-US" sz="3600" b="1" dirty="0" err="1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연구</a:t>
            </a:r>
            <a:r>
              <a:rPr lang="en-US" sz="3600" b="1" dirty="0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 </a:t>
            </a:r>
            <a:r>
              <a:rPr lang="en-US" sz="3600" b="1" dirty="0" err="1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기간</a:t>
            </a:r>
            <a:endParaRPr lang="en-US" sz="3600" b="1" dirty="0">
              <a:solidFill>
                <a:srgbClr val="000000"/>
              </a:solidFill>
              <a:latin typeface="맑은 고딕"/>
              <a:ea typeface="맑은 고딕"/>
              <a:cs typeface="TDTD한강고딕"/>
              <a:sym typeface="TDTD한강고딕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916297" y="6819900"/>
            <a:ext cx="3417703" cy="899973"/>
            <a:chOff x="0" y="0"/>
            <a:chExt cx="900136" cy="23703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00136" cy="237030"/>
            </a:xfrm>
            <a:custGeom>
              <a:avLst/>
              <a:gdLst/>
              <a:ahLst/>
              <a:cxnLst/>
              <a:rect l="l" t="t" r="r" b="b"/>
              <a:pathLst>
                <a:path w="900136" h="237030">
                  <a:moveTo>
                    <a:pt x="33979" y="0"/>
                  </a:moveTo>
                  <a:lnTo>
                    <a:pt x="866157" y="0"/>
                  </a:lnTo>
                  <a:cubicBezTo>
                    <a:pt x="884923" y="0"/>
                    <a:pt x="900136" y="15213"/>
                    <a:pt x="900136" y="33979"/>
                  </a:cubicBezTo>
                  <a:lnTo>
                    <a:pt x="900136" y="203051"/>
                  </a:lnTo>
                  <a:cubicBezTo>
                    <a:pt x="900136" y="221817"/>
                    <a:pt x="884923" y="237030"/>
                    <a:pt x="866157" y="237030"/>
                  </a:cubicBezTo>
                  <a:lnTo>
                    <a:pt x="33979" y="237030"/>
                  </a:lnTo>
                  <a:cubicBezTo>
                    <a:pt x="15213" y="237030"/>
                    <a:pt x="0" y="221817"/>
                    <a:pt x="0" y="203051"/>
                  </a:cubicBezTo>
                  <a:lnTo>
                    <a:pt x="0" y="33979"/>
                  </a:lnTo>
                  <a:cubicBezTo>
                    <a:pt x="0" y="15213"/>
                    <a:pt x="15213" y="0"/>
                    <a:pt x="33979" y="0"/>
                  </a:cubicBezTo>
                  <a:close/>
                </a:path>
              </a:pathLst>
            </a:custGeom>
            <a:solidFill>
              <a:srgbClr val="F0EAEB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900136" cy="275130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 b="1">
                <a:latin typeface="맑은 고딕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510599" y="6682795"/>
            <a:ext cx="3426644" cy="103122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234443" lvl="2" indent="-388622" algn="l">
              <a:lnSpc>
                <a:spcPts val="8208"/>
              </a:lnSpc>
              <a:buFont typeface="Arial"/>
              <a:buChar char="•"/>
              <a:defRPr/>
            </a:pPr>
            <a:r>
              <a:rPr lang="en-US" sz="3600" b="1" dirty="0" err="1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목표</a:t>
            </a:r>
            <a:endParaRPr lang="en-US" sz="3600" b="1" dirty="0">
              <a:solidFill>
                <a:srgbClr val="000000"/>
              </a:solidFill>
              <a:latin typeface="맑은 고딕"/>
              <a:ea typeface="맑은 고딕"/>
              <a:cs typeface="TDTD한강고딕"/>
              <a:sym typeface="TDTD한강고딕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657657" y="5299013"/>
            <a:ext cx="7653949" cy="79162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7296"/>
              </a:lnSpc>
              <a:defRPr/>
            </a:pPr>
            <a:r>
              <a:rPr lang="en-US" sz="3200" b="1" dirty="0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2025.05.23 </a:t>
            </a:r>
            <a:r>
              <a:rPr lang="en-US" altLang="ko-KR" sz="3200" b="1" dirty="0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~</a:t>
            </a:r>
            <a:r>
              <a:rPr lang="en-US" sz="3200" b="1" dirty="0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 2025.06.19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71541" y="6675239"/>
            <a:ext cx="11734800" cy="17277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7296"/>
              </a:lnSpc>
              <a:defRPr/>
            </a:pPr>
            <a:r>
              <a:rPr lang="en-US" altLang="ko-KR" sz="3200" b="1" dirty="0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1.</a:t>
            </a:r>
            <a:r>
              <a:rPr lang="ko-KR" altLang="en-US" sz="3200" b="1" dirty="0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Jetson-Orin</a:t>
            </a:r>
            <a:r>
              <a:rPr lang="ko-KR" altLang="en-US" sz="3200" b="1" dirty="0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을 활용한</a:t>
            </a:r>
            <a:r>
              <a:rPr lang="en-US" sz="3200" b="1" dirty="0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얼굴</a:t>
            </a:r>
            <a:r>
              <a:rPr lang="en-US" sz="3200" b="1" dirty="0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인식</a:t>
            </a:r>
            <a:r>
              <a:rPr lang="en-US" sz="3200" b="1" dirty="0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시스템</a:t>
            </a:r>
            <a:r>
              <a:rPr lang="en-US" sz="3200" b="1" dirty="0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구축</a:t>
            </a:r>
            <a:endParaRPr lang="en-US" sz="3200" b="1" dirty="0">
              <a:solidFill>
                <a:srgbClr val="000000"/>
              </a:solidFill>
              <a:latin typeface="맑은 고딕"/>
              <a:ea typeface="맑은 고딕"/>
              <a:cs typeface="윤고딕 Light"/>
              <a:sym typeface="윤고딕 Light"/>
            </a:endParaRPr>
          </a:p>
          <a:p>
            <a:pPr>
              <a:lnSpc>
                <a:spcPts val="7296"/>
              </a:lnSpc>
              <a:defRPr/>
            </a:pPr>
            <a:r>
              <a:rPr lang="en-US" altLang="ko-KR" sz="3200" b="1" dirty="0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2.</a:t>
            </a:r>
            <a:r>
              <a:rPr lang="ko-KR" altLang="en-US" sz="3200" b="1" dirty="0">
                <a:solidFill>
                  <a:srgbClr val="000000"/>
                </a:solidFill>
                <a:latin typeface="맑은 고딕"/>
                <a:ea typeface="맑은 고딕"/>
                <a:cs typeface="윤고딕 Light"/>
                <a:sym typeface="윤고딕 Light"/>
              </a:rPr>
              <a:t> 인식 후 혼잡도를 판단하여 웹에서 </a:t>
            </a:r>
            <a:r>
              <a:rPr lang="ko-KR" altLang="en-US" sz="3200" b="1" dirty="0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원활</a:t>
            </a:r>
            <a:r>
              <a:rPr lang="en-US" altLang="ko-KR" sz="3200" b="1" dirty="0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, </a:t>
            </a:r>
            <a:r>
              <a:rPr lang="ko-KR" altLang="en-US" sz="3200" b="1" dirty="0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혼잡</a:t>
            </a:r>
            <a:r>
              <a:rPr lang="en-US" altLang="ko-KR" sz="3200" b="1" dirty="0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, </a:t>
            </a:r>
            <a:r>
              <a:rPr lang="ko-KR" altLang="en-US" sz="3200" b="1" dirty="0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포화 출력</a:t>
            </a:r>
            <a:endParaRPr lang="ko-KR" altLang="en-US" sz="3200" b="1" dirty="0">
              <a:solidFill>
                <a:srgbClr val="000000"/>
              </a:solidFill>
              <a:latin typeface="맑은 고딕"/>
              <a:cs typeface="TDTD한강고딕"/>
              <a:sym typeface="TDTD한강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90D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3AC52D-9A77-57F5-716B-617BF7136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F199D2-21B7-6B58-576C-928736CA26ED}"/>
              </a:ext>
            </a:extLst>
          </p:cNvPr>
          <p:cNvSpPr/>
          <p:nvPr/>
        </p:nvSpPr>
        <p:spPr>
          <a:xfrm>
            <a:off x="0" y="-11700"/>
            <a:ext cx="18288000" cy="10281645"/>
          </a:xfrm>
          <a:custGeom>
            <a:avLst/>
            <a:gdLst/>
            <a:ahLst/>
            <a:cxnLst/>
            <a:rect l="l" t="t" r="r" b="b"/>
            <a:pathLst>
              <a:path w="18288000" h="10281645">
                <a:moveTo>
                  <a:pt x="0" y="0"/>
                </a:moveTo>
                <a:lnTo>
                  <a:pt x="18288000" y="0"/>
                </a:lnTo>
                <a:lnTo>
                  <a:pt x="18288000" y="10281644"/>
                </a:lnTo>
                <a:lnTo>
                  <a:pt x="0" y="10281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000"/>
            </a:blip>
            <a:stretch>
              <a:fillRect/>
            </a:stretch>
          </a:blipFill>
        </p:spPr>
        <p:txBody>
          <a:bodyPr anchor="ctr"/>
          <a:lstStyle/>
          <a:p>
            <a:pPr lvl="0" algn="ctr">
              <a:defRPr/>
            </a:pPr>
            <a:endParaRPr lang="ko-KR" altLang="en-US" b="1">
              <a:latin typeface="맑은 고딕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75C6362-335C-13AE-F07E-AC23E16D9B8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76300" y="730372"/>
            <a:ext cx="16535400" cy="8826256"/>
            <a:chOff x="0" y="0"/>
            <a:chExt cx="4355002" cy="232461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E3E732F-0668-AAB9-F1BE-F205E37C63E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355002" cy="2324611"/>
            </a:xfrm>
            <a:custGeom>
              <a:avLst/>
              <a:gdLst/>
              <a:ahLst/>
              <a:cxnLst/>
              <a:rect l="l" t="t" r="r" b="b"/>
              <a:pathLst>
                <a:path w="4355002" h="2324611">
                  <a:moveTo>
                    <a:pt x="0" y="0"/>
                  </a:moveTo>
                  <a:lnTo>
                    <a:pt x="4355002" y="0"/>
                  </a:lnTo>
                  <a:lnTo>
                    <a:pt x="4355002" y="2324611"/>
                  </a:lnTo>
                  <a:lnTo>
                    <a:pt x="0" y="23246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57EC1F5-3C37-7F80-E7DE-F5FA43108C1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4355002" cy="236271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 b="1">
                <a:latin typeface="맑은 고딕"/>
              </a:endParaRPr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33A9BCD1-D1A5-292A-BCA0-06FBD099EF2F}"/>
              </a:ext>
            </a:extLst>
          </p:cNvPr>
          <p:cNvSpPr txBox="1"/>
          <p:nvPr/>
        </p:nvSpPr>
        <p:spPr>
          <a:xfrm>
            <a:off x="5385505" y="4305300"/>
            <a:ext cx="2525890" cy="120719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10359"/>
              </a:lnSpc>
              <a:spcBef>
                <a:spcPct val="0"/>
              </a:spcBef>
              <a:defRPr/>
            </a:pPr>
            <a:r>
              <a:rPr lang="en-US" sz="7399" b="1" dirty="0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02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CF43ECA-61EE-467E-3465-1B9886B76787}"/>
              </a:ext>
            </a:extLst>
          </p:cNvPr>
          <p:cNvSpPr txBox="1"/>
          <p:nvPr/>
        </p:nvSpPr>
        <p:spPr>
          <a:xfrm>
            <a:off x="6781800" y="4305300"/>
            <a:ext cx="6967659" cy="120719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10359"/>
              </a:lnSpc>
              <a:spcBef>
                <a:spcPct val="0"/>
              </a:spcBef>
              <a:defRPr/>
            </a:pPr>
            <a:r>
              <a:rPr lang="en-US" sz="7399" b="1" dirty="0" err="1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프로젝트</a:t>
            </a:r>
            <a:r>
              <a:rPr lang="en-US" sz="7399" b="1" dirty="0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 </a:t>
            </a:r>
            <a:r>
              <a:rPr lang="ko-KR" altLang="en-US" sz="7399" b="1" dirty="0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동기</a:t>
            </a:r>
            <a:endParaRPr lang="en-US" sz="7399" b="1" dirty="0">
              <a:solidFill>
                <a:srgbClr val="000000"/>
              </a:solidFill>
              <a:latin typeface="맑은 고딕"/>
              <a:ea typeface="맑은 고딕"/>
              <a:cs typeface="TDTD한강고딕"/>
              <a:sym typeface="TDTD한강고딕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7919158-26AD-E8E1-8FBE-993E05137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546" y="2476500"/>
            <a:ext cx="8458200" cy="6335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EE8C93F-F7C3-0112-B3B7-31D42D0D4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204" y="1165825"/>
            <a:ext cx="4000500" cy="632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114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90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700"/>
            <a:ext cx="18288000" cy="10281645"/>
          </a:xfrm>
          <a:custGeom>
            <a:avLst/>
            <a:gdLst/>
            <a:ahLst/>
            <a:cxnLst/>
            <a:rect l="l" t="t" r="r" b="b"/>
            <a:pathLst>
              <a:path w="18288000" h="10281645">
                <a:moveTo>
                  <a:pt x="0" y="0"/>
                </a:moveTo>
                <a:lnTo>
                  <a:pt x="18288000" y="0"/>
                </a:lnTo>
                <a:lnTo>
                  <a:pt x="18288000" y="10281644"/>
                </a:lnTo>
                <a:lnTo>
                  <a:pt x="0" y="10281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000"/>
            </a:blip>
            <a:stretch>
              <a:fillRect/>
            </a:stretch>
          </a:blipFill>
        </p:spPr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876300" y="730372"/>
            <a:ext cx="16535400" cy="8826256"/>
            <a:chOff x="0" y="0"/>
            <a:chExt cx="4355002" cy="23246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55002" cy="2324611"/>
            </a:xfrm>
            <a:custGeom>
              <a:avLst/>
              <a:gdLst/>
              <a:ahLst/>
              <a:cxnLst/>
              <a:rect l="l" t="t" r="r" b="b"/>
              <a:pathLst>
                <a:path w="4355002" h="2324611">
                  <a:moveTo>
                    <a:pt x="0" y="0"/>
                  </a:moveTo>
                  <a:lnTo>
                    <a:pt x="4355002" y="0"/>
                  </a:lnTo>
                  <a:lnTo>
                    <a:pt x="4355002" y="2324611"/>
                  </a:lnTo>
                  <a:lnTo>
                    <a:pt x="0" y="23246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55002" cy="236271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>
                <a:latin typeface="맑은 고딕"/>
              </a:endParaRPr>
            </a:p>
          </p:txBody>
        </p:sp>
      </p:grpSp>
      <p:sp>
        <p:nvSpPr>
          <p:cNvPr id="6" name="AutoShape 6"/>
          <p:cNvSpPr/>
          <p:nvPr/>
        </p:nvSpPr>
        <p:spPr>
          <a:xfrm>
            <a:off x="1875196" y="3192092"/>
            <a:ext cx="14537608" cy="0"/>
          </a:xfrm>
          <a:prstGeom prst="line">
            <a:avLst/>
          </a:prstGeom>
          <a:ln w="9525" cap="flat">
            <a:solidFill>
              <a:srgbClr val="7F90D4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grpSp>
        <p:nvGrpSpPr>
          <p:cNvPr id="7" name="Group 7"/>
          <p:cNvGrpSpPr/>
          <p:nvPr/>
        </p:nvGrpSpPr>
        <p:grpSpPr>
          <a:xfrm rot="5400000">
            <a:off x="5313809" y="5281590"/>
            <a:ext cx="418974" cy="294474"/>
            <a:chOff x="0" y="0"/>
            <a:chExt cx="812800" cy="5712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571273"/>
            </a:xfrm>
            <a:custGeom>
              <a:avLst/>
              <a:gdLst/>
              <a:ahLst/>
              <a:cxnLst/>
              <a:rect l="l" t="t" r="r" b="b"/>
              <a:pathLst>
                <a:path w="812800" h="571273">
                  <a:moveTo>
                    <a:pt x="406400" y="0"/>
                  </a:moveTo>
                  <a:lnTo>
                    <a:pt x="812800" y="571273"/>
                  </a:lnTo>
                  <a:lnTo>
                    <a:pt x="0" y="57127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F90D4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7000" y="227134"/>
              <a:ext cx="558800" cy="303334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>
                <a:latin typeface="맑은 고딕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5400000">
            <a:off x="8921976" y="5281590"/>
            <a:ext cx="418974" cy="294474"/>
            <a:chOff x="0" y="0"/>
            <a:chExt cx="812800" cy="57127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571273"/>
            </a:xfrm>
            <a:custGeom>
              <a:avLst/>
              <a:gdLst/>
              <a:ahLst/>
              <a:cxnLst/>
              <a:rect l="l" t="t" r="r" b="b"/>
              <a:pathLst>
                <a:path w="812800" h="571273">
                  <a:moveTo>
                    <a:pt x="406400" y="0"/>
                  </a:moveTo>
                  <a:lnTo>
                    <a:pt x="812800" y="571273"/>
                  </a:lnTo>
                  <a:lnTo>
                    <a:pt x="0" y="57127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F90D4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000" y="227134"/>
              <a:ext cx="558800" cy="303334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>
                <a:latin typeface="맑은 고딕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5400000">
            <a:off x="12583792" y="5281590"/>
            <a:ext cx="418974" cy="294474"/>
            <a:chOff x="0" y="0"/>
            <a:chExt cx="812800" cy="57127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571273"/>
            </a:xfrm>
            <a:custGeom>
              <a:avLst/>
              <a:gdLst/>
              <a:ahLst/>
              <a:cxnLst/>
              <a:rect l="l" t="t" r="r" b="b"/>
              <a:pathLst>
                <a:path w="812800" h="571273">
                  <a:moveTo>
                    <a:pt x="406400" y="0"/>
                  </a:moveTo>
                  <a:lnTo>
                    <a:pt x="812800" y="571273"/>
                  </a:lnTo>
                  <a:lnTo>
                    <a:pt x="0" y="57127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F90D4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7000" y="227134"/>
              <a:ext cx="558800" cy="303334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>
                <a:latin typeface="맑은 고딕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014804" y="1694012"/>
            <a:ext cx="2525890" cy="120719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10359"/>
              </a:lnSpc>
              <a:spcBef>
                <a:spcPct val="0"/>
              </a:spcBef>
              <a:defRPr/>
            </a:pPr>
            <a:r>
              <a:rPr lang="en-US" sz="7399" b="1" dirty="0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11099" y="1694012"/>
            <a:ext cx="8091608" cy="120719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10359"/>
              </a:lnSpc>
              <a:spcBef>
                <a:spcPct val="0"/>
              </a:spcBef>
              <a:defRPr/>
            </a:pPr>
            <a:r>
              <a:rPr lang="en-US" sz="7399" b="1" dirty="0" err="1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프로젝트</a:t>
            </a:r>
            <a:r>
              <a:rPr lang="en-US" sz="7399" b="1" dirty="0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 </a:t>
            </a:r>
            <a:r>
              <a:rPr lang="en-US" sz="7399" b="1" dirty="0" err="1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진행과정</a:t>
            </a:r>
            <a:endParaRPr lang="en-US" sz="7399" b="1" dirty="0">
              <a:solidFill>
                <a:srgbClr val="000000"/>
              </a:solidFill>
              <a:latin typeface="맑은 고딕"/>
              <a:ea typeface="맑은 고딕"/>
              <a:cs typeface="TDTD한강고딕"/>
              <a:sym typeface="TDTD한강고딕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387218" y="7219023"/>
            <a:ext cx="2690755" cy="35907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2816"/>
              </a:lnSpc>
              <a:defRPr/>
            </a:pPr>
            <a:r>
              <a:rPr lang="en-US" altLang="ko-KR" sz="2400" b="1" dirty="0">
                <a:solidFill>
                  <a:srgbClr val="000000"/>
                </a:solidFill>
                <a:latin typeface="+mn-ea"/>
                <a:cs typeface="윤고딕"/>
                <a:sym typeface="윤고딕"/>
              </a:rPr>
              <a:t>5</a:t>
            </a:r>
            <a:r>
              <a:rPr lang="ko-KR" altLang="en-US" sz="2400" b="1" dirty="0">
                <a:solidFill>
                  <a:srgbClr val="000000"/>
                </a:solidFill>
                <a:latin typeface="+mn-ea"/>
                <a:cs typeface="윤고딕"/>
                <a:sym typeface="윤고딕"/>
              </a:rPr>
              <a:t>월 </a:t>
            </a:r>
            <a:r>
              <a:rPr lang="en-US" altLang="ko-KR" sz="2400" b="1" dirty="0">
                <a:solidFill>
                  <a:srgbClr val="000000"/>
                </a:solidFill>
                <a:latin typeface="+mn-ea"/>
                <a:cs typeface="윤고딕"/>
                <a:sym typeface="윤고딕"/>
              </a:rPr>
              <a:t>4</a:t>
            </a:r>
            <a:r>
              <a:rPr lang="ko-KR" altLang="en-US" sz="2400" b="1" dirty="0">
                <a:solidFill>
                  <a:srgbClr val="000000"/>
                </a:solidFill>
                <a:latin typeface="+mn-ea"/>
                <a:cs typeface="윤고딕"/>
                <a:sym typeface="윤고딕"/>
              </a:rPr>
              <a:t>주차</a:t>
            </a:r>
            <a:endParaRPr lang="en-US" sz="2400" b="1" dirty="0">
              <a:solidFill>
                <a:srgbClr val="000000"/>
              </a:solidFill>
              <a:latin typeface="+mn-ea"/>
              <a:cs typeface="윤고딕"/>
              <a:sym typeface="윤고딕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968618" y="7219023"/>
            <a:ext cx="2690755" cy="35907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2816"/>
              </a:lnSpc>
              <a:defRPr/>
            </a:pPr>
            <a:r>
              <a:rPr lang="en-US" altLang="ko-KR" sz="2400" b="1" dirty="0">
                <a:solidFill>
                  <a:srgbClr val="000000"/>
                </a:solidFill>
                <a:latin typeface="+mn-ea"/>
                <a:cs typeface="윤고딕"/>
                <a:sym typeface="윤고딕"/>
              </a:rPr>
              <a:t>6</a:t>
            </a:r>
            <a:r>
              <a:rPr lang="ko-KR" altLang="en-US" sz="2400" b="1" dirty="0">
                <a:solidFill>
                  <a:srgbClr val="000000"/>
                </a:solidFill>
                <a:latin typeface="+mn-ea"/>
                <a:cs typeface="윤고딕"/>
                <a:sym typeface="윤고딕"/>
              </a:rPr>
              <a:t>월 </a:t>
            </a:r>
            <a:r>
              <a:rPr lang="en-US" altLang="ko-KR" sz="2400" b="1" dirty="0">
                <a:solidFill>
                  <a:srgbClr val="000000"/>
                </a:solidFill>
                <a:latin typeface="+mn-ea"/>
                <a:cs typeface="윤고딕"/>
                <a:sym typeface="윤고딕"/>
              </a:rPr>
              <a:t>1</a:t>
            </a:r>
            <a:r>
              <a:rPr lang="ko-KR" altLang="en-US" sz="2400" b="1" dirty="0">
                <a:solidFill>
                  <a:srgbClr val="000000"/>
                </a:solidFill>
                <a:latin typeface="+mn-ea"/>
                <a:cs typeface="윤고딕"/>
                <a:sym typeface="윤고딕"/>
              </a:rPr>
              <a:t>주차</a:t>
            </a:r>
            <a:endParaRPr lang="en-US" sz="2400" b="1" dirty="0">
              <a:solidFill>
                <a:srgbClr val="000000"/>
              </a:solidFill>
              <a:latin typeface="+mn-ea"/>
              <a:cs typeface="윤고딕"/>
              <a:sym typeface="윤고딕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548246" y="7219023"/>
            <a:ext cx="2690755" cy="35907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2816"/>
              </a:lnSpc>
              <a:defRPr/>
            </a:pPr>
            <a:r>
              <a:rPr lang="en-US" altLang="ko-KR" sz="2400" b="1" dirty="0">
                <a:solidFill>
                  <a:srgbClr val="000000"/>
                </a:solidFill>
                <a:latin typeface="+mn-ea"/>
                <a:cs typeface="윤고딕"/>
                <a:sym typeface="윤고딕"/>
              </a:rPr>
              <a:t>6</a:t>
            </a:r>
            <a:r>
              <a:rPr lang="ko-KR" altLang="en-US" sz="2400" b="1" dirty="0">
                <a:solidFill>
                  <a:srgbClr val="000000"/>
                </a:solidFill>
                <a:latin typeface="+mn-ea"/>
                <a:cs typeface="윤고딕"/>
                <a:sym typeface="윤고딕"/>
              </a:rPr>
              <a:t>월 </a:t>
            </a:r>
            <a:r>
              <a:rPr lang="en-US" altLang="ko-KR" sz="2400" b="1" dirty="0">
                <a:solidFill>
                  <a:srgbClr val="000000"/>
                </a:solidFill>
                <a:latin typeface="+mn-ea"/>
                <a:cs typeface="윤고딕"/>
                <a:sym typeface="윤고딕"/>
              </a:rPr>
              <a:t>2</a:t>
            </a:r>
            <a:r>
              <a:rPr lang="ko-KR" altLang="en-US" sz="2400" b="1" dirty="0">
                <a:solidFill>
                  <a:srgbClr val="000000"/>
                </a:solidFill>
                <a:latin typeface="+mn-ea"/>
                <a:cs typeface="윤고딕"/>
                <a:sym typeface="윤고딕"/>
              </a:rPr>
              <a:t>주차</a:t>
            </a:r>
            <a:endParaRPr lang="en-US" sz="2400" b="1" dirty="0">
              <a:solidFill>
                <a:srgbClr val="000000"/>
              </a:solidFill>
              <a:latin typeface="+mn-ea"/>
              <a:cs typeface="윤고딕"/>
              <a:sym typeface="윤고딕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127874" y="7219023"/>
            <a:ext cx="2690755" cy="35907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2816"/>
              </a:lnSpc>
              <a:defRPr/>
            </a:pPr>
            <a:r>
              <a:rPr lang="en-US" altLang="ko-KR" sz="2400" b="1" dirty="0">
                <a:solidFill>
                  <a:srgbClr val="000000"/>
                </a:solidFill>
                <a:latin typeface="+mn-ea"/>
                <a:cs typeface="윤고딕"/>
                <a:sym typeface="윤고딕"/>
              </a:rPr>
              <a:t>6</a:t>
            </a:r>
            <a:r>
              <a:rPr lang="ko-KR" altLang="en-US" sz="2400" b="1" dirty="0">
                <a:solidFill>
                  <a:srgbClr val="000000"/>
                </a:solidFill>
                <a:latin typeface="+mn-ea"/>
                <a:cs typeface="윤고딕"/>
                <a:sym typeface="윤고딕"/>
              </a:rPr>
              <a:t>월 </a:t>
            </a:r>
            <a:r>
              <a:rPr lang="en-US" altLang="ko-KR" sz="2400" b="1" dirty="0">
                <a:solidFill>
                  <a:srgbClr val="000000"/>
                </a:solidFill>
                <a:latin typeface="+mn-ea"/>
                <a:cs typeface="윤고딕"/>
                <a:sym typeface="윤고딕"/>
              </a:rPr>
              <a:t>3</a:t>
            </a:r>
            <a:r>
              <a:rPr lang="ko-KR" altLang="en-US" sz="2400" b="1" dirty="0">
                <a:solidFill>
                  <a:srgbClr val="000000"/>
                </a:solidFill>
                <a:latin typeface="+mn-ea"/>
                <a:cs typeface="윤고딕"/>
                <a:sym typeface="윤고딕"/>
              </a:rPr>
              <a:t>주차</a:t>
            </a:r>
            <a:endParaRPr lang="en-US" sz="2400" b="1" dirty="0">
              <a:solidFill>
                <a:srgbClr val="000000"/>
              </a:solidFill>
              <a:latin typeface="+mn-ea"/>
              <a:cs typeface="윤고딕"/>
              <a:sym typeface="윤고딕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2189691" y="3924381"/>
            <a:ext cx="3008893" cy="3008893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EAEB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>
                <a:latin typeface="맑은 고딕"/>
              </a:endParaR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386343" y="5067300"/>
            <a:ext cx="2665738" cy="155296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4059"/>
              </a:lnSpc>
              <a:defRPr/>
            </a:pPr>
            <a:r>
              <a:rPr lang="en-US" altLang="ko-KR" sz="2400" b="1" dirty="0">
                <a:solidFill>
                  <a:srgbClr val="000000"/>
                </a:solidFill>
                <a:latin typeface="+mn-ea"/>
                <a:cs typeface="TDTD한강고딕"/>
                <a:sym typeface="TDTD한강고딕"/>
              </a:rPr>
              <a:t>Jetson </a:t>
            </a:r>
            <a:r>
              <a:rPr lang="ko-KR" altLang="en-US" sz="2400" b="1" dirty="0">
                <a:solidFill>
                  <a:srgbClr val="000000"/>
                </a:solidFill>
                <a:latin typeface="+mn-ea"/>
                <a:cs typeface="TDTD한강고딕"/>
                <a:sym typeface="TDTD한강고딕"/>
              </a:rPr>
              <a:t>설정 및 얼굴 인식 모델 검토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536503" y="4471184"/>
            <a:ext cx="2315270" cy="3770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016"/>
              </a:lnSpc>
              <a:defRPr/>
            </a:pPr>
            <a:r>
              <a:rPr lang="en-US" sz="2600">
                <a:solidFill>
                  <a:srgbClr val="54545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STEP 01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822933" y="3924381"/>
            <a:ext cx="3008893" cy="3008893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EAEB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>
                <a:latin typeface="맑은 고딕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994510" y="5030417"/>
            <a:ext cx="2665738" cy="98725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4059"/>
              </a:lnSpc>
              <a:defRPr/>
            </a:pPr>
            <a:r>
              <a:rPr lang="en-US" altLang="ko-KR" sz="2400" b="1" dirty="0">
                <a:solidFill>
                  <a:srgbClr val="000000"/>
                </a:solidFill>
                <a:latin typeface="맑은 고딕"/>
                <a:cs typeface="TDTD한강고딕"/>
                <a:sym typeface="TDTD한강고딕"/>
              </a:rPr>
              <a:t>Jetson-Orin </a:t>
            </a:r>
            <a:r>
              <a:rPr lang="ko-KR" altLang="en-US" sz="2400" b="1" dirty="0">
                <a:solidFill>
                  <a:srgbClr val="000000"/>
                </a:solidFill>
                <a:latin typeface="맑은 고딕"/>
                <a:cs typeface="TDTD한강고딕"/>
                <a:sym typeface="TDTD한강고딕"/>
              </a:rPr>
              <a:t>서버 데이터 학습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169744" y="4471184"/>
            <a:ext cx="2315270" cy="3770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016"/>
              </a:lnSpc>
              <a:defRPr/>
            </a:pPr>
            <a:r>
              <a:rPr lang="en-US" sz="2600" dirty="0">
                <a:solidFill>
                  <a:srgbClr val="54545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STEP 02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456174" y="3924381"/>
            <a:ext cx="3008893" cy="3008893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EAEB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>
                <a:latin typeface="맑은 고딕"/>
              </a:endParaRP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9300122" y="4914900"/>
            <a:ext cx="3324498" cy="203882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059"/>
              </a:lnSpc>
              <a:defRPr/>
            </a:pPr>
            <a:r>
              <a:rPr lang="ko-KR" altLang="en-US" sz="2400" b="1" dirty="0">
                <a:solidFill>
                  <a:srgbClr val="000000"/>
                </a:solidFill>
                <a:latin typeface="맑은 고딕"/>
                <a:cs typeface="TDTD한강고딕"/>
                <a:sym typeface="TDTD한강고딕"/>
              </a:rPr>
              <a:t>얼굴 인식 계산 및 혼잡도 판단</a:t>
            </a:r>
            <a:r>
              <a:rPr lang="en-US" altLang="ko-KR" sz="2400" b="1" dirty="0">
                <a:solidFill>
                  <a:srgbClr val="000000"/>
                </a:solidFill>
                <a:latin typeface="맑은 고딕"/>
                <a:cs typeface="TDTD한강고딕"/>
                <a:sym typeface="TDTD한강고딕"/>
              </a:rPr>
              <a:t>,</a:t>
            </a:r>
          </a:p>
          <a:p>
            <a:pPr algn="ctr">
              <a:lnSpc>
                <a:spcPts val="4059"/>
              </a:lnSpc>
              <a:defRPr/>
            </a:pPr>
            <a:r>
              <a:rPr lang="ko-KR" altLang="en-US" sz="2400" b="1" dirty="0">
                <a:solidFill>
                  <a:srgbClr val="000000"/>
                </a:solidFill>
                <a:latin typeface="맑은 고딕"/>
                <a:cs typeface="TDTD한강고딕"/>
                <a:sym typeface="TDTD한강고딕"/>
              </a:rPr>
              <a:t>알고리즘 구현</a:t>
            </a:r>
          </a:p>
          <a:p>
            <a:pPr lvl="0" algn="ctr">
              <a:lnSpc>
                <a:spcPts val="4059"/>
              </a:lnSpc>
              <a:defRPr/>
            </a:pPr>
            <a:endParaRPr lang="ko-KR" altLang="en-US" sz="2400" b="1" dirty="0">
              <a:solidFill>
                <a:srgbClr val="000000"/>
              </a:solidFill>
              <a:latin typeface="+mn-ea"/>
              <a:cs typeface="TDTD한강고딕"/>
              <a:sym typeface="TDTD한강고딕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9802986" y="4471184"/>
            <a:ext cx="2315270" cy="3770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016"/>
              </a:lnSpc>
              <a:defRPr/>
            </a:pPr>
            <a:r>
              <a:rPr lang="en-US" sz="2600" dirty="0">
                <a:solidFill>
                  <a:srgbClr val="54545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STEP 03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3089416" y="3924381"/>
            <a:ext cx="3008893" cy="3008893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EAEB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>
                <a:latin typeface="맑은 고딕"/>
              </a:endParaRP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3260993" y="4952007"/>
            <a:ext cx="2665738" cy="98725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4059"/>
              </a:lnSpc>
              <a:defRPr/>
            </a:pPr>
            <a:r>
              <a:rPr lang="ko-KR" altLang="en-US" sz="2400" b="1" dirty="0">
                <a:solidFill>
                  <a:srgbClr val="000000"/>
                </a:solidFill>
                <a:latin typeface="+mn-ea"/>
                <a:cs typeface="TDTD한강고딕"/>
                <a:sym typeface="TDTD한강고딕"/>
              </a:rPr>
              <a:t>최종 프로그램 검토 및 </a:t>
            </a:r>
            <a:r>
              <a:rPr lang="en-US" sz="2400" b="1" dirty="0">
                <a:solidFill>
                  <a:srgbClr val="000000"/>
                </a:solidFill>
                <a:latin typeface="+mn-ea"/>
                <a:cs typeface="TDTD한강고딕"/>
                <a:sym typeface="TDTD한강고딕"/>
              </a:rPr>
              <a:t>결</a:t>
            </a:r>
            <a:r>
              <a:rPr lang="ko-KR" altLang="en-US" sz="2400" b="1" dirty="0">
                <a:solidFill>
                  <a:srgbClr val="000000"/>
                </a:solidFill>
                <a:latin typeface="+mn-ea"/>
                <a:cs typeface="TDTD한강고딕"/>
                <a:sym typeface="TDTD한강고딕"/>
              </a:rPr>
              <a:t>과 발표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525380" y="4471184"/>
            <a:ext cx="2315270" cy="3770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016"/>
              </a:lnSpc>
              <a:defRPr/>
            </a:pPr>
            <a:r>
              <a:rPr lang="en-US" sz="2600" dirty="0">
                <a:solidFill>
                  <a:srgbClr val="54545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STEP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90D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6591A1-F143-8AE4-F838-46EA269DA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84B3E7D-C09E-610F-F5FA-03A1250F4261}"/>
              </a:ext>
            </a:extLst>
          </p:cNvPr>
          <p:cNvSpPr/>
          <p:nvPr/>
        </p:nvSpPr>
        <p:spPr>
          <a:xfrm>
            <a:off x="0" y="-11700"/>
            <a:ext cx="18288000" cy="10281645"/>
          </a:xfrm>
          <a:custGeom>
            <a:avLst/>
            <a:gdLst/>
            <a:ahLst/>
            <a:cxnLst/>
            <a:rect l="l" t="t" r="r" b="b"/>
            <a:pathLst>
              <a:path w="18288000" h="10281645">
                <a:moveTo>
                  <a:pt x="0" y="0"/>
                </a:moveTo>
                <a:lnTo>
                  <a:pt x="18288000" y="0"/>
                </a:lnTo>
                <a:lnTo>
                  <a:pt x="18288000" y="10281644"/>
                </a:lnTo>
                <a:lnTo>
                  <a:pt x="0" y="10281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000"/>
            </a:blip>
            <a:stretch>
              <a:fillRect/>
            </a:stretch>
          </a:blipFill>
        </p:spPr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030DD40-B451-FD6C-9DED-CD5DCF91A584}"/>
              </a:ext>
            </a:extLst>
          </p:cNvPr>
          <p:cNvGrpSpPr/>
          <p:nvPr/>
        </p:nvGrpSpPr>
        <p:grpSpPr>
          <a:xfrm>
            <a:off x="876300" y="730372"/>
            <a:ext cx="16535400" cy="8826256"/>
            <a:chOff x="0" y="0"/>
            <a:chExt cx="4355002" cy="232461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2792DD2-0356-8357-E5D5-13329B90F4AC}"/>
                </a:ext>
              </a:extLst>
            </p:cNvPr>
            <p:cNvSpPr/>
            <p:nvPr/>
          </p:nvSpPr>
          <p:spPr>
            <a:xfrm>
              <a:off x="0" y="0"/>
              <a:ext cx="4355002" cy="2324611"/>
            </a:xfrm>
            <a:custGeom>
              <a:avLst/>
              <a:gdLst/>
              <a:ahLst/>
              <a:cxnLst/>
              <a:rect l="l" t="t" r="r" b="b"/>
              <a:pathLst>
                <a:path w="4355002" h="2324611">
                  <a:moveTo>
                    <a:pt x="0" y="0"/>
                  </a:moveTo>
                  <a:lnTo>
                    <a:pt x="4355002" y="0"/>
                  </a:lnTo>
                  <a:lnTo>
                    <a:pt x="4355002" y="2324611"/>
                  </a:lnTo>
                  <a:lnTo>
                    <a:pt x="0" y="23246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62C534B-5855-7948-2895-78A96559FF22}"/>
                </a:ext>
              </a:extLst>
            </p:cNvPr>
            <p:cNvSpPr txBox="1"/>
            <p:nvPr/>
          </p:nvSpPr>
          <p:spPr>
            <a:xfrm>
              <a:off x="0" y="-38100"/>
              <a:ext cx="4355002" cy="236271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>
                <a:latin typeface="맑은 고딕"/>
              </a:endParaRPr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6D004649-9D39-2DC1-1167-ED5C36BFBE69}"/>
              </a:ext>
            </a:extLst>
          </p:cNvPr>
          <p:cNvSpPr/>
          <p:nvPr/>
        </p:nvSpPr>
        <p:spPr>
          <a:xfrm>
            <a:off x="1875196" y="3192092"/>
            <a:ext cx="14537608" cy="0"/>
          </a:xfrm>
          <a:prstGeom prst="line">
            <a:avLst/>
          </a:prstGeom>
          <a:ln w="9525" cap="flat">
            <a:solidFill>
              <a:srgbClr val="7F90D4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D54537AA-57FE-3673-DBFD-47BE9B57C875}"/>
              </a:ext>
            </a:extLst>
          </p:cNvPr>
          <p:cNvGrpSpPr/>
          <p:nvPr/>
        </p:nvGrpSpPr>
        <p:grpSpPr>
          <a:xfrm rot="5400000">
            <a:off x="5313809" y="5281590"/>
            <a:ext cx="418974" cy="294474"/>
            <a:chOff x="0" y="0"/>
            <a:chExt cx="812800" cy="57127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F8DC4C1-F968-2B2E-458B-25E051C80AD9}"/>
                </a:ext>
              </a:extLst>
            </p:cNvPr>
            <p:cNvSpPr/>
            <p:nvPr/>
          </p:nvSpPr>
          <p:spPr>
            <a:xfrm>
              <a:off x="0" y="0"/>
              <a:ext cx="812800" cy="571273"/>
            </a:xfrm>
            <a:custGeom>
              <a:avLst/>
              <a:gdLst/>
              <a:ahLst/>
              <a:cxnLst/>
              <a:rect l="l" t="t" r="r" b="b"/>
              <a:pathLst>
                <a:path w="812800" h="571273">
                  <a:moveTo>
                    <a:pt x="406400" y="0"/>
                  </a:moveTo>
                  <a:lnTo>
                    <a:pt x="812800" y="571273"/>
                  </a:lnTo>
                  <a:lnTo>
                    <a:pt x="0" y="57127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F90D4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0B358FD8-A490-6749-12E3-EC575FBDD3AE}"/>
                </a:ext>
              </a:extLst>
            </p:cNvPr>
            <p:cNvSpPr txBox="1"/>
            <p:nvPr/>
          </p:nvSpPr>
          <p:spPr>
            <a:xfrm>
              <a:off x="127000" y="227134"/>
              <a:ext cx="558800" cy="303334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>
                <a:latin typeface="맑은 고딕"/>
              </a:endParaRP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83FB757-7A2C-93D1-ADDE-BBDAB992ADBE}"/>
              </a:ext>
            </a:extLst>
          </p:cNvPr>
          <p:cNvGrpSpPr/>
          <p:nvPr/>
        </p:nvGrpSpPr>
        <p:grpSpPr>
          <a:xfrm rot="5400000">
            <a:off x="8921976" y="5281590"/>
            <a:ext cx="418974" cy="294474"/>
            <a:chOff x="0" y="0"/>
            <a:chExt cx="812800" cy="57127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BD6FC39-C468-991C-D92D-E445C668099F}"/>
                </a:ext>
              </a:extLst>
            </p:cNvPr>
            <p:cNvSpPr/>
            <p:nvPr/>
          </p:nvSpPr>
          <p:spPr>
            <a:xfrm>
              <a:off x="0" y="0"/>
              <a:ext cx="812800" cy="571273"/>
            </a:xfrm>
            <a:custGeom>
              <a:avLst/>
              <a:gdLst/>
              <a:ahLst/>
              <a:cxnLst/>
              <a:rect l="l" t="t" r="r" b="b"/>
              <a:pathLst>
                <a:path w="812800" h="571273">
                  <a:moveTo>
                    <a:pt x="406400" y="0"/>
                  </a:moveTo>
                  <a:lnTo>
                    <a:pt x="812800" y="571273"/>
                  </a:lnTo>
                  <a:lnTo>
                    <a:pt x="0" y="57127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F90D4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E727D5BE-1BF2-B7A5-0D0E-7B8074AEDDED}"/>
                </a:ext>
              </a:extLst>
            </p:cNvPr>
            <p:cNvSpPr txBox="1"/>
            <p:nvPr/>
          </p:nvSpPr>
          <p:spPr>
            <a:xfrm>
              <a:off x="127000" y="227134"/>
              <a:ext cx="558800" cy="303334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>
                <a:latin typeface="맑은 고딕"/>
              </a:endParaRP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2A1378C4-92A7-5D8C-CA90-8A0DD01800BA}"/>
              </a:ext>
            </a:extLst>
          </p:cNvPr>
          <p:cNvGrpSpPr/>
          <p:nvPr/>
        </p:nvGrpSpPr>
        <p:grpSpPr>
          <a:xfrm rot="5400000">
            <a:off x="12583792" y="5281590"/>
            <a:ext cx="418974" cy="294474"/>
            <a:chOff x="0" y="0"/>
            <a:chExt cx="812800" cy="57127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FA289BB6-47D6-6DB2-0EEC-5292F8A11177}"/>
                </a:ext>
              </a:extLst>
            </p:cNvPr>
            <p:cNvSpPr/>
            <p:nvPr/>
          </p:nvSpPr>
          <p:spPr>
            <a:xfrm>
              <a:off x="0" y="0"/>
              <a:ext cx="812800" cy="571273"/>
            </a:xfrm>
            <a:custGeom>
              <a:avLst/>
              <a:gdLst/>
              <a:ahLst/>
              <a:cxnLst/>
              <a:rect l="l" t="t" r="r" b="b"/>
              <a:pathLst>
                <a:path w="812800" h="571273">
                  <a:moveTo>
                    <a:pt x="406400" y="0"/>
                  </a:moveTo>
                  <a:lnTo>
                    <a:pt x="812800" y="571273"/>
                  </a:lnTo>
                  <a:lnTo>
                    <a:pt x="0" y="57127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F90D4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6E50FE0A-A023-0E2C-2494-400DCA91AAAF}"/>
                </a:ext>
              </a:extLst>
            </p:cNvPr>
            <p:cNvSpPr txBox="1"/>
            <p:nvPr/>
          </p:nvSpPr>
          <p:spPr>
            <a:xfrm>
              <a:off x="127000" y="227134"/>
              <a:ext cx="558800" cy="303334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>
                <a:latin typeface="맑은 고딕"/>
              </a:endParaRPr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17FABAD1-E727-FC35-2354-03DB902B064B}"/>
              </a:ext>
            </a:extLst>
          </p:cNvPr>
          <p:cNvSpPr txBox="1"/>
          <p:nvPr/>
        </p:nvSpPr>
        <p:spPr>
          <a:xfrm>
            <a:off x="2014804" y="1694012"/>
            <a:ext cx="2525890" cy="120719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10359"/>
              </a:lnSpc>
              <a:spcBef>
                <a:spcPct val="0"/>
              </a:spcBef>
              <a:defRPr/>
            </a:pPr>
            <a:r>
              <a:rPr lang="en-US" sz="7399" b="1" dirty="0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04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6DCE5D7-22EC-96F5-47F4-05EEE3F2F47A}"/>
              </a:ext>
            </a:extLst>
          </p:cNvPr>
          <p:cNvSpPr txBox="1"/>
          <p:nvPr/>
        </p:nvSpPr>
        <p:spPr>
          <a:xfrm>
            <a:off x="3411099" y="1694012"/>
            <a:ext cx="8645560" cy="120719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10359"/>
              </a:lnSpc>
              <a:spcBef>
                <a:spcPct val="0"/>
              </a:spcBef>
              <a:defRPr/>
            </a:pPr>
            <a:r>
              <a:rPr lang="ko-KR" altLang="en-US" sz="7399" b="1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시스템 구조 및 흐름</a:t>
            </a:r>
            <a:endParaRPr lang="en-US" sz="7399" b="1" dirty="0">
              <a:solidFill>
                <a:srgbClr val="000000"/>
              </a:solidFill>
              <a:latin typeface="맑은 고딕"/>
              <a:ea typeface="맑은 고딕"/>
              <a:cs typeface="TDTD한강고딕"/>
              <a:sym typeface="TDTD한강고딕"/>
            </a:endParaRP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AB33268D-1B4A-B5C3-561C-894B07D08EC6}"/>
              </a:ext>
            </a:extLst>
          </p:cNvPr>
          <p:cNvGrpSpPr/>
          <p:nvPr/>
        </p:nvGrpSpPr>
        <p:grpSpPr>
          <a:xfrm>
            <a:off x="2189691" y="3924381"/>
            <a:ext cx="3008893" cy="3008893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7F8A9F6F-2167-622A-3563-0261D592511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EAEB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A7526A2-AE98-23A3-5B3D-25526ABF9D2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>
                <a:latin typeface="맑은 고딕"/>
              </a:endParaRPr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EEE7AC4C-52A8-6137-4A16-DF9D529A1991}"/>
              </a:ext>
            </a:extLst>
          </p:cNvPr>
          <p:cNvSpPr txBox="1"/>
          <p:nvPr/>
        </p:nvSpPr>
        <p:spPr>
          <a:xfrm>
            <a:off x="2340219" y="5176841"/>
            <a:ext cx="2665738" cy="46147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4059"/>
              </a:lnSpc>
              <a:defRPr/>
            </a:pPr>
            <a:r>
              <a:rPr lang="ko-KR" altLang="en-US" sz="2400" b="1" dirty="0">
                <a:solidFill>
                  <a:srgbClr val="000000"/>
                </a:solidFill>
                <a:latin typeface="+mn-ea"/>
                <a:cs typeface="TDTD한강고딕"/>
                <a:sym typeface="TDTD한강고딕"/>
              </a:rPr>
              <a:t> 영상 입력  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53E1CAC9-0380-374A-D7DA-119839988B92}"/>
              </a:ext>
            </a:extLst>
          </p:cNvPr>
          <p:cNvSpPr txBox="1"/>
          <p:nvPr/>
        </p:nvSpPr>
        <p:spPr>
          <a:xfrm>
            <a:off x="2531387" y="4471184"/>
            <a:ext cx="2315270" cy="3770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016"/>
              </a:lnSpc>
              <a:defRPr/>
            </a:pPr>
            <a:r>
              <a:rPr lang="en-US" sz="2600" dirty="0">
                <a:solidFill>
                  <a:srgbClr val="54545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STEP 01</a:t>
            </a:r>
          </a:p>
        </p:txBody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F0922BB-9A00-2AB5-24BF-0116A7FB4725}"/>
              </a:ext>
            </a:extLst>
          </p:cNvPr>
          <p:cNvGrpSpPr/>
          <p:nvPr/>
        </p:nvGrpSpPr>
        <p:grpSpPr>
          <a:xfrm>
            <a:off x="5822933" y="3924381"/>
            <a:ext cx="3008893" cy="3008893"/>
            <a:chOff x="0" y="0"/>
            <a:chExt cx="812800" cy="81280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351A479-B001-BB3B-FE40-C511D67F39E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EAEB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4F8CC109-C029-059E-0E68-91B14C65F60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>
                <a:latin typeface="맑은 고딕"/>
              </a:endParaRPr>
            </a:p>
          </p:txBody>
        </p:sp>
      </p:grpSp>
      <p:sp>
        <p:nvSpPr>
          <p:cNvPr id="31" name="TextBox 31">
            <a:extLst>
              <a:ext uri="{FF2B5EF4-FFF2-40B4-BE49-F238E27FC236}">
                <a16:creationId xmlns:a16="http://schemas.microsoft.com/office/drawing/2014/main" id="{3FC38D83-C4D9-8CB7-8BA7-E089A5BC6C0B}"/>
              </a:ext>
            </a:extLst>
          </p:cNvPr>
          <p:cNvSpPr txBox="1"/>
          <p:nvPr/>
        </p:nvSpPr>
        <p:spPr>
          <a:xfrm>
            <a:off x="5994510" y="5030417"/>
            <a:ext cx="2665738" cy="99841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4059"/>
              </a:lnSpc>
              <a:defRPr/>
            </a:pPr>
            <a:r>
              <a:rPr lang="ko-KR" altLang="en-US" sz="2400" b="1" dirty="0">
                <a:solidFill>
                  <a:srgbClr val="000000"/>
                </a:solidFill>
                <a:latin typeface="+mn-ea"/>
                <a:cs typeface="TDTD한강고딕"/>
                <a:sym typeface="TDTD한강고딕"/>
              </a:rPr>
              <a:t>얼굴 인식 계산</a:t>
            </a:r>
            <a:endParaRPr lang="en-US" altLang="ko-KR" sz="2400" b="1" dirty="0">
              <a:solidFill>
                <a:srgbClr val="000000"/>
              </a:solidFill>
              <a:latin typeface="+mn-ea"/>
              <a:cs typeface="TDTD한강고딕"/>
              <a:sym typeface="TDTD한강고딕"/>
            </a:endParaRPr>
          </a:p>
          <a:p>
            <a:pPr lvl="0" algn="ctr">
              <a:lnSpc>
                <a:spcPts val="4059"/>
              </a:lnSpc>
              <a:defRPr/>
            </a:pPr>
            <a:r>
              <a:rPr lang="ko-KR" altLang="en-US" sz="2400" b="1" dirty="0">
                <a:solidFill>
                  <a:srgbClr val="000000"/>
                </a:solidFill>
                <a:latin typeface="+mn-ea"/>
                <a:cs typeface="TDTD한강고딕"/>
                <a:sym typeface="TDTD한강고딕"/>
              </a:rPr>
              <a:t>및 인원 카운트</a:t>
            </a:r>
            <a:endParaRPr lang="en-US" altLang="ko-KR" sz="2400" b="1" dirty="0">
              <a:solidFill>
                <a:srgbClr val="000000"/>
              </a:solidFill>
              <a:latin typeface="+mn-ea"/>
              <a:cs typeface="TDTD한강고딕"/>
              <a:sym typeface="TDTD한강고딕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5E830055-44F0-7ED5-8F80-C93188B6B97C}"/>
              </a:ext>
            </a:extLst>
          </p:cNvPr>
          <p:cNvSpPr txBox="1"/>
          <p:nvPr/>
        </p:nvSpPr>
        <p:spPr>
          <a:xfrm>
            <a:off x="6169744" y="4471184"/>
            <a:ext cx="2315270" cy="3770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016"/>
              </a:lnSpc>
              <a:defRPr/>
            </a:pPr>
            <a:r>
              <a:rPr lang="en-US" sz="2600" dirty="0">
                <a:solidFill>
                  <a:srgbClr val="54545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STEP 02</a:t>
            </a:r>
          </a:p>
        </p:txBody>
      </p:sp>
      <p:grpSp>
        <p:nvGrpSpPr>
          <p:cNvPr id="33" name="Group 33">
            <a:extLst>
              <a:ext uri="{FF2B5EF4-FFF2-40B4-BE49-F238E27FC236}">
                <a16:creationId xmlns:a16="http://schemas.microsoft.com/office/drawing/2014/main" id="{D1E05136-1AF5-2886-B6DA-476AC85EB1B4}"/>
              </a:ext>
            </a:extLst>
          </p:cNvPr>
          <p:cNvGrpSpPr/>
          <p:nvPr/>
        </p:nvGrpSpPr>
        <p:grpSpPr>
          <a:xfrm>
            <a:off x="9456174" y="3924381"/>
            <a:ext cx="3008893" cy="3008893"/>
            <a:chOff x="0" y="0"/>
            <a:chExt cx="812800" cy="812800"/>
          </a:xfrm>
        </p:grpSpPr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4642E116-BCAF-FB29-4D24-D3B5FC3E9B5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EAEB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9C222A01-41F6-CECA-1F22-33C9469DBB9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>
                <a:latin typeface="맑은 고딕"/>
              </a:endParaRPr>
            </a:p>
          </p:txBody>
        </p:sp>
      </p:grpSp>
      <p:sp>
        <p:nvSpPr>
          <p:cNvPr id="36" name="TextBox 36">
            <a:extLst>
              <a:ext uri="{FF2B5EF4-FFF2-40B4-BE49-F238E27FC236}">
                <a16:creationId xmlns:a16="http://schemas.microsoft.com/office/drawing/2014/main" id="{0E07E895-FC12-1A3A-E907-656C87939763}"/>
              </a:ext>
            </a:extLst>
          </p:cNvPr>
          <p:cNvSpPr txBox="1"/>
          <p:nvPr/>
        </p:nvSpPr>
        <p:spPr>
          <a:xfrm>
            <a:off x="9333197" y="5006340"/>
            <a:ext cx="3324498" cy="98725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4059"/>
              </a:lnSpc>
              <a:defRPr/>
            </a:pP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TDTD한강고딕"/>
                <a:sym typeface="TDTD한강고딕"/>
              </a:rPr>
              <a:t>카운트한 데이터로</a:t>
            </a:r>
            <a:endParaRPr lang="en-US" altLang="ko-KR" sz="2400" b="1" dirty="0">
              <a:solidFill>
                <a:srgbClr val="000000"/>
              </a:solidFill>
              <a:latin typeface="+mj-ea"/>
              <a:ea typeface="+mj-ea"/>
              <a:cs typeface="TDTD한강고딕"/>
              <a:sym typeface="TDTD한강고딕"/>
            </a:endParaRPr>
          </a:p>
          <a:p>
            <a:pPr lvl="0" algn="ctr">
              <a:lnSpc>
                <a:spcPts val="4059"/>
              </a:lnSpc>
              <a:defRPr/>
            </a:pP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  <a:cs typeface="TDTD한강고딕"/>
                <a:sym typeface="TDTD한강고딕"/>
              </a:rPr>
              <a:t>혼잡도 판단 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B768498B-6F94-C710-D063-02BDF71AA094}"/>
              </a:ext>
            </a:extLst>
          </p:cNvPr>
          <p:cNvSpPr txBox="1"/>
          <p:nvPr/>
        </p:nvSpPr>
        <p:spPr>
          <a:xfrm>
            <a:off x="9802985" y="4471184"/>
            <a:ext cx="2315270" cy="3770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016"/>
              </a:lnSpc>
              <a:defRPr/>
            </a:pPr>
            <a:r>
              <a:rPr lang="en-US" sz="2600" dirty="0">
                <a:solidFill>
                  <a:srgbClr val="54545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STEP 03</a:t>
            </a:r>
          </a:p>
        </p:txBody>
      </p:sp>
      <p:grpSp>
        <p:nvGrpSpPr>
          <p:cNvPr id="38" name="Group 38">
            <a:extLst>
              <a:ext uri="{FF2B5EF4-FFF2-40B4-BE49-F238E27FC236}">
                <a16:creationId xmlns:a16="http://schemas.microsoft.com/office/drawing/2014/main" id="{3CD96BB8-B1F2-5D3E-EE99-DB5FD53C03FC}"/>
              </a:ext>
            </a:extLst>
          </p:cNvPr>
          <p:cNvGrpSpPr/>
          <p:nvPr/>
        </p:nvGrpSpPr>
        <p:grpSpPr>
          <a:xfrm>
            <a:off x="13089416" y="3924381"/>
            <a:ext cx="3008893" cy="3008893"/>
            <a:chOff x="0" y="0"/>
            <a:chExt cx="812800" cy="812800"/>
          </a:xfrm>
        </p:grpSpPr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CF1837AC-5CD3-61CC-0AB0-F249A26A6C7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EAEB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0" name="TextBox 40">
              <a:extLst>
                <a:ext uri="{FF2B5EF4-FFF2-40B4-BE49-F238E27FC236}">
                  <a16:creationId xmlns:a16="http://schemas.microsoft.com/office/drawing/2014/main" id="{CFBD2BD4-227B-ADA3-4957-E99AB3AA712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>
                <a:latin typeface="맑은 고딕"/>
              </a:endParaRPr>
            </a:p>
          </p:txBody>
        </p:sp>
      </p:grpSp>
      <p:sp>
        <p:nvSpPr>
          <p:cNvPr id="41" name="TextBox 41">
            <a:extLst>
              <a:ext uri="{FF2B5EF4-FFF2-40B4-BE49-F238E27FC236}">
                <a16:creationId xmlns:a16="http://schemas.microsoft.com/office/drawing/2014/main" id="{ACACF5C2-D3C9-1ED6-1EA4-06E2E1C30B68}"/>
              </a:ext>
            </a:extLst>
          </p:cNvPr>
          <p:cNvSpPr txBox="1"/>
          <p:nvPr/>
        </p:nvSpPr>
        <p:spPr>
          <a:xfrm>
            <a:off x="13282043" y="4848225"/>
            <a:ext cx="2665738" cy="203882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4059"/>
              </a:lnSpc>
              <a:defRPr/>
            </a:pPr>
            <a:r>
              <a:rPr lang="ko-KR" altLang="en-US" sz="2400" b="1" dirty="0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웹에서 </a:t>
            </a:r>
            <a:endParaRPr lang="en-US" altLang="ko-KR" sz="2400" b="1" dirty="0">
              <a:solidFill>
                <a:srgbClr val="000000"/>
              </a:solidFill>
              <a:latin typeface="맑은 고딕"/>
              <a:ea typeface="맑은 고딕"/>
              <a:cs typeface="TDTD한강고딕"/>
              <a:sym typeface="TDTD한강고딕"/>
            </a:endParaRPr>
          </a:p>
          <a:p>
            <a:pPr lvl="0" algn="ctr">
              <a:lnSpc>
                <a:spcPts val="4059"/>
              </a:lnSpc>
              <a:defRPr/>
            </a:pPr>
            <a:r>
              <a:rPr lang="ko-KR" altLang="en-US" sz="2400" b="1" dirty="0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원활</a:t>
            </a:r>
            <a:r>
              <a:rPr lang="en-US" altLang="ko-KR" sz="2400" b="1" dirty="0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, </a:t>
            </a:r>
            <a:r>
              <a:rPr lang="ko-KR" altLang="en-US" sz="2400" b="1" dirty="0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혼잡</a:t>
            </a:r>
            <a:r>
              <a:rPr lang="en-US" altLang="ko-KR" sz="2400" b="1" dirty="0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, </a:t>
            </a:r>
            <a:r>
              <a:rPr lang="ko-KR" altLang="en-US" sz="2400" b="1" dirty="0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포화 출력 및 그래프 시각화</a:t>
            </a:r>
            <a:endParaRPr lang="ko-KR" altLang="en-US" sz="2400" b="1" dirty="0">
              <a:solidFill>
                <a:srgbClr val="000000"/>
              </a:solidFill>
              <a:latin typeface="맑은 고딕"/>
              <a:cs typeface="TDTD한강고딕"/>
              <a:sym typeface="TDTD한강고딕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DC6A8F80-21C0-3243-1D26-5C842E788258}"/>
              </a:ext>
            </a:extLst>
          </p:cNvPr>
          <p:cNvSpPr txBox="1"/>
          <p:nvPr/>
        </p:nvSpPr>
        <p:spPr>
          <a:xfrm>
            <a:off x="13457277" y="4471184"/>
            <a:ext cx="2315270" cy="3770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016"/>
              </a:lnSpc>
              <a:defRPr/>
            </a:pPr>
            <a:r>
              <a:rPr lang="en-US" sz="2600" dirty="0">
                <a:solidFill>
                  <a:srgbClr val="54545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STEP 04</a:t>
            </a:r>
          </a:p>
        </p:txBody>
      </p:sp>
    </p:spTree>
    <p:extLst>
      <p:ext uri="{BB962C8B-B14F-4D97-AF65-F5344CB8AC3E}">
        <p14:creationId xmlns:p14="http://schemas.microsoft.com/office/powerpoint/2010/main" val="3887601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90D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251C6E-7BEC-A410-2B4F-E1B2DC665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71EB726-3F1F-9BFD-2919-F15A5A271932}"/>
              </a:ext>
            </a:extLst>
          </p:cNvPr>
          <p:cNvSpPr/>
          <p:nvPr/>
        </p:nvSpPr>
        <p:spPr>
          <a:xfrm>
            <a:off x="0" y="-11700"/>
            <a:ext cx="18288000" cy="10281645"/>
          </a:xfrm>
          <a:custGeom>
            <a:avLst/>
            <a:gdLst/>
            <a:ahLst/>
            <a:cxnLst/>
            <a:rect l="l" t="t" r="r" b="b"/>
            <a:pathLst>
              <a:path w="18288000" h="10281645">
                <a:moveTo>
                  <a:pt x="0" y="0"/>
                </a:moveTo>
                <a:lnTo>
                  <a:pt x="18288000" y="0"/>
                </a:lnTo>
                <a:lnTo>
                  <a:pt x="18288000" y="10281644"/>
                </a:lnTo>
                <a:lnTo>
                  <a:pt x="0" y="10281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3000"/>
            </a:blip>
            <a:stretch>
              <a:fillRect/>
            </a:stretch>
          </a:blipFill>
        </p:spPr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6983402-9DAC-B25D-03DD-BBB495372AEA}"/>
              </a:ext>
            </a:extLst>
          </p:cNvPr>
          <p:cNvGrpSpPr/>
          <p:nvPr/>
        </p:nvGrpSpPr>
        <p:grpSpPr>
          <a:xfrm>
            <a:off x="876300" y="730372"/>
            <a:ext cx="16535400" cy="8826256"/>
            <a:chOff x="0" y="0"/>
            <a:chExt cx="4355002" cy="232461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EE015F0-F414-305C-6678-6B4682B77FDF}"/>
                </a:ext>
              </a:extLst>
            </p:cNvPr>
            <p:cNvSpPr/>
            <p:nvPr/>
          </p:nvSpPr>
          <p:spPr>
            <a:xfrm>
              <a:off x="0" y="0"/>
              <a:ext cx="4355002" cy="2324611"/>
            </a:xfrm>
            <a:custGeom>
              <a:avLst/>
              <a:gdLst/>
              <a:ahLst/>
              <a:cxnLst/>
              <a:rect l="l" t="t" r="r" b="b"/>
              <a:pathLst>
                <a:path w="4355002" h="2324611">
                  <a:moveTo>
                    <a:pt x="0" y="0"/>
                  </a:moveTo>
                  <a:lnTo>
                    <a:pt x="4355002" y="0"/>
                  </a:lnTo>
                  <a:lnTo>
                    <a:pt x="4355002" y="2324611"/>
                  </a:lnTo>
                  <a:lnTo>
                    <a:pt x="0" y="23246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DD4680F-18D1-735C-D4F1-A4937B93494C}"/>
                </a:ext>
              </a:extLst>
            </p:cNvPr>
            <p:cNvSpPr txBox="1"/>
            <p:nvPr/>
          </p:nvSpPr>
          <p:spPr>
            <a:xfrm>
              <a:off x="0" y="-38100"/>
              <a:ext cx="4355002" cy="236271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>
                <a:latin typeface="맑은 고딕"/>
              </a:endParaRPr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B7B00D74-AA2A-D3DF-9AE6-E884CD816115}"/>
              </a:ext>
            </a:extLst>
          </p:cNvPr>
          <p:cNvSpPr/>
          <p:nvPr/>
        </p:nvSpPr>
        <p:spPr>
          <a:xfrm>
            <a:off x="1875196" y="3192092"/>
            <a:ext cx="14537608" cy="0"/>
          </a:xfrm>
          <a:prstGeom prst="line">
            <a:avLst/>
          </a:prstGeom>
          <a:ln w="9525" cap="flat">
            <a:solidFill>
              <a:srgbClr val="7F90D4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F1D5047-DE85-16EC-7C57-048C8A974C6A}"/>
              </a:ext>
            </a:extLst>
          </p:cNvPr>
          <p:cNvSpPr txBox="1"/>
          <p:nvPr/>
        </p:nvSpPr>
        <p:spPr>
          <a:xfrm>
            <a:off x="2014804" y="1694012"/>
            <a:ext cx="2525890" cy="120719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10359"/>
              </a:lnSpc>
              <a:spcBef>
                <a:spcPct val="0"/>
              </a:spcBef>
              <a:defRPr/>
            </a:pPr>
            <a:r>
              <a:rPr lang="en-US" sz="7399" b="1" dirty="0">
                <a:solidFill>
                  <a:srgbClr val="7F90D4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05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458D8D3-9B26-4043-609D-4EDD359E1A8A}"/>
              </a:ext>
            </a:extLst>
          </p:cNvPr>
          <p:cNvSpPr txBox="1"/>
          <p:nvPr/>
        </p:nvSpPr>
        <p:spPr>
          <a:xfrm>
            <a:off x="3411099" y="1694012"/>
            <a:ext cx="8645560" cy="120719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10359"/>
              </a:lnSpc>
              <a:spcBef>
                <a:spcPct val="0"/>
              </a:spcBef>
              <a:defRPr/>
            </a:pPr>
            <a:r>
              <a:rPr lang="ko-KR" altLang="en-US" sz="7399" b="1" dirty="0">
                <a:solidFill>
                  <a:srgbClr val="000000"/>
                </a:solidFill>
                <a:latin typeface="맑은 고딕"/>
                <a:ea typeface="맑은 고딕"/>
                <a:cs typeface="TDTD한강고딕"/>
                <a:sym typeface="TDTD한강고딕"/>
              </a:rPr>
              <a:t>프로젝트 시연 영상</a:t>
            </a:r>
            <a:endParaRPr lang="en-US" sz="7399" b="1" dirty="0">
              <a:solidFill>
                <a:srgbClr val="000000"/>
              </a:solidFill>
              <a:latin typeface="맑은 고딕"/>
              <a:ea typeface="맑은 고딕"/>
              <a:cs typeface="TDTD한강고딕"/>
              <a:sym typeface="TDTD한강고딕"/>
            </a:endParaRPr>
          </a:p>
        </p:txBody>
      </p:sp>
      <p:pic>
        <p:nvPicPr>
          <p:cNvPr id="7" name="임베디드 시스템 404팀 동영상">
            <a:hlinkClick r:id="" action="ppaction://media"/>
            <a:extLst>
              <a:ext uri="{FF2B5EF4-FFF2-40B4-BE49-F238E27FC236}">
                <a16:creationId xmlns:a16="http://schemas.microsoft.com/office/drawing/2014/main" id="{74A20770-609E-977B-D62C-2EF5C8DD01C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885659" y="3360606"/>
            <a:ext cx="10516682" cy="591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52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75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90D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98FBB8-8323-D05A-2865-912576F61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C924866-56BE-F293-CB54-540F2109E5CE}"/>
              </a:ext>
            </a:extLst>
          </p:cNvPr>
          <p:cNvSpPr/>
          <p:nvPr/>
        </p:nvSpPr>
        <p:spPr>
          <a:xfrm>
            <a:off x="0" y="-11700"/>
            <a:ext cx="18288000" cy="10281645"/>
          </a:xfrm>
          <a:custGeom>
            <a:avLst/>
            <a:gdLst/>
            <a:ahLst/>
            <a:cxnLst/>
            <a:rect l="l" t="t" r="r" b="b"/>
            <a:pathLst>
              <a:path w="18288000" h="10281645">
                <a:moveTo>
                  <a:pt x="0" y="0"/>
                </a:moveTo>
                <a:lnTo>
                  <a:pt x="18288000" y="0"/>
                </a:lnTo>
                <a:lnTo>
                  <a:pt x="18288000" y="10281644"/>
                </a:lnTo>
                <a:lnTo>
                  <a:pt x="0" y="10281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3000"/>
            </a:blip>
            <a:stretch>
              <a:fillRect/>
            </a:stretch>
          </a:blipFill>
        </p:spPr>
        <p:txBody>
          <a:bodyPr anchor="ctr"/>
          <a:lstStyle/>
          <a:p>
            <a:pPr lvl="0" algn="ctr">
              <a:defRPr/>
            </a:pPr>
            <a:endParaRPr lang="ko-KR" altLang="en-US" b="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B0A72E2-329F-7FD4-4CB0-DC2B84F8735B}"/>
              </a:ext>
            </a:extLst>
          </p:cNvPr>
          <p:cNvGrpSpPr/>
          <p:nvPr/>
        </p:nvGrpSpPr>
        <p:grpSpPr>
          <a:xfrm>
            <a:off x="876300" y="730372"/>
            <a:ext cx="16535400" cy="8826256"/>
            <a:chOff x="0" y="0"/>
            <a:chExt cx="4355002" cy="232461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F6EB64D-3AB6-C557-24D9-749335FBB3DB}"/>
                </a:ext>
              </a:extLst>
            </p:cNvPr>
            <p:cNvSpPr/>
            <p:nvPr/>
          </p:nvSpPr>
          <p:spPr>
            <a:xfrm>
              <a:off x="0" y="0"/>
              <a:ext cx="4355002" cy="2324611"/>
            </a:xfrm>
            <a:custGeom>
              <a:avLst/>
              <a:gdLst/>
              <a:ahLst/>
              <a:cxnLst/>
              <a:rect l="l" t="t" r="r" b="b"/>
              <a:pathLst>
                <a:path w="4355002" h="2324611">
                  <a:moveTo>
                    <a:pt x="0" y="0"/>
                  </a:moveTo>
                  <a:lnTo>
                    <a:pt x="4355002" y="0"/>
                  </a:lnTo>
                  <a:lnTo>
                    <a:pt x="4355002" y="2324611"/>
                  </a:lnTo>
                  <a:lnTo>
                    <a:pt x="0" y="23246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74E50A4-4512-683D-75D2-8A63B87F49B0}"/>
                </a:ext>
              </a:extLst>
            </p:cNvPr>
            <p:cNvSpPr txBox="1"/>
            <p:nvPr/>
          </p:nvSpPr>
          <p:spPr>
            <a:xfrm>
              <a:off x="0" y="-38100"/>
              <a:ext cx="4355002" cy="236271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 b="1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A2AB6E5B-787B-4F09-698D-EF5FE37B086E}"/>
              </a:ext>
            </a:extLst>
          </p:cNvPr>
          <p:cNvSpPr/>
          <p:nvPr/>
        </p:nvSpPr>
        <p:spPr>
          <a:xfrm>
            <a:off x="1875196" y="3192092"/>
            <a:ext cx="14537608" cy="0"/>
          </a:xfrm>
          <a:prstGeom prst="line">
            <a:avLst/>
          </a:prstGeom>
          <a:ln w="9525" cap="flat">
            <a:solidFill>
              <a:srgbClr val="7F90D4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 b="1"/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69935756-877C-3792-6626-A0BC87EAAAD1}"/>
              </a:ext>
            </a:extLst>
          </p:cNvPr>
          <p:cNvGrpSpPr/>
          <p:nvPr/>
        </p:nvGrpSpPr>
        <p:grpSpPr>
          <a:xfrm>
            <a:off x="1905001" y="3838649"/>
            <a:ext cx="14279454" cy="4519959"/>
            <a:chOff x="0" y="0"/>
            <a:chExt cx="1430919" cy="1190442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47C1433-560D-EF7A-746D-7667692BF9C2}"/>
                </a:ext>
              </a:extLst>
            </p:cNvPr>
            <p:cNvSpPr/>
            <p:nvPr/>
          </p:nvSpPr>
          <p:spPr>
            <a:xfrm>
              <a:off x="0" y="0"/>
              <a:ext cx="1430919" cy="1190442"/>
            </a:xfrm>
            <a:custGeom>
              <a:avLst/>
              <a:gdLst/>
              <a:ahLst/>
              <a:cxnLst/>
              <a:rect l="l" t="t" r="r" b="b"/>
              <a:pathLst>
                <a:path w="1430919" h="1190442">
                  <a:moveTo>
                    <a:pt x="0" y="0"/>
                  </a:moveTo>
                  <a:lnTo>
                    <a:pt x="1430919" y="0"/>
                  </a:lnTo>
                  <a:lnTo>
                    <a:pt x="1430919" y="1190442"/>
                  </a:lnTo>
                  <a:lnTo>
                    <a:pt x="0" y="1190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7F90D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EB2C8B5C-1950-B019-8D63-447D79A5B487}"/>
                </a:ext>
              </a:extLst>
            </p:cNvPr>
            <p:cNvSpPr txBox="1"/>
            <p:nvPr/>
          </p:nvSpPr>
          <p:spPr>
            <a:xfrm>
              <a:off x="0" y="-38100"/>
              <a:ext cx="1430919" cy="1228542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520"/>
                </a:lnSpc>
                <a:defRPr/>
              </a:pPr>
              <a:endParaRPr lang="ko-KR" altLang="en-US" b="1"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299AAB46-0149-25B1-ACD7-3C76E6A22D7A}"/>
              </a:ext>
            </a:extLst>
          </p:cNvPr>
          <p:cNvSpPr txBox="1"/>
          <p:nvPr/>
        </p:nvSpPr>
        <p:spPr>
          <a:xfrm>
            <a:off x="2014804" y="1694012"/>
            <a:ext cx="2525890" cy="131588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10359"/>
              </a:lnSpc>
              <a:spcBef>
                <a:spcPct val="0"/>
              </a:spcBef>
              <a:defRPr/>
            </a:pPr>
            <a:r>
              <a:rPr lang="en-US" sz="7399" b="1" dirty="0">
                <a:solidFill>
                  <a:srgbClr val="7F90D4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06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281E37C-3488-CF04-FB14-CFD58B6A4AFE}"/>
              </a:ext>
            </a:extLst>
          </p:cNvPr>
          <p:cNvSpPr txBox="1"/>
          <p:nvPr/>
        </p:nvSpPr>
        <p:spPr>
          <a:xfrm>
            <a:off x="3411099" y="1694012"/>
            <a:ext cx="8091608" cy="131588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10359"/>
              </a:lnSpc>
              <a:spcBef>
                <a:spcPct val="0"/>
              </a:spcBef>
              <a:defRPr/>
            </a:pPr>
            <a:r>
              <a:rPr lang="en-US" sz="7399" b="1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성과 및 결론도출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A517BB2-95B5-2B3D-1DB8-A3216885C38B}"/>
              </a:ext>
            </a:extLst>
          </p:cNvPr>
          <p:cNvSpPr txBox="1"/>
          <p:nvPr/>
        </p:nvSpPr>
        <p:spPr>
          <a:xfrm>
            <a:off x="2073065" y="4312409"/>
            <a:ext cx="13944601" cy="37686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3699"/>
              </a:lnSpc>
              <a:defRPr/>
            </a:pPr>
            <a:r>
              <a:rPr lang="en-US" sz="4000" b="1" dirty="0">
                <a:latin typeface="+mn-ea"/>
                <a:cs typeface="윤고딕"/>
                <a:sym typeface="윤고딕"/>
              </a:rPr>
              <a:t>1. </a:t>
            </a:r>
            <a:r>
              <a:rPr lang="en-US" sz="4000" b="1" dirty="0" err="1">
                <a:latin typeface="+mn-ea"/>
                <a:cs typeface="윤고딕"/>
                <a:sym typeface="윤고딕"/>
              </a:rPr>
              <a:t>실시간</a:t>
            </a:r>
            <a:r>
              <a:rPr lang="en-US" sz="4000" b="1" dirty="0">
                <a:latin typeface="+mn-ea"/>
                <a:cs typeface="윤고딕"/>
                <a:sym typeface="윤고딕"/>
              </a:rPr>
              <a:t> </a:t>
            </a:r>
            <a:r>
              <a:rPr lang="en-US" sz="4000" b="1" dirty="0" err="1">
                <a:latin typeface="+mn-ea"/>
                <a:cs typeface="윤고딕"/>
                <a:sym typeface="윤고딕"/>
              </a:rPr>
              <a:t>영상</a:t>
            </a:r>
            <a:r>
              <a:rPr lang="en-US" sz="4000" b="1" dirty="0">
                <a:latin typeface="+mn-ea"/>
                <a:cs typeface="윤고딕"/>
                <a:sym typeface="윤고딕"/>
              </a:rPr>
              <a:t> </a:t>
            </a:r>
            <a:r>
              <a:rPr lang="en-US" sz="4000" b="1" dirty="0" err="1">
                <a:latin typeface="+mn-ea"/>
                <a:cs typeface="윤고딕"/>
                <a:sym typeface="윤고딕"/>
              </a:rPr>
              <a:t>기반</a:t>
            </a:r>
            <a:r>
              <a:rPr lang="en-US" sz="4000" b="1" dirty="0">
                <a:latin typeface="+mn-ea"/>
                <a:cs typeface="윤고딕"/>
                <a:sym typeface="윤고딕"/>
              </a:rPr>
              <a:t> </a:t>
            </a:r>
            <a:r>
              <a:rPr lang="en-US" sz="4000" b="1" dirty="0" err="1">
                <a:latin typeface="+mn-ea"/>
                <a:cs typeface="윤고딕"/>
                <a:sym typeface="윤고딕"/>
              </a:rPr>
              <a:t>얼굴</a:t>
            </a:r>
            <a:r>
              <a:rPr lang="en-US" sz="4000" b="1" dirty="0">
                <a:latin typeface="+mn-ea"/>
                <a:cs typeface="윤고딕"/>
                <a:sym typeface="윤고딕"/>
              </a:rPr>
              <a:t> </a:t>
            </a:r>
            <a:r>
              <a:rPr lang="en-US" sz="4000" b="1" dirty="0" err="1">
                <a:latin typeface="+mn-ea"/>
                <a:cs typeface="윤고딕"/>
                <a:sym typeface="윤고딕"/>
              </a:rPr>
              <a:t>인식</a:t>
            </a:r>
            <a:r>
              <a:rPr lang="en-US" sz="4000" b="1" dirty="0">
                <a:latin typeface="+mn-ea"/>
                <a:cs typeface="윤고딕"/>
                <a:sym typeface="윤고딕"/>
              </a:rPr>
              <a:t> 및 </a:t>
            </a:r>
            <a:r>
              <a:rPr lang="en-US" sz="4000" b="1" dirty="0" err="1">
                <a:latin typeface="+mn-ea"/>
                <a:cs typeface="윤고딕"/>
                <a:sym typeface="윤고딕"/>
              </a:rPr>
              <a:t>카운</a:t>
            </a:r>
            <a:r>
              <a:rPr lang="ko-KR" altLang="en-US" sz="4000" b="1" dirty="0" err="1">
                <a:latin typeface="+mn-ea"/>
                <a:cs typeface="윤고딕"/>
                <a:sym typeface="윤고딕"/>
              </a:rPr>
              <a:t>트</a:t>
            </a:r>
            <a:r>
              <a:rPr lang="ko-KR" altLang="en-US" sz="4000" b="1" dirty="0">
                <a:latin typeface="+mn-ea"/>
                <a:cs typeface="윤고딕"/>
                <a:sym typeface="윤고딕"/>
              </a:rPr>
              <a:t> </a:t>
            </a:r>
            <a:endParaRPr lang="en-US" sz="4000" b="1" dirty="0">
              <a:latin typeface="+mn-ea"/>
              <a:cs typeface="윤고딕"/>
              <a:sym typeface="윤고딕"/>
            </a:endParaRPr>
          </a:p>
          <a:p>
            <a:pPr lvl="0" algn="l">
              <a:lnSpc>
                <a:spcPts val="3699"/>
              </a:lnSpc>
              <a:defRPr/>
            </a:pPr>
            <a:endParaRPr lang="en-US" sz="4000" b="1" dirty="0">
              <a:latin typeface="+mn-ea"/>
              <a:cs typeface="윤고딕"/>
              <a:sym typeface="윤고딕"/>
            </a:endParaRPr>
          </a:p>
          <a:p>
            <a:pPr lvl="0" algn="l">
              <a:lnSpc>
                <a:spcPts val="3699"/>
              </a:lnSpc>
              <a:defRPr/>
            </a:pPr>
            <a:r>
              <a:rPr lang="en-US" sz="4000" b="1" dirty="0">
                <a:latin typeface="+mn-ea"/>
                <a:cs typeface="윤고딕"/>
                <a:sym typeface="윤고딕"/>
              </a:rPr>
              <a:t>2. </a:t>
            </a:r>
            <a:r>
              <a:rPr lang="en-US" sz="4000" b="1" dirty="0" err="1">
                <a:latin typeface="+mn-ea"/>
                <a:cs typeface="윤고딕"/>
                <a:sym typeface="윤고딕"/>
              </a:rPr>
              <a:t>Jetson과</a:t>
            </a:r>
            <a:r>
              <a:rPr lang="en-US" sz="4000" b="1" dirty="0">
                <a:latin typeface="+mn-ea"/>
                <a:cs typeface="윤고딕"/>
                <a:sym typeface="윤고딕"/>
              </a:rPr>
              <a:t> </a:t>
            </a:r>
            <a:r>
              <a:rPr lang="ko-KR" altLang="en-US" sz="4000" b="1" dirty="0">
                <a:latin typeface="+mn-ea"/>
                <a:cs typeface="윤고딕"/>
                <a:sym typeface="윤고딕"/>
              </a:rPr>
              <a:t>웹을 활용하여</a:t>
            </a:r>
            <a:r>
              <a:rPr lang="en-US" sz="4000" b="1" dirty="0">
                <a:latin typeface="+mn-ea"/>
                <a:cs typeface="윤고딕"/>
                <a:sym typeface="윤고딕"/>
              </a:rPr>
              <a:t> </a:t>
            </a:r>
            <a:r>
              <a:rPr lang="ko-KR" altLang="en-US" sz="4000" b="1" dirty="0">
                <a:latin typeface="+mn-ea"/>
                <a:cs typeface="윤고딕"/>
                <a:sym typeface="윤고딕"/>
              </a:rPr>
              <a:t>페이지</a:t>
            </a:r>
            <a:r>
              <a:rPr lang="en-US" sz="4000" b="1" dirty="0">
                <a:latin typeface="+mn-ea"/>
                <a:cs typeface="윤고딕"/>
                <a:sym typeface="윤고딕"/>
              </a:rPr>
              <a:t> </a:t>
            </a:r>
            <a:r>
              <a:rPr lang="en-US" sz="4000" b="1" dirty="0" err="1">
                <a:latin typeface="+mn-ea"/>
                <a:cs typeface="윤고딕"/>
                <a:sym typeface="윤고딕"/>
              </a:rPr>
              <a:t>구현</a:t>
            </a:r>
            <a:endParaRPr lang="en-US" sz="4000" b="1" dirty="0">
              <a:latin typeface="+mn-ea"/>
              <a:cs typeface="윤고딕"/>
              <a:sym typeface="윤고딕"/>
            </a:endParaRPr>
          </a:p>
          <a:p>
            <a:pPr lvl="0" algn="l">
              <a:lnSpc>
                <a:spcPts val="3699"/>
              </a:lnSpc>
              <a:defRPr/>
            </a:pPr>
            <a:endParaRPr lang="en-US" sz="4000" b="1" dirty="0">
              <a:latin typeface="+mn-ea"/>
              <a:cs typeface="윤고딕"/>
              <a:sym typeface="윤고딕"/>
            </a:endParaRPr>
          </a:p>
          <a:p>
            <a:pPr lvl="0" algn="l">
              <a:lnSpc>
                <a:spcPts val="3699"/>
              </a:lnSpc>
              <a:defRPr/>
            </a:pPr>
            <a:r>
              <a:rPr lang="en-US" sz="4000" b="1" dirty="0">
                <a:latin typeface="+mn-ea"/>
                <a:cs typeface="윤고딕"/>
                <a:sym typeface="윤고딕"/>
              </a:rPr>
              <a:t>3. </a:t>
            </a:r>
            <a:r>
              <a:rPr lang="en-US" sz="4000" b="1" dirty="0" err="1">
                <a:latin typeface="+mn-ea"/>
                <a:cs typeface="윤고딕"/>
                <a:sym typeface="윤고딕"/>
              </a:rPr>
              <a:t>혼잡도에</a:t>
            </a:r>
            <a:r>
              <a:rPr lang="en-US" sz="4000" b="1" dirty="0">
                <a:latin typeface="+mn-ea"/>
                <a:cs typeface="윤고딕"/>
                <a:sym typeface="윤고딕"/>
              </a:rPr>
              <a:t> </a:t>
            </a:r>
            <a:r>
              <a:rPr lang="en-US" sz="4000" b="1" dirty="0" err="1">
                <a:latin typeface="+mn-ea"/>
                <a:cs typeface="윤고딕"/>
                <a:sym typeface="윤고딕"/>
              </a:rPr>
              <a:t>따라</a:t>
            </a:r>
            <a:r>
              <a:rPr lang="en-US" sz="4000" b="1" dirty="0">
                <a:latin typeface="+mn-ea"/>
                <a:cs typeface="윤고딕"/>
                <a:sym typeface="윤고딕"/>
              </a:rPr>
              <a:t> </a:t>
            </a:r>
            <a:r>
              <a:rPr lang="en-US" sz="4000" b="1" dirty="0" err="1">
                <a:latin typeface="+mn-ea"/>
                <a:cs typeface="윤고딕"/>
                <a:sym typeface="윤고딕"/>
              </a:rPr>
              <a:t>시각</a:t>
            </a:r>
            <a:r>
              <a:rPr lang="ko-KR" altLang="en-US" sz="4000" b="1" dirty="0">
                <a:latin typeface="+mn-ea"/>
                <a:cs typeface="윤고딕"/>
                <a:sym typeface="윤고딕"/>
              </a:rPr>
              <a:t>적으로</a:t>
            </a:r>
            <a:r>
              <a:rPr lang="en-US" sz="4000" b="1" dirty="0">
                <a:latin typeface="+mn-ea"/>
                <a:cs typeface="윤고딕"/>
                <a:sym typeface="윤고딕"/>
              </a:rPr>
              <a:t> </a:t>
            </a:r>
            <a:r>
              <a:rPr lang="ko-KR" altLang="en-US" sz="4000" b="1" dirty="0">
                <a:latin typeface="+mn-ea"/>
                <a:cs typeface="윤고딕"/>
                <a:sym typeface="윤고딕"/>
              </a:rPr>
              <a:t>직관적인</a:t>
            </a:r>
            <a:r>
              <a:rPr lang="en-US" sz="4000" b="1" dirty="0">
                <a:latin typeface="+mn-ea"/>
                <a:cs typeface="윤고딕"/>
                <a:sym typeface="윤고딕"/>
              </a:rPr>
              <a:t> </a:t>
            </a:r>
            <a:r>
              <a:rPr lang="en-US" sz="4000" b="1" dirty="0" err="1">
                <a:latin typeface="+mn-ea"/>
                <a:cs typeface="윤고딕"/>
                <a:sym typeface="윤고딕"/>
              </a:rPr>
              <a:t>동작</a:t>
            </a:r>
            <a:endParaRPr lang="en-US" sz="4000" b="1" dirty="0">
              <a:latin typeface="+mn-ea"/>
              <a:cs typeface="윤고딕"/>
              <a:sym typeface="윤고딕"/>
            </a:endParaRPr>
          </a:p>
          <a:p>
            <a:pPr lvl="0" algn="l">
              <a:lnSpc>
                <a:spcPts val="3699"/>
              </a:lnSpc>
              <a:defRPr/>
            </a:pPr>
            <a:endParaRPr lang="en-US" sz="4000" b="1" dirty="0">
              <a:latin typeface="+mn-ea"/>
              <a:cs typeface="윤고딕"/>
              <a:sym typeface="윤고딕"/>
            </a:endParaRPr>
          </a:p>
          <a:p>
            <a:pPr lvl="0" algn="l">
              <a:lnSpc>
                <a:spcPts val="3699"/>
              </a:lnSpc>
              <a:defRPr/>
            </a:pPr>
            <a:r>
              <a:rPr lang="en-US" sz="4000" b="1" dirty="0">
                <a:latin typeface="+mn-ea"/>
                <a:cs typeface="윤고딕"/>
                <a:sym typeface="윤고딕"/>
              </a:rPr>
              <a:t>4. </a:t>
            </a:r>
            <a:r>
              <a:rPr lang="ko-KR" altLang="en-US" sz="4000" b="1" dirty="0">
                <a:latin typeface="+mn-ea"/>
                <a:cs typeface="윤고딕"/>
                <a:sym typeface="윤고딕"/>
              </a:rPr>
              <a:t>사용자가 커스터마이징 하기 편한 시스템</a:t>
            </a:r>
            <a:r>
              <a:rPr lang="en-US" altLang="ko-KR" sz="4000" b="1" dirty="0">
                <a:latin typeface="+mn-ea"/>
                <a:cs typeface="윤고딕"/>
                <a:sym typeface="윤고딕"/>
              </a:rPr>
              <a:t> </a:t>
            </a:r>
            <a:r>
              <a:rPr lang="ko-KR" altLang="en-US" sz="4000" b="1" dirty="0">
                <a:latin typeface="+mn-ea"/>
                <a:cs typeface="윤고딕"/>
                <a:sym typeface="윤고딕"/>
              </a:rPr>
              <a:t>구현</a:t>
            </a:r>
            <a:endParaRPr lang="en-US" altLang="ko-KR" sz="4000" b="1" dirty="0">
              <a:latin typeface="+mn-ea"/>
              <a:cs typeface="윤고딕"/>
              <a:sym typeface="윤고딕"/>
            </a:endParaRPr>
          </a:p>
          <a:p>
            <a:pPr lvl="0" algn="l">
              <a:lnSpc>
                <a:spcPts val="3699"/>
              </a:lnSpc>
              <a:defRPr/>
            </a:pPr>
            <a:endParaRPr lang="en-US" sz="2700" b="1" dirty="0">
              <a:latin typeface="윤고딕"/>
              <a:ea typeface="윤고딕"/>
              <a:cs typeface="윤고딕"/>
              <a:sym typeface="윤고딕"/>
            </a:endParaRPr>
          </a:p>
        </p:txBody>
      </p:sp>
    </p:spTree>
    <p:extLst>
      <p:ext uri="{BB962C8B-B14F-4D97-AF65-F5344CB8AC3E}">
        <p14:creationId xmlns:p14="http://schemas.microsoft.com/office/powerpoint/2010/main" val="1652339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90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700"/>
            <a:ext cx="18288000" cy="10281645"/>
          </a:xfrm>
          <a:custGeom>
            <a:avLst/>
            <a:gdLst/>
            <a:ahLst/>
            <a:cxnLst/>
            <a:rect l="l" t="t" r="r" b="b"/>
            <a:pathLst>
              <a:path w="18288000" h="10281645">
                <a:moveTo>
                  <a:pt x="0" y="0"/>
                </a:moveTo>
                <a:lnTo>
                  <a:pt x="18288000" y="0"/>
                </a:lnTo>
                <a:lnTo>
                  <a:pt x="18288000" y="10281644"/>
                </a:lnTo>
                <a:lnTo>
                  <a:pt x="0" y="10281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876300" y="730372"/>
            <a:ext cx="16535400" cy="8826256"/>
            <a:chOff x="0" y="0"/>
            <a:chExt cx="4355002" cy="23246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55002" cy="2324611"/>
            </a:xfrm>
            <a:custGeom>
              <a:avLst/>
              <a:gdLst/>
              <a:ahLst/>
              <a:cxnLst/>
              <a:rect l="l" t="t" r="r" b="b"/>
              <a:pathLst>
                <a:path w="4355002" h="2324611">
                  <a:moveTo>
                    <a:pt x="0" y="0"/>
                  </a:moveTo>
                  <a:lnTo>
                    <a:pt x="4355002" y="0"/>
                  </a:lnTo>
                  <a:lnTo>
                    <a:pt x="4355002" y="2324611"/>
                  </a:lnTo>
                  <a:lnTo>
                    <a:pt x="0" y="23246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55002" cy="23627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875196" y="3192092"/>
            <a:ext cx="14537608" cy="0"/>
          </a:xfrm>
          <a:prstGeom prst="line">
            <a:avLst/>
          </a:prstGeom>
          <a:ln w="9525" cap="flat">
            <a:solidFill>
              <a:srgbClr val="7F90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2014804" y="1694012"/>
            <a:ext cx="2525890" cy="1216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</a:pPr>
            <a:r>
              <a:rPr lang="en-US" sz="7399" dirty="0">
                <a:solidFill>
                  <a:srgbClr val="7F90D4"/>
                </a:solidFill>
                <a:latin typeface="+mn-ea"/>
                <a:cs typeface="TDTD한강고딕"/>
                <a:sym typeface="TDTD한강고딕"/>
              </a:rPr>
              <a:t>07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11099" y="1694012"/>
            <a:ext cx="8091608" cy="121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</a:pPr>
            <a:r>
              <a:rPr lang="en-US" sz="7399" b="1" dirty="0" err="1">
                <a:solidFill>
                  <a:srgbClr val="000000"/>
                </a:solidFill>
                <a:latin typeface="+mn-ea"/>
                <a:cs typeface="TDTD한강고딕"/>
                <a:sym typeface="TDTD한강고딕"/>
              </a:rPr>
              <a:t>향후</a:t>
            </a:r>
            <a:r>
              <a:rPr lang="en-US" sz="7399" b="1" dirty="0">
                <a:solidFill>
                  <a:srgbClr val="000000"/>
                </a:solidFill>
                <a:latin typeface="+mn-ea"/>
                <a:cs typeface="TDTD한강고딕"/>
                <a:sym typeface="TDTD한강고딕"/>
              </a:rPr>
              <a:t> </a:t>
            </a:r>
            <a:r>
              <a:rPr lang="en-US" sz="7399" b="1" dirty="0" err="1">
                <a:solidFill>
                  <a:srgbClr val="000000"/>
                </a:solidFill>
                <a:latin typeface="+mn-ea"/>
                <a:cs typeface="TDTD한강고딕"/>
                <a:sym typeface="TDTD한강고딕"/>
              </a:rPr>
              <a:t>개선방향</a:t>
            </a:r>
            <a:endParaRPr lang="en-US" sz="7399" b="1" dirty="0">
              <a:solidFill>
                <a:srgbClr val="000000"/>
              </a:solidFill>
              <a:latin typeface="+mn-ea"/>
              <a:cs typeface="TDTD한강고딕"/>
              <a:sym typeface="TDTD한강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610366" y="3785384"/>
            <a:ext cx="12397670" cy="806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96"/>
              </a:lnSpc>
            </a:pPr>
            <a:r>
              <a:rPr lang="en-US" sz="2800" dirty="0">
                <a:solidFill>
                  <a:srgbClr val="000000"/>
                </a:solidFill>
                <a:latin typeface="+mn-ea"/>
                <a:cs typeface="윤고딕 Light"/>
                <a:sym typeface="윤고딕 Light"/>
              </a:rPr>
              <a:t>AI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윤고딕 Light"/>
                <a:sym typeface="윤고딕 Light"/>
              </a:rPr>
              <a:t>를 활용하여 평균 인식되는 사람 수를 바탕으로 혼잡 기준 자동 판단</a:t>
            </a:r>
            <a:r>
              <a:rPr lang="en-US" sz="2800" dirty="0">
                <a:solidFill>
                  <a:srgbClr val="000000"/>
                </a:solidFill>
                <a:latin typeface="+mn-ea"/>
                <a:cs typeface="윤고딕 Light"/>
                <a:sym typeface="윤고딕 Light"/>
              </a:rPr>
              <a:t>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875195" y="3784316"/>
            <a:ext cx="3417703" cy="899973"/>
            <a:chOff x="0" y="0"/>
            <a:chExt cx="900136" cy="23703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00136" cy="237030"/>
            </a:xfrm>
            <a:custGeom>
              <a:avLst/>
              <a:gdLst/>
              <a:ahLst/>
              <a:cxnLst/>
              <a:rect l="l" t="t" r="r" b="b"/>
              <a:pathLst>
                <a:path w="900136" h="237030">
                  <a:moveTo>
                    <a:pt x="33979" y="0"/>
                  </a:moveTo>
                  <a:lnTo>
                    <a:pt x="866157" y="0"/>
                  </a:lnTo>
                  <a:cubicBezTo>
                    <a:pt x="884923" y="0"/>
                    <a:pt x="900136" y="15213"/>
                    <a:pt x="900136" y="33979"/>
                  </a:cubicBezTo>
                  <a:lnTo>
                    <a:pt x="900136" y="203051"/>
                  </a:lnTo>
                  <a:cubicBezTo>
                    <a:pt x="900136" y="221817"/>
                    <a:pt x="884923" y="237030"/>
                    <a:pt x="866157" y="237030"/>
                  </a:cubicBezTo>
                  <a:lnTo>
                    <a:pt x="33979" y="237030"/>
                  </a:lnTo>
                  <a:cubicBezTo>
                    <a:pt x="15213" y="237030"/>
                    <a:pt x="0" y="221817"/>
                    <a:pt x="0" y="203051"/>
                  </a:cubicBezTo>
                  <a:lnTo>
                    <a:pt x="0" y="33979"/>
                  </a:lnTo>
                  <a:cubicBezTo>
                    <a:pt x="0" y="15213"/>
                    <a:pt x="15213" y="0"/>
                    <a:pt x="33979" y="0"/>
                  </a:cubicBezTo>
                  <a:close/>
                </a:path>
              </a:pathLst>
            </a:custGeom>
            <a:solidFill>
              <a:srgbClr val="F0EAEB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00136" cy="275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875196" y="3744395"/>
            <a:ext cx="3417703" cy="92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3" lvl="1" indent="-388622" algn="l">
              <a:lnSpc>
                <a:spcPts val="8208"/>
              </a:lnSpc>
              <a:buFont typeface="Arial"/>
              <a:buChar char="•"/>
            </a:pPr>
            <a:r>
              <a:rPr lang="en-US" sz="3600" dirty="0" err="1">
                <a:solidFill>
                  <a:srgbClr val="000000"/>
                </a:solidFill>
                <a:latin typeface="+mn-ea"/>
                <a:cs typeface="TDTD한강고딕"/>
                <a:sym typeface="TDTD한강고딕"/>
              </a:rPr>
              <a:t>개선사항</a:t>
            </a:r>
            <a:r>
              <a:rPr lang="en-US" sz="3600" dirty="0">
                <a:solidFill>
                  <a:srgbClr val="000000"/>
                </a:solidFill>
                <a:latin typeface="+mn-ea"/>
                <a:cs typeface="TDTD한강고딕"/>
                <a:sym typeface="TDTD한강고딕"/>
              </a:rPr>
              <a:t> 1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841454" y="5236591"/>
            <a:ext cx="3417703" cy="899973"/>
            <a:chOff x="0" y="0"/>
            <a:chExt cx="900136" cy="23703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00136" cy="237030"/>
            </a:xfrm>
            <a:custGeom>
              <a:avLst/>
              <a:gdLst/>
              <a:ahLst/>
              <a:cxnLst/>
              <a:rect l="l" t="t" r="r" b="b"/>
              <a:pathLst>
                <a:path w="900136" h="237030">
                  <a:moveTo>
                    <a:pt x="33979" y="0"/>
                  </a:moveTo>
                  <a:lnTo>
                    <a:pt x="866157" y="0"/>
                  </a:lnTo>
                  <a:cubicBezTo>
                    <a:pt x="884923" y="0"/>
                    <a:pt x="900136" y="15213"/>
                    <a:pt x="900136" y="33979"/>
                  </a:cubicBezTo>
                  <a:lnTo>
                    <a:pt x="900136" y="203051"/>
                  </a:lnTo>
                  <a:cubicBezTo>
                    <a:pt x="900136" y="221817"/>
                    <a:pt x="884923" y="237030"/>
                    <a:pt x="866157" y="237030"/>
                  </a:cubicBezTo>
                  <a:lnTo>
                    <a:pt x="33979" y="237030"/>
                  </a:lnTo>
                  <a:cubicBezTo>
                    <a:pt x="15213" y="237030"/>
                    <a:pt x="0" y="221817"/>
                    <a:pt x="0" y="203051"/>
                  </a:cubicBezTo>
                  <a:lnTo>
                    <a:pt x="0" y="33979"/>
                  </a:lnTo>
                  <a:cubicBezTo>
                    <a:pt x="0" y="15213"/>
                    <a:pt x="15213" y="0"/>
                    <a:pt x="33979" y="0"/>
                  </a:cubicBezTo>
                  <a:close/>
                </a:path>
              </a:pathLst>
            </a:custGeom>
            <a:solidFill>
              <a:srgbClr val="F0EAEB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900136" cy="275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890436" y="5129122"/>
            <a:ext cx="3417703" cy="92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3" lvl="1" indent="-388622" algn="l">
              <a:lnSpc>
                <a:spcPts val="8208"/>
              </a:lnSpc>
              <a:buFont typeface="Arial"/>
              <a:buChar char="•"/>
            </a:pPr>
            <a:r>
              <a:rPr lang="en-US" sz="3600" dirty="0" err="1">
                <a:solidFill>
                  <a:srgbClr val="000000"/>
                </a:solidFill>
                <a:latin typeface="TDTD한강고딕"/>
                <a:cs typeface="TDTD한강고딕"/>
                <a:sym typeface="TDTD한강고딕"/>
              </a:rPr>
              <a:t>개선사항</a:t>
            </a:r>
            <a:r>
              <a:rPr lang="en-US" sz="3600" dirty="0">
                <a:solidFill>
                  <a:srgbClr val="000000"/>
                </a:solidFill>
                <a:latin typeface="TDTD한강고딕"/>
                <a:cs typeface="TDTD한강고딕"/>
                <a:sym typeface="TDTD한강고딕"/>
              </a:rPr>
              <a:t> 2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841453" y="6558718"/>
            <a:ext cx="3417703" cy="899973"/>
            <a:chOff x="0" y="0"/>
            <a:chExt cx="900136" cy="23703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00136" cy="237030"/>
            </a:xfrm>
            <a:custGeom>
              <a:avLst/>
              <a:gdLst/>
              <a:ahLst/>
              <a:cxnLst/>
              <a:rect l="l" t="t" r="r" b="b"/>
              <a:pathLst>
                <a:path w="900136" h="237030">
                  <a:moveTo>
                    <a:pt x="33979" y="0"/>
                  </a:moveTo>
                  <a:lnTo>
                    <a:pt x="866157" y="0"/>
                  </a:lnTo>
                  <a:cubicBezTo>
                    <a:pt x="884923" y="0"/>
                    <a:pt x="900136" y="15213"/>
                    <a:pt x="900136" y="33979"/>
                  </a:cubicBezTo>
                  <a:lnTo>
                    <a:pt x="900136" y="203051"/>
                  </a:lnTo>
                  <a:cubicBezTo>
                    <a:pt x="900136" y="221817"/>
                    <a:pt x="884923" y="237030"/>
                    <a:pt x="866157" y="237030"/>
                  </a:cubicBezTo>
                  <a:lnTo>
                    <a:pt x="33979" y="237030"/>
                  </a:lnTo>
                  <a:cubicBezTo>
                    <a:pt x="15213" y="237030"/>
                    <a:pt x="0" y="221817"/>
                    <a:pt x="0" y="203051"/>
                  </a:cubicBezTo>
                  <a:lnTo>
                    <a:pt x="0" y="33979"/>
                  </a:lnTo>
                  <a:cubicBezTo>
                    <a:pt x="0" y="15213"/>
                    <a:pt x="15213" y="0"/>
                    <a:pt x="33979" y="0"/>
                  </a:cubicBezTo>
                  <a:close/>
                </a:path>
              </a:pathLst>
            </a:custGeom>
            <a:solidFill>
              <a:srgbClr val="F0EAEB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900136" cy="275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893687" y="6465791"/>
            <a:ext cx="3426644" cy="92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3" lvl="1" indent="-388622" algn="l">
              <a:lnSpc>
                <a:spcPts val="8208"/>
              </a:lnSpc>
              <a:buFont typeface="Arial"/>
              <a:buChar char="•"/>
            </a:pPr>
            <a:r>
              <a:rPr lang="en-US" sz="3600" dirty="0" err="1">
                <a:solidFill>
                  <a:srgbClr val="000000"/>
                </a:solidFill>
                <a:latin typeface="+mj-ea"/>
                <a:ea typeface="+mj-ea"/>
                <a:cs typeface="TDTD한강고딕"/>
                <a:sym typeface="TDTD한강고딕"/>
              </a:rPr>
              <a:t>개선사항</a:t>
            </a:r>
            <a:r>
              <a:rPr lang="en-US" sz="3600" dirty="0">
                <a:solidFill>
                  <a:srgbClr val="000000"/>
                </a:solidFill>
                <a:latin typeface="+mj-ea"/>
                <a:ea typeface="+mj-ea"/>
                <a:cs typeface="TDTD한강고딕"/>
                <a:sym typeface="TDTD한강고딕"/>
              </a:rPr>
              <a:t> 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85345" y="5184753"/>
            <a:ext cx="9497507" cy="814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96"/>
              </a:lnSpc>
            </a:pPr>
            <a:r>
              <a:rPr lang="ko-KR" altLang="en-US" sz="2800" dirty="0">
                <a:solidFill>
                  <a:srgbClr val="000000"/>
                </a:solidFill>
                <a:latin typeface="+mn-ea"/>
                <a:cs typeface="윤고딕 Light"/>
                <a:sym typeface="윤고딕 Light"/>
              </a:rPr>
              <a:t>모바일 최적화 및 알림 기능 도입</a:t>
            </a:r>
            <a:endParaRPr lang="en-US" sz="2800" dirty="0">
              <a:solidFill>
                <a:srgbClr val="000000"/>
              </a:solidFill>
              <a:latin typeface="+mn-ea"/>
              <a:cs typeface="윤고딕 Light"/>
              <a:sym typeface="윤고딕 Light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562599" y="6558718"/>
            <a:ext cx="9497507" cy="814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96"/>
              </a:lnSpc>
            </a:pPr>
            <a:r>
              <a:rPr lang="ko-KR" altLang="en-US" sz="2800" dirty="0">
                <a:solidFill>
                  <a:srgbClr val="000000"/>
                </a:solidFill>
                <a:latin typeface="+mn-ea"/>
                <a:cs typeface="윤고딕 Light"/>
                <a:sym typeface="윤고딕 Light"/>
              </a:rPr>
              <a:t>모델 인식률 개선을 위한 멀티 카메라 연동 </a:t>
            </a:r>
            <a:endParaRPr lang="en-US" sz="2800" dirty="0">
              <a:solidFill>
                <a:srgbClr val="000000"/>
              </a:solidFill>
              <a:latin typeface="+mn-ea"/>
              <a:cs typeface="윤고딕 Light"/>
              <a:sym typeface="윤고딕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90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700"/>
            <a:ext cx="18288000" cy="10281645"/>
          </a:xfrm>
          <a:custGeom>
            <a:avLst/>
            <a:gdLst/>
            <a:ahLst/>
            <a:cxnLst/>
            <a:rect l="l" t="t" r="r" b="b"/>
            <a:pathLst>
              <a:path w="18288000" h="10281645">
                <a:moveTo>
                  <a:pt x="0" y="0"/>
                </a:moveTo>
                <a:lnTo>
                  <a:pt x="18288000" y="0"/>
                </a:lnTo>
                <a:lnTo>
                  <a:pt x="18288000" y="10281644"/>
                </a:lnTo>
                <a:lnTo>
                  <a:pt x="0" y="10281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876300" y="730372"/>
            <a:ext cx="16535400" cy="8826256"/>
            <a:chOff x="0" y="0"/>
            <a:chExt cx="4355002" cy="23246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55002" cy="2324611"/>
            </a:xfrm>
            <a:custGeom>
              <a:avLst/>
              <a:gdLst/>
              <a:ahLst/>
              <a:cxnLst/>
              <a:rect l="l" t="t" r="r" b="b"/>
              <a:pathLst>
                <a:path w="4355002" h="2324611">
                  <a:moveTo>
                    <a:pt x="0" y="0"/>
                  </a:moveTo>
                  <a:lnTo>
                    <a:pt x="4355002" y="0"/>
                  </a:lnTo>
                  <a:lnTo>
                    <a:pt x="4355002" y="2324611"/>
                  </a:lnTo>
                  <a:lnTo>
                    <a:pt x="0" y="23246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55002" cy="23627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875196" y="4211267"/>
            <a:ext cx="14537608" cy="0"/>
          </a:xfrm>
          <a:prstGeom prst="line">
            <a:avLst/>
          </a:prstGeom>
          <a:ln w="9525" cap="flat">
            <a:solidFill>
              <a:srgbClr val="7F90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4594930" y="2638697"/>
            <a:ext cx="9098140" cy="1427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79"/>
              </a:lnSpc>
              <a:spcBef>
                <a:spcPct val="0"/>
              </a:spcBef>
            </a:pPr>
            <a:r>
              <a:rPr lang="en-US" sz="8699" dirty="0">
                <a:solidFill>
                  <a:srgbClr val="7F90D4"/>
                </a:solidFill>
                <a:latin typeface="+mn-ea"/>
                <a:cs typeface="TDTD한강고딕"/>
                <a:sym typeface="TDTD한강고딕"/>
              </a:rPr>
              <a:t>THANK YOU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70446" y="4501780"/>
            <a:ext cx="14537608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4000" b="1" dirty="0" err="1">
                <a:solidFill>
                  <a:srgbClr val="545454"/>
                </a:solidFill>
                <a:latin typeface="+mn-ea"/>
                <a:cs typeface="윤고딕 Light"/>
                <a:sym typeface="윤고딕 Light"/>
              </a:rPr>
              <a:t>감사합니다</a:t>
            </a:r>
            <a:endParaRPr lang="en-US" sz="4000" b="1" dirty="0">
              <a:solidFill>
                <a:srgbClr val="545454"/>
              </a:solidFill>
              <a:latin typeface="+mn-ea"/>
              <a:cs typeface="윤고딕 Light"/>
              <a:sym typeface="윤고딕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280</Words>
  <Application>Microsoft Office PowerPoint</Application>
  <PresentationFormat>사용자 지정</PresentationFormat>
  <Paragraphs>87</Paragraphs>
  <Slides>10</Slides>
  <Notes>5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TDTD한강고딕</vt:lpstr>
      <vt:lpstr>맑은 고딕</vt:lpstr>
      <vt:lpstr>윤고딕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임베디드 시스템 발표 자료</dc:title>
  <cp:lastModifiedBy>영훈 권</cp:lastModifiedBy>
  <cp:revision>13</cp:revision>
  <dcterms:created xsi:type="dcterms:W3CDTF">2006-08-16T00:00:00Z</dcterms:created>
  <dcterms:modified xsi:type="dcterms:W3CDTF">2025-06-17T17:23:38Z</dcterms:modified>
  <cp:version/>
</cp:coreProperties>
</file>