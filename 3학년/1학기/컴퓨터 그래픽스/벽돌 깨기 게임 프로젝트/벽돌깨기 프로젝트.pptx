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6" r:id="rId8"/>
    <p:sldId id="265" r:id="rId9"/>
    <p:sldId id="264" r:id="rId10"/>
    <p:sldId id="261" r:id="rId11"/>
    <p:sldId id="263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7900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765007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669384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82659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20.png"  /><Relationship Id="rId11" Type="http://schemas.openxmlformats.org/officeDocument/2006/relationships/image" Target="../media/image21.png"  /><Relationship Id="rId12" Type="http://schemas.openxmlformats.org/officeDocument/2006/relationships/image" Target="../media/image22.png"  /><Relationship Id="rId13" Type="http://schemas.openxmlformats.org/officeDocument/2006/relationships/image" Target="../media/image23.png"  /><Relationship Id="rId14" Type="http://schemas.openxmlformats.org/officeDocument/2006/relationships/image" Target="../media/image24.png"  /><Relationship Id="rId15" Type="http://schemas.openxmlformats.org/officeDocument/2006/relationships/image" Target="../media/image23.png"  /><Relationship Id="rId16" Type="http://schemas.openxmlformats.org/officeDocument/2006/relationships/image" Target="../media/image25.png"  /><Relationship Id="rId17" Type="http://schemas.openxmlformats.org/officeDocument/2006/relationships/image" Target="../media/image16.png"  /><Relationship Id="rId18" Type="http://schemas.openxmlformats.org/officeDocument/2006/relationships/image" Target="../media/image22.png"  /><Relationship Id="rId19" Type="http://schemas.openxmlformats.org/officeDocument/2006/relationships/image" Target="../media/image26.png"  /><Relationship Id="rId2" Type="http://schemas.openxmlformats.org/officeDocument/2006/relationships/slideLayout" Target="../slideLayouts/slideLayout7.xml"  /><Relationship Id="rId20" Type="http://schemas.openxmlformats.org/officeDocument/2006/relationships/image" Target="../media/image25.png"  /><Relationship Id="rId21" Type="http://schemas.openxmlformats.org/officeDocument/2006/relationships/image" Target="../media/image21.png"  /><Relationship Id="rId22" Type="http://schemas.openxmlformats.org/officeDocument/2006/relationships/image" Target="../media/image19.png"  /><Relationship Id="rId23" Type="http://schemas.openxmlformats.org/officeDocument/2006/relationships/image" Target="../media/image19.png"  /><Relationship Id="rId24" Type="http://schemas.openxmlformats.org/officeDocument/2006/relationships/image" Target="../media/image25.png"  /><Relationship Id="rId25" Type="http://schemas.openxmlformats.org/officeDocument/2006/relationships/image" Target="../media/image23.png"  /><Relationship Id="rId26" Type="http://schemas.openxmlformats.org/officeDocument/2006/relationships/image" Target="../media/image23.png"  /><Relationship Id="rId27" Type="http://schemas.openxmlformats.org/officeDocument/2006/relationships/image" Target="../media/image23.png"  /><Relationship Id="rId28" Type="http://schemas.openxmlformats.org/officeDocument/2006/relationships/image" Target="../media/image23.png"  /><Relationship Id="rId29" Type="http://schemas.openxmlformats.org/officeDocument/2006/relationships/image" Target="../media/image25.png"  /><Relationship Id="rId3" Type="http://schemas.openxmlformats.org/officeDocument/2006/relationships/image" Target="../media/image16.png"  /><Relationship Id="rId30" Type="http://schemas.openxmlformats.org/officeDocument/2006/relationships/image" Target="../media/image15.png"  /><Relationship Id="rId4" Type="http://schemas.openxmlformats.org/officeDocument/2006/relationships/image" Target="../media/image17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Relationship Id="rId7" Type="http://schemas.openxmlformats.org/officeDocument/2006/relationships/image" Target="../media/image14.png"  /><Relationship Id="rId8" Type="http://schemas.openxmlformats.org/officeDocument/2006/relationships/image" Target="../media/image18.png"  /><Relationship Id="rId9" Type="http://schemas.openxmlformats.org/officeDocument/2006/relationships/image" Target="../media/image19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8.png"  /><Relationship Id="rId11" Type="http://schemas.openxmlformats.org/officeDocument/2006/relationships/image" Target="../media/image29.png"  /><Relationship Id="rId12" Type="http://schemas.openxmlformats.org/officeDocument/2006/relationships/image" Target="../media/image30.png"  /><Relationship Id="rId13" Type="http://schemas.openxmlformats.org/officeDocument/2006/relationships/image" Target="../media/image15.png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27.png"  /><Relationship Id="rId6" Type="http://schemas.openxmlformats.org/officeDocument/2006/relationships/image" Target="../media/image28.png"  /><Relationship Id="rId7" Type="http://schemas.openxmlformats.org/officeDocument/2006/relationships/image" Target="../media/image29.png"  /><Relationship Id="rId8" Type="http://schemas.openxmlformats.org/officeDocument/2006/relationships/image" Target="../media/image30.png"  /><Relationship Id="rId9" Type="http://schemas.openxmlformats.org/officeDocument/2006/relationships/image" Target="../media/image2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31.png"  /><Relationship Id="rId7" Type="http://schemas.openxmlformats.org/officeDocument/2006/relationships/image" Target="../media/image1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31.png"  /><Relationship Id="rId6" Type="http://schemas.openxmlformats.org/officeDocument/2006/relationships/image" Target="../media/image31.png"  /><Relationship Id="rId7" Type="http://schemas.openxmlformats.org/officeDocument/2006/relationships/image" Target="../media/image15.png"  /><Relationship Id="rId8" Type="http://schemas.openxmlformats.org/officeDocument/2006/relationships/image" Target="../media/image3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15.png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31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3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Relationship Id="rId6" Type="http://schemas.openxmlformats.org/officeDocument/2006/relationships/image" Target="../media/image32.png"  /><Relationship Id="rId7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1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47800" y="2603500"/>
            <a:ext cx="15646400" cy="3086100"/>
          </a:xfrm>
          <a:prstGeom prst="rect">
            <a:avLst/>
          </a:prstGeom>
          <a:effectLst>
            <a:outerShdw blurRad="95022" dist="47521" dir="2700000">
              <a:srgbClr val="000000">
                <a:alpha val="4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67200" y="850900"/>
            <a:ext cx="1981200" cy="584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457700" y="647700"/>
            <a:ext cx="1933574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latin typeface="Noto Sans CJK KR Medium"/>
              </a:rPr>
              <a:t> Pentagon</a:t>
            </a:r>
            <a:endParaRPr lang="en-US" altLang="ko-KR" sz="3000" b="0" i="0" u="none" strike="noStrike" spc="-100">
              <a:solidFill>
                <a:srgbClr val="ffffff"/>
              </a:solidFill>
              <a:latin typeface="Noto Sans CJK KR Medi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00200" y="3302000"/>
            <a:ext cx="15011400" cy="1231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7000" b="1" i="0" u="none" strike="noStrike" spc="-100">
                <a:solidFill>
                  <a:srgbClr val="9daeff"/>
                </a:solidFill>
                <a:ea typeface="Noto Sans CJK KR Regular"/>
              </a:rPr>
              <a:t>펜타곤 벽돌 깨기 게임 </a:t>
            </a:r>
            <a:r>
              <a:rPr lang="ko-KR" altLang="en-US" sz="7000" b="1" i="0" u="none" strike="noStrike" spc="-100">
                <a:solidFill>
                  <a:srgbClr val="ffffff"/>
                </a:solidFill>
                <a:ea typeface="Noto Sans CJK KR Regular"/>
              </a:rPr>
              <a:t>제작 프</a:t>
            </a:r>
            <a:r>
              <a:rPr lang="ko-KR" sz="7000" b="1" i="0" u="none" strike="noStrike" spc="-100">
                <a:solidFill>
                  <a:srgbClr val="ffffff"/>
                </a:solidFill>
                <a:ea typeface="Noto Sans CJK KR Regular"/>
              </a:rPr>
              <a:t>로젝트</a:t>
            </a:r>
            <a:endParaRPr lang="ko-KR" sz="7000" b="1" i="0" u="none" strike="noStrike" spc="-100">
              <a:solidFill>
                <a:srgbClr val="ffffff"/>
              </a:solidFill>
              <a:ea typeface="Noto Sans CJK KR Regular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629400" y="850900"/>
            <a:ext cx="3162300" cy="584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910387" y="863600"/>
            <a:ext cx="27432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latin typeface="Noto Sans CJK KR Medium"/>
              </a:rPr>
              <a:t> Brick out Game</a:t>
            </a:r>
            <a:endParaRPr lang="en-US" altLang="ko-KR" sz="3000" b="0" i="0" u="none" strike="noStrike" spc="-100">
              <a:solidFill>
                <a:srgbClr val="ffffff"/>
              </a:solidFill>
              <a:latin typeface="Noto Sans CJK KR Medium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72700" y="850900"/>
            <a:ext cx="2628900" cy="584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363200" y="850900"/>
            <a:ext cx="21336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latin typeface="Noto Sans CJK KR Medium"/>
              </a:rPr>
              <a:t>Development</a:t>
            </a:r>
            <a:endParaRPr lang="en-US" altLang="ko-KR" sz="3000" b="0" i="0" u="none" strike="noStrike" spc="-100">
              <a:solidFill>
                <a:srgbClr val="ffffff"/>
              </a:solidFill>
              <a:latin typeface="Noto Sans CJK KR Mediu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106400" y="850900"/>
            <a:ext cx="2057400" cy="5842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60600" y="977900"/>
            <a:ext cx="330200" cy="33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95600" y="977900"/>
            <a:ext cx="330200" cy="330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530600" y="977900"/>
            <a:ext cx="330200" cy="3302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044700" y="2959100"/>
            <a:ext cx="203200" cy="203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2425700" y="2959100"/>
            <a:ext cx="203200" cy="20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2806700" y="2959100"/>
            <a:ext cx="203200" cy="2032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398500" y="876300"/>
            <a:ext cx="14478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latin typeface="Noto Sans CJK KR Medium"/>
              </a:rPr>
              <a:t>  P</a:t>
            </a:r>
            <a:r>
              <a:rPr lang="en-US" sz="3000" b="0" i="0" u="none" strike="noStrike" spc="-100">
                <a:solidFill>
                  <a:srgbClr val="ffffff"/>
                </a:solidFill>
                <a:latin typeface="Noto Sans CJK KR Medium"/>
              </a:rPr>
              <a:t>roject</a:t>
            </a:r>
            <a:endParaRPr lang="en-US" sz="3000" b="0" i="0" u="none" strike="noStrike" spc="-100">
              <a:solidFill>
                <a:srgbClr val="ffffff"/>
              </a:solidFill>
              <a:latin typeface="Noto Sans CJK KR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16000" y="977900"/>
            <a:ext cx="850900" cy="8432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 9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10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11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12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13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15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16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17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18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19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20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21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22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23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25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26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877801" y="6038850"/>
            <a:ext cx="4114800" cy="207645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63510"/>
              </a:lnSpc>
              <a:defRPr/>
            </a:pPr>
            <a:r>
              <a:rPr lang="en-US" altLang="ko-KR" sz="2300" b="1" i="0" u="none" strike="noStrike">
                <a:solidFill>
                  <a:srgbClr val="9daeff"/>
                </a:solidFill>
                <a:latin typeface="Noto Sans CJK KR DemiLight"/>
              </a:rPr>
              <a:t>2025</a:t>
            </a:r>
            <a:r>
              <a:rPr lang="ko-KR" altLang="en-US" sz="2300" b="1" i="0" u="none" strike="noStrike">
                <a:solidFill>
                  <a:srgbClr val="9daeff"/>
                </a:solidFill>
                <a:latin typeface="Noto Sans CJK KR DemiLight"/>
              </a:rPr>
              <a:t>학년도 컴퓨터 그래픽스</a:t>
            </a:r>
            <a:endParaRPr lang="ko-KR" altLang="en-US" sz="2300" b="1" i="0" u="none" strike="noStrike">
              <a:solidFill>
                <a:srgbClr val="9daeff"/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altLang="ko-KR" sz="2300" b="1" i="0" u="none" strike="noStrike">
                <a:solidFill>
                  <a:srgbClr val="9daeff"/>
                </a:solidFill>
                <a:latin typeface="Noto Sans CJK KR DemiLight"/>
              </a:rPr>
              <a:t>20213032</a:t>
            </a:r>
            <a:r>
              <a:rPr lang="ko-KR" altLang="en-US" sz="2300" b="1" i="0" u="none" strike="noStrike">
                <a:solidFill>
                  <a:srgbClr val="9daeff"/>
                </a:solidFill>
                <a:latin typeface="Noto Sans CJK KR DemiLight"/>
              </a:rPr>
              <a:t> 권영훈</a:t>
            </a:r>
            <a:endParaRPr lang="ko-KR" altLang="en-US" sz="2300" b="1" i="0" u="none" strike="noStrike">
              <a:solidFill>
                <a:srgbClr val="9daeff"/>
              </a:solidFill>
              <a:latin typeface="Noto Sans CJK KR DemiLigh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438400" y="4533900"/>
            <a:ext cx="4000500" cy="330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63510"/>
              </a:lnSpc>
              <a:defRPr/>
            </a:pPr>
            <a:r>
              <a:rPr lang="en-US" altLang="ko-KR" sz="1800" b="1" i="0" u="none" strike="noStrike">
                <a:solidFill>
                  <a:srgbClr val="ffffff"/>
                </a:solidFill>
                <a:latin typeface="Noto Sans CJK KR DemiLight"/>
              </a:rPr>
              <a:t>Pentagon Brickout Game</a:t>
            </a:r>
            <a:r>
              <a:rPr lang="en-US" sz="1800" b="1" i="0" u="none" strike="noStrike">
                <a:solidFill>
                  <a:srgbClr val="ffffff"/>
                </a:solidFill>
                <a:latin typeface="Noto Sans CJK KR DemiLight"/>
              </a:rPr>
              <a:t> project__</a:t>
            </a:r>
            <a:endParaRPr lang="en-US" sz="1800" b="1" i="0" u="none" strike="noStrike">
              <a:solidFill>
                <a:srgbClr val="ffffff"/>
              </a:solidFill>
              <a:latin typeface="Noto Sans CJK KR DemiLight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1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60600" y="977900"/>
            <a:ext cx="330200" cy="330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95600" y="977900"/>
            <a:ext cx="330200" cy="33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30600" y="977900"/>
            <a:ext cx="330200" cy="3302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016000" y="977900"/>
            <a:ext cx="850900" cy="843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 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16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17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18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26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165600" y="647700"/>
            <a:ext cx="11383963" cy="895475"/>
          </a:xfrm>
          <a:prstGeom prst="rect">
            <a:avLst/>
          </a:prstGeom>
        </p:spPr>
      </p:pic>
      <p:sp>
        <p:nvSpPr>
          <p:cNvPr id="28" name="가로 글상자 27"/>
          <p:cNvSpPr txBox="1"/>
          <p:nvPr/>
        </p:nvSpPr>
        <p:spPr>
          <a:xfrm>
            <a:off x="7848600" y="1605149"/>
            <a:ext cx="2590800" cy="145148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lnSpc>
                <a:spcPct val="182600"/>
              </a:lnSpc>
              <a:defRPr/>
            </a:pPr>
            <a:r>
              <a:rPr lang="ko-KR" altLang="en-US" sz="4900" b="1" i="0" u="none" strike="noStrike" spc="-100">
                <a:solidFill>
                  <a:srgbClr val="ffffff"/>
                </a:solidFill>
                <a:latin typeface="Noto Sans CJK KR Regular"/>
              </a:rPr>
              <a:t>목 차</a:t>
            </a:r>
            <a:endParaRPr lang="ko-KR" altLang="en-US" sz="49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0" name="가로 글상자 29"/>
          <p:cNvSpPr txBox="1"/>
          <p:nvPr/>
        </p:nvSpPr>
        <p:spPr>
          <a:xfrm>
            <a:off x="2209799" y="4029965"/>
            <a:ext cx="7848600" cy="1339215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4500" b="1" i="0" u="none" strike="noStrike" spc="-100">
                <a:solidFill>
                  <a:srgbClr val="ffffff"/>
                </a:solidFill>
                <a:ea typeface="Noto Sans CJK KR Regular"/>
              </a:rPr>
              <a:t>2. 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소스코드 구조 및 게임 요소</a:t>
            </a:r>
            <a:r>
              <a:rPr lang="en-US" altLang="ko-KR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endParaRPr lang="en-US" altLang="ko-KR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1" name="가로 글상자 30"/>
          <p:cNvSpPr txBox="1"/>
          <p:nvPr/>
        </p:nvSpPr>
        <p:spPr>
          <a:xfrm>
            <a:off x="2209800" y="5390005"/>
            <a:ext cx="7848600" cy="1332740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4500" b="1" i="0" u="none" strike="noStrike" spc="-100">
                <a:solidFill>
                  <a:srgbClr val="ffffff"/>
                </a:solidFill>
                <a:ea typeface="Noto Sans CJK KR Regular"/>
              </a:rPr>
              <a:t>3. 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사용자 입력 및 물리 엔진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endParaRPr lang="en-US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2209799" y="6743700"/>
            <a:ext cx="7848600" cy="1331595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4500" b="1" i="0" u="none" strike="noStrike" spc="-100">
                <a:solidFill>
                  <a:srgbClr val="ffffff"/>
                </a:solidFill>
                <a:ea typeface="Noto Sans CJK KR Regular"/>
              </a:rPr>
              <a:t>4. 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게임 실행 과정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endParaRPr lang="en-US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3" name="가로 글상자 32"/>
          <p:cNvSpPr txBox="1"/>
          <p:nvPr/>
        </p:nvSpPr>
        <p:spPr>
          <a:xfrm>
            <a:off x="2209800" y="8086600"/>
            <a:ext cx="7848600" cy="1339216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4500" b="1" i="0" u="none" strike="noStrike" spc="-100">
                <a:solidFill>
                  <a:srgbClr val="ffffff"/>
                </a:solidFill>
                <a:ea typeface="Noto Sans CJK KR Regular"/>
              </a:rPr>
              <a:t>5. 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소감 및 향후 개발 방향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endParaRPr lang="en-US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4" name="가로 글상자 33"/>
          <p:cNvSpPr txBox="1"/>
          <p:nvPr/>
        </p:nvSpPr>
        <p:spPr>
          <a:xfrm>
            <a:off x="2209800" y="2682619"/>
            <a:ext cx="7848600" cy="1339215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4500" b="1" i="0" u="none" strike="noStrike" spc="-100">
                <a:solidFill>
                  <a:srgbClr val="ffffff"/>
                </a:solidFill>
                <a:ea typeface="Noto Sans CJK KR Regular"/>
              </a:rPr>
              <a:t>1. </a:t>
            </a:r>
            <a:r>
              <a:rPr lang="ko-KR" altLang="en-US" sz="4500" b="1" i="0" u="none" strike="noStrike" spc="-100">
                <a:solidFill>
                  <a:srgbClr val="ffffff"/>
                </a:solidFill>
                <a:ea typeface="Noto Sans CJK KR Regular"/>
              </a:rPr>
              <a:t>개발환경 및 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 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주요 기능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endParaRPr lang="en-US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5" name="TextBox 4"/>
          <p:cNvSpPr txBox="1"/>
          <p:nvPr/>
        </p:nvSpPr>
        <p:spPr>
          <a:xfrm>
            <a:off x="9906000" y="3390900"/>
            <a:ext cx="7010400" cy="3048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lvl="0" indent="0" algn="l" defTabSz="232257" rtl="0" eaLnBrk="1" latinLnBrk="0" hangingPunct="1">
              <a:lnSpc>
                <a:spcPct val="1826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sz="1800" b="1" i="0" u="none" strike="noStrike" kern="1200" cap="none" spc="0" normalizeH="0" baseline="0" mc:Ignorable="hp" hp:hslEmbossed="0">
                <a:solidFill>
                  <a:srgbClr val="9daeff"/>
                </a:solidFill>
                <a:latin typeface="Noto Sans CJK KR Regular"/>
              </a:rPr>
              <a:t>Development environment and key functions ___</a:t>
            </a:r>
            <a:endParaRPr xmlns:mc="http://schemas.openxmlformats.org/markup-compatibility/2006" xmlns:hp="http://schemas.haansoft.com/office/presentation/8.0" kumimoji="0" lang="en-US" sz="1800" b="1" i="0" u="none" strike="noStrike" kern="1200" cap="none" spc="0" normalizeH="0" baseline="0" mc:Ignorable="hp" hp:hslEmbossed="0">
              <a:solidFill>
                <a:srgbClr val="9daeff"/>
              </a:solidFill>
              <a:latin typeface="Noto Sans CJK KR Regular"/>
            </a:endParaRPr>
          </a:p>
        </p:txBody>
      </p:sp>
      <p:sp>
        <p:nvSpPr>
          <p:cNvPr id="36" name="가로 글상자 35"/>
          <p:cNvSpPr txBox="1"/>
          <p:nvPr/>
        </p:nvSpPr>
        <p:spPr>
          <a:xfrm>
            <a:off x="9829799" y="4518713"/>
            <a:ext cx="9144001" cy="594307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1800" b="1" i="0" u="none" strike="noStrike">
                <a:solidFill>
                  <a:srgbClr val="9daeff"/>
                </a:solidFill>
                <a:latin typeface="Noto Sans CJK KR Regular"/>
              </a:rPr>
              <a:t>Source Code Structure And Game Elements __</a:t>
            </a:r>
            <a:endParaRPr lang="en-US" altLang="ko-KR" sz="1800" b="1" i="0" u="none" strike="noStrike">
              <a:solidFill>
                <a:srgbClr val="9daeff"/>
              </a:solidFill>
              <a:latin typeface="Noto Sans CJK KR Regular"/>
            </a:endParaRPr>
          </a:p>
        </p:txBody>
      </p:sp>
      <p:sp>
        <p:nvSpPr>
          <p:cNvPr id="37" name="가로 글상자 36"/>
          <p:cNvSpPr txBox="1"/>
          <p:nvPr/>
        </p:nvSpPr>
        <p:spPr>
          <a:xfrm>
            <a:off x="9829801" y="5817085"/>
            <a:ext cx="8382000" cy="592349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1800" b="1" i="0" u="none" strike="noStrike">
                <a:solidFill>
                  <a:srgbClr val="9daeff"/>
                </a:solidFill>
                <a:latin typeface="Noto Sans CJK KR Regular"/>
              </a:rPr>
              <a:t>User Input and Physical Engine __</a:t>
            </a:r>
            <a:endParaRPr lang="en-US" altLang="ko-KR" sz="1800" b="1" i="0" u="none" strike="noStrike">
              <a:solidFill>
                <a:srgbClr val="9daeff"/>
              </a:solidFill>
              <a:latin typeface="Noto Sans CJK KR Regular"/>
            </a:endParaRPr>
          </a:p>
        </p:txBody>
      </p:sp>
      <p:sp>
        <p:nvSpPr>
          <p:cNvPr id="38" name="가로 글상자 37"/>
          <p:cNvSpPr txBox="1"/>
          <p:nvPr/>
        </p:nvSpPr>
        <p:spPr>
          <a:xfrm>
            <a:off x="9829800" y="7113500"/>
            <a:ext cx="9144000" cy="592349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1800" b="1" i="0" u="none" strike="noStrike">
                <a:solidFill>
                  <a:srgbClr val="9daeff"/>
                </a:solidFill>
                <a:latin typeface="Noto Sans CJK KR Regular"/>
              </a:rPr>
              <a:t>The process of executing a Game __</a:t>
            </a:r>
            <a:endParaRPr lang="en-US" altLang="ko-KR" sz="1800" b="1" i="0" u="none" strike="noStrike">
              <a:solidFill>
                <a:srgbClr val="9daeff"/>
              </a:solidFill>
              <a:latin typeface="Noto Sans CJK KR Regular"/>
            </a:endParaRPr>
          </a:p>
        </p:txBody>
      </p:sp>
      <p:sp>
        <p:nvSpPr>
          <p:cNvPr id="39" name="가로 글상자 38"/>
          <p:cNvSpPr txBox="1"/>
          <p:nvPr/>
        </p:nvSpPr>
        <p:spPr>
          <a:xfrm>
            <a:off x="9829800" y="8528862"/>
            <a:ext cx="9144000" cy="594183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1800" b="1" i="0" u="none" strike="noStrike">
                <a:solidFill>
                  <a:srgbClr val="9daeff"/>
                </a:solidFill>
                <a:latin typeface="Noto Sans CJK KR Regular"/>
              </a:rPr>
              <a:t>The impression and future development directions __</a:t>
            </a:r>
            <a:endParaRPr lang="en-US" altLang="ko-KR" sz="1800" b="1" i="0" u="none" strike="noStrike">
              <a:solidFill>
                <a:srgbClr val="9daeff"/>
              </a:solidFill>
              <a:latin typeface="Noto Sans CJK KR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1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286000" y="3676775"/>
            <a:ext cx="7010400" cy="3048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lvl="0" indent="0" algn="l" defTabSz="232257" rtl="0" eaLnBrk="1" latinLnBrk="0" hangingPunct="1">
              <a:lnSpc>
                <a:spcPct val="1826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sz="1800" b="1" i="0" u="none" strike="noStrike" kern="1200" cap="none" spc="0" normalizeH="0" baseline="0" mc:Ignorable="hp" hp:hslEmbossed="0">
                <a:solidFill>
                  <a:srgbClr val="9daeff"/>
                </a:solidFill>
                <a:latin typeface="Noto Sans CJK KR Regular"/>
              </a:rPr>
              <a:t>Development environment and key functions ___</a:t>
            </a:r>
            <a:endParaRPr xmlns:mc="http://schemas.openxmlformats.org/markup-compatibility/2006" xmlns:hp="http://schemas.haansoft.com/office/presentation/8.0" kumimoji="0" lang="en-US" sz="1800" b="1" i="0" u="none" strike="noStrike" kern="1200" cap="none" spc="0" normalizeH="0" baseline="0" mc:Ignorable="hp" hp:hslEmbossed="0">
              <a:solidFill>
                <a:srgbClr val="9daeff"/>
              </a:solidFill>
              <a:latin typeface="Noto Sans CJK KR Regular"/>
            </a:endParaRPr>
          </a:p>
        </p:txBody>
      </p:sp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60600" y="977900"/>
            <a:ext cx="330200" cy="330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95600" y="977900"/>
            <a:ext cx="330200" cy="33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30600" y="977900"/>
            <a:ext cx="330200" cy="3302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016000" y="977900"/>
            <a:ext cx="850900" cy="843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 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16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17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18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60600" y="4610100"/>
            <a:ext cx="2425700" cy="317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en-US" sz="2500" b="1" i="0" u="none" strike="noStrike">
                <a:solidFill>
                  <a:srgbClr val="9daeff"/>
                </a:solidFill>
                <a:latin typeface="Noto Sans CJK KR Regular"/>
              </a:rPr>
              <a:t> </a:t>
            </a:r>
            <a:r>
              <a:rPr lang="ko-KR" altLang="en-US" sz="2500" b="1" i="0" u="none" strike="noStrike">
                <a:solidFill>
                  <a:srgbClr val="9daeff"/>
                </a:solidFill>
                <a:ea typeface="Noto Sans CJK KR Regular"/>
              </a:rPr>
              <a:t>개발 환경</a:t>
            </a:r>
            <a:endParaRPr lang="ko-KR" altLang="en-US" sz="2500" b="1" i="0" u="none" strike="noStrike">
              <a:solidFill>
                <a:srgbClr val="9daeff"/>
              </a:solidFill>
              <a:ea typeface="Noto Sans CJK KR Regula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601200" y="4622800"/>
            <a:ext cx="2425700" cy="317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ko-KR" altLang="en-US" sz="2500" b="1" i="0" u="none" strike="noStrike">
                <a:solidFill>
                  <a:srgbClr val="9daeff"/>
                </a:solidFill>
                <a:ea typeface="Noto Sans CJK KR Regular"/>
              </a:rPr>
              <a:t>주요 기능</a:t>
            </a:r>
            <a:endParaRPr lang="ko-KR" altLang="en-US" sz="2500" b="1" i="0" u="none" strike="noStrike">
              <a:solidFill>
                <a:srgbClr val="9daeff"/>
              </a:solidFill>
              <a:ea typeface="Noto Sans CJK KR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601200" y="5232400"/>
            <a:ext cx="7696200" cy="3873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1.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Regular"/>
              </a:rPr>
              <a:t> 오각형 경계 공간 내 공과 벽</a:t>
            </a: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,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Regular"/>
              </a:rPr>
              <a:t> 패들 간의 충돌</a:t>
            </a:r>
            <a:endParaRPr lang="ko-KR" altLang="en-US" sz="3000" b="0" i="0" u="none" strike="noStrike" spc="-100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2.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Regular"/>
              </a:rPr>
              <a:t> 공과 패들의 일정 횟수 충돌 시 스피드 업</a:t>
            </a:r>
            <a:endParaRPr lang="ko-KR" altLang="en-US" sz="3000" b="0" i="0" u="none" strike="noStrike" spc="-100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3.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Regular"/>
              </a:rPr>
              <a:t>게임 시작 및 게임 클리어 후 재시작</a:t>
            </a:r>
            <a:endParaRPr lang="ko-KR" altLang="en-US" sz="3000" b="0" i="0" u="none" strike="noStrike" spc="-100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4. 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Regular"/>
              </a:rPr>
              <a:t>게임 클리어 타임 기록</a:t>
            </a:r>
            <a:endParaRPr lang="ko-KR" altLang="en-US" sz="3000" b="0" i="0" u="none" strike="noStrike" spc="-100">
              <a:solidFill>
                <a:srgbClr val="ffffff"/>
              </a:solidFill>
              <a:ea typeface="Noto Sans CJK KR Regular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2209800" y="5308599"/>
            <a:ext cx="7162800" cy="3873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1.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Regular"/>
              </a:rPr>
              <a:t> 언어</a:t>
            </a: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C++</a:t>
            </a:r>
            <a:endParaRPr lang="en-US" altLang="ko-KR" sz="3000" b="0" i="0" u="none" strike="noStrike" spc="-100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2. 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Regular"/>
              </a:rPr>
              <a:t>그래픽스</a:t>
            </a: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OpenGL, GLUT</a:t>
            </a:r>
            <a:endParaRPr lang="en-US" altLang="ko-KR" sz="3000" b="0" i="0" u="none" strike="noStrike" spc="-100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3.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Regular"/>
              </a:rPr>
              <a:t> 개발 도구</a:t>
            </a: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: Visual Studio, Chat GPT, Perplexity.ai</a:t>
            </a:r>
            <a:endParaRPr lang="en-US" altLang="ko-KR" sz="3000" b="0" i="0" u="none" strike="noStrike" spc="-100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Regular"/>
              </a:rPr>
              <a:t>4. 헤더: windows.h, gl/gl.h, gl/glut.h 등</a:t>
            </a:r>
            <a:endParaRPr lang="ko-KR" altLang="en-US" sz="3000" b="0" i="0" u="none" strike="noStrike" spc="-100">
              <a:solidFill>
                <a:srgbClr val="ffffff"/>
              </a:solidFill>
              <a:ea typeface="Noto Sans CJK KR Regular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165600" y="647700"/>
            <a:ext cx="11383963" cy="895475"/>
          </a:xfrm>
          <a:prstGeom prst="rect">
            <a:avLst/>
          </a:prstGeom>
        </p:spPr>
      </p:pic>
      <p:sp>
        <p:nvSpPr>
          <p:cNvPr id="25" name="가로 글상자 24"/>
          <p:cNvSpPr txBox="1"/>
          <p:nvPr/>
        </p:nvSpPr>
        <p:spPr>
          <a:xfrm>
            <a:off x="2133600" y="2171700"/>
            <a:ext cx="7848600" cy="1331595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4500" b="1" i="0" u="none" strike="noStrike" spc="-100">
                <a:solidFill>
                  <a:srgbClr val="ffffff"/>
                </a:solidFill>
                <a:ea typeface="Noto Sans CJK KR Regular"/>
              </a:rPr>
              <a:t>1. </a:t>
            </a:r>
            <a:r>
              <a:rPr lang="ko-KR" altLang="en-US" sz="4500" b="1" i="0" u="none" strike="noStrike" spc="-100">
                <a:solidFill>
                  <a:srgbClr val="ffffff"/>
                </a:solidFill>
                <a:ea typeface="Noto Sans CJK KR Regular"/>
              </a:rPr>
              <a:t>개발환경 및 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 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주요 기능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endParaRPr lang="en-US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1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37400" y="4152900"/>
            <a:ext cx="4419599" cy="4724400"/>
          </a:xfrm>
          <a:prstGeom prst="rect">
            <a:avLst/>
          </a:prstGeom>
          <a:effectLst>
            <a:outerShdw blurRad="202441" dist="69362" dir="2700000">
              <a:srgbClr val="000000">
                <a:alpha val="4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362200" y="4168274"/>
            <a:ext cx="4417876" cy="4709025"/>
          </a:xfrm>
          <a:prstGeom prst="rect">
            <a:avLst/>
          </a:prstGeom>
          <a:effectLst>
            <a:outerShdw blurRad="204715" dist="69751" dir="2700000">
              <a:srgbClr val="000000">
                <a:alpha val="45000"/>
              </a:srgbClr>
            </a:outerShdw>
          </a:effectLst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60600" y="977900"/>
            <a:ext cx="330200" cy="330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95600" y="977900"/>
            <a:ext cx="330200" cy="33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530600" y="977900"/>
            <a:ext cx="330200" cy="3302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16000" y="977900"/>
            <a:ext cx="1358900" cy="843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 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16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17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18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26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438400" y="4229100"/>
            <a:ext cx="4189485" cy="930309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4356099" y="5152081"/>
            <a:ext cx="228600" cy="406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667000" y="4292600"/>
            <a:ext cx="3657600" cy="774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1" i="0" u="none" strike="noStrike" spc="-100">
                <a:solidFill>
                  <a:srgbClr val="1b1e31"/>
                </a:solidFill>
                <a:ea typeface="Noto Sans CJK KR Medium"/>
              </a:rPr>
              <a:t>헤더 파일</a:t>
            </a:r>
            <a:endParaRPr lang="en-US" altLang="ko-KR" sz="3000" b="1" i="0" u="none" strike="noStrike" spc="-100">
              <a:solidFill>
                <a:srgbClr val="1b1e31"/>
              </a:solidFill>
              <a:ea typeface="Noto Sans CJK KR Medium"/>
            </a:endParaRPr>
          </a:p>
          <a:p>
            <a:pPr lvl="0" algn="ctr">
              <a:lnSpc>
                <a:spcPct val="99600"/>
              </a:lnSpc>
              <a:defRPr/>
            </a:pPr>
            <a:r>
              <a:rPr lang="en-US" altLang="ko-KR" sz="3000" b="1" i="0" u="none" strike="noStrike" spc="-100">
                <a:solidFill>
                  <a:srgbClr val="1b1e31"/>
                </a:solidFill>
                <a:ea typeface="Noto Sans CJK KR Medium"/>
              </a:rPr>
              <a:t>(brick_game.h)</a:t>
            </a:r>
            <a:endParaRPr lang="en-US" altLang="ko-KR" sz="3000" b="1" i="0" u="none" strike="noStrike" spc="-100">
              <a:solidFill>
                <a:srgbClr val="1b1e31"/>
              </a:solidFill>
              <a:ea typeface="Noto Sans CJK KR Medium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565400" y="5643262"/>
            <a:ext cx="4191000" cy="5588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2667000" y="5681362"/>
            <a:ext cx="43434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Medium"/>
              </a:rPr>
              <a:t> </a:t>
            </a:r>
            <a:r>
              <a:rPr lang="ko-KR" sz="3000" b="0" i="0" u="none" strike="noStrike" spc="-100">
                <a:solidFill>
                  <a:srgbClr val="ffffff"/>
                </a:solidFill>
                <a:ea typeface="Noto Sans CJK KR Medium"/>
              </a:rPr>
              <a:t>상수, 구조체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Medium"/>
              </a:rPr>
              <a:t> </a:t>
            </a:r>
            <a:r>
              <a:rPr lang="ko-KR" sz="3000" b="0" i="0" u="none" strike="noStrike" spc="-100">
                <a:solidFill>
                  <a:srgbClr val="ffffff"/>
                </a:solidFill>
                <a:ea typeface="Noto Sans CJK KR Medium"/>
              </a:rPr>
              <a:t>(Point, Brick) </a:t>
            </a:r>
            <a:endParaRPr lang="ko-KR" sz="3000" b="0" i="0" u="none" strike="noStrike" spc="-100">
              <a:solidFill>
                <a:srgbClr val="ffffff"/>
              </a:solidFill>
              <a:ea typeface="Noto Sans CJK KR Medium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2530960" y="6724249"/>
            <a:ext cx="4114800" cy="5588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2832100" y="7868736"/>
            <a:ext cx="31115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3000" b="0" i="0" u="none" strike="noStrike" spc="-100">
                <a:solidFill>
                  <a:srgbClr val="ffffff"/>
                </a:solidFill>
                <a:ea typeface="Noto Sans CJK KR Medium"/>
              </a:rPr>
              <a:t>전역 변수</a:t>
            </a:r>
            <a:endParaRPr lang="ko-KR" sz="3000" b="0" i="0" u="none" strike="noStrike" spc="-100">
              <a:solidFill>
                <a:srgbClr val="ffffff"/>
              </a:solidFill>
              <a:ea typeface="Noto Sans CJK KR Medium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7316167" y="4216400"/>
            <a:ext cx="4113075" cy="896689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 rot="5400000">
            <a:off x="9080500" y="5166395"/>
            <a:ext cx="228600" cy="4064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8077200" y="5709990"/>
            <a:ext cx="27432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000" i="0" u="none" strike="noStrike" spc="-100">
                <a:solidFill>
                  <a:srgbClr val="ffffff"/>
                </a:solidFill>
                <a:ea typeface="Noto Sans CJK KR Medium"/>
              </a:rPr>
              <a:t>전역 변수 정의</a:t>
            </a:r>
            <a:endParaRPr lang="en-US" altLang="ko-KR" sz="3000" i="0" u="none" strike="noStrike" spc="-100">
              <a:solidFill>
                <a:srgbClr val="ffffff"/>
              </a:solidFill>
              <a:ea typeface="Noto Sans CJK KR Medium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7302500" y="5626100"/>
            <a:ext cx="4051300" cy="5588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 rot="5400000">
            <a:off x="9131300" y="6324600"/>
            <a:ext cx="228600" cy="4064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7259880" y="6784305"/>
            <a:ext cx="4170120" cy="568995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7513880" y="6870700"/>
            <a:ext cx="3535120" cy="406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99600"/>
              </a:lnSpc>
              <a:defRPr/>
            </a:pP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Medium"/>
              </a:rPr>
              <a:t>     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Medium"/>
              </a:rPr>
              <a:t>초기화</a:t>
            </a: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Medium"/>
              </a:rPr>
              <a:t>,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Medium"/>
              </a:rPr>
              <a:t> 함수 구현</a:t>
            </a:r>
            <a:endParaRPr lang="ko-KR" altLang="en-US" sz="3000" b="0" i="0" u="none" strike="noStrike" spc="-100">
              <a:solidFill>
                <a:srgbClr val="ffffff"/>
              </a:solidFill>
              <a:ea typeface="Noto Sans CJK KR Medium"/>
            </a:endParaRPr>
          </a:p>
        </p:txBody>
      </p:sp>
      <p:sp>
        <p:nvSpPr>
          <p:cNvPr id="38" name="TextBox 20"/>
          <p:cNvSpPr txBox="1"/>
          <p:nvPr/>
        </p:nvSpPr>
        <p:spPr>
          <a:xfrm>
            <a:off x="7454142" y="4216400"/>
            <a:ext cx="3657600" cy="812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3000" b="1" i="0" u="none" strike="noStrike" spc="-100">
                <a:solidFill>
                  <a:srgbClr val="1b1e31"/>
                </a:solidFill>
                <a:ea typeface="Noto Sans CJK KR Medium"/>
              </a:rPr>
              <a:t>구현 파일 </a:t>
            </a:r>
            <a:endParaRPr lang="en-US" altLang="ko-KR" sz="3000" b="1" i="0" u="none" strike="noStrike" spc="-100">
              <a:solidFill>
                <a:srgbClr val="1b1e31"/>
              </a:solidFill>
              <a:ea typeface="Noto Sans CJK KR Medium"/>
            </a:endParaRPr>
          </a:p>
          <a:p>
            <a:pPr lvl="0" algn="ctr">
              <a:lnSpc>
                <a:spcPct val="99600"/>
              </a:lnSpc>
              <a:defRPr/>
            </a:pPr>
            <a:r>
              <a:rPr lang="en-US" altLang="ko-KR" sz="3000" b="1" i="0" u="none" strike="noStrike" spc="-100">
                <a:solidFill>
                  <a:srgbClr val="1b1e31"/>
                </a:solidFill>
                <a:ea typeface="Noto Sans CJK KR Medium"/>
              </a:rPr>
              <a:t>(Brickout Game.cpp)</a:t>
            </a:r>
            <a:endParaRPr lang="en-US" altLang="ko-KR" sz="3000" b="1" i="0" u="none" strike="noStrike" spc="-100">
              <a:solidFill>
                <a:srgbClr val="1b1e31"/>
              </a:solidFill>
              <a:ea typeface="Noto Sans CJK KR Medium"/>
            </a:endParaRPr>
          </a:p>
        </p:txBody>
      </p:sp>
      <p:pic>
        <p:nvPicPr>
          <p:cNvPr id="42" name="Picture 2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1938000" y="4152899"/>
            <a:ext cx="4419599" cy="4724400"/>
          </a:xfrm>
          <a:prstGeom prst="rect">
            <a:avLst/>
          </a:prstGeom>
          <a:effectLst>
            <a:outerShdw blurRad="202441" dist="69362" dir="2700000">
              <a:srgbClr val="000000">
                <a:alpha val="45000"/>
              </a:srgbClr>
            </a:outerShdw>
          </a:effectLst>
        </p:spPr>
      </p:pic>
      <p:pic>
        <p:nvPicPr>
          <p:cNvPr id="43" name="Picture 27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2117525" y="4246811"/>
            <a:ext cx="4113075" cy="896689"/>
          </a:xfrm>
          <a:prstGeom prst="rect">
            <a:avLst/>
          </a:prstGeom>
        </p:spPr>
      </p:pic>
      <p:sp>
        <p:nvSpPr>
          <p:cNvPr id="45" name="TextBox 20"/>
          <p:cNvSpPr txBox="1"/>
          <p:nvPr/>
        </p:nvSpPr>
        <p:spPr>
          <a:xfrm>
            <a:off x="12369800" y="4330700"/>
            <a:ext cx="3657600" cy="812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1" i="0" u="none" strike="noStrike" spc="-100">
                <a:solidFill>
                  <a:srgbClr val="1b1e31"/>
                </a:solidFill>
                <a:ea typeface="Noto Sans CJK KR Medium"/>
              </a:rPr>
              <a:t>게임 요소</a:t>
            </a:r>
            <a:endParaRPr lang="ko-KR" altLang="en-US" sz="3000" b="1" i="0" u="none" strike="noStrike" spc="-100">
              <a:solidFill>
                <a:srgbClr val="1b1e31"/>
              </a:solidFill>
              <a:ea typeface="Noto Sans CJK KR Medium"/>
            </a:endParaRPr>
          </a:p>
        </p:txBody>
      </p:sp>
      <p:pic>
        <p:nvPicPr>
          <p:cNvPr id="46" name="Picture 30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2052300" y="5632450"/>
            <a:ext cx="4203700" cy="558800"/>
          </a:xfrm>
          <a:prstGeom prst="rect">
            <a:avLst/>
          </a:prstGeom>
        </p:spPr>
      </p:pic>
      <p:sp>
        <p:nvSpPr>
          <p:cNvPr id="47" name="TextBox 29"/>
          <p:cNvSpPr txBox="1"/>
          <p:nvPr/>
        </p:nvSpPr>
        <p:spPr>
          <a:xfrm>
            <a:off x="12115800" y="5829300"/>
            <a:ext cx="41910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000" i="0" u="none" strike="noStrike" spc="-100">
                <a:solidFill>
                  <a:srgbClr val="ffffff"/>
                </a:solidFill>
                <a:ea typeface="Noto Sans CJK KR Medium"/>
              </a:rPr>
              <a:t>  오각형 꼭짓점</a:t>
            </a:r>
            <a:r>
              <a:rPr lang="en-US" altLang="ko-KR" sz="3000" i="0" u="none" strike="noStrike" spc="-100">
                <a:solidFill>
                  <a:srgbClr val="ffffff"/>
                </a:solidFill>
                <a:ea typeface="Noto Sans CJK KR Medium"/>
              </a:rPr>
              <a:t>,</a:t>
            </a:r>
            <a:r>
              <a:rPr lang="ko-KR" altLang="en-US" sz="3000" i="0" u="none" strike="noStrike" spc="-100">
                <a:solidFill>
                  <a:srgbClr val="ffffff"/>
                </a:solidFill>
                <a:ea typeface="Noto Sans CJK KR Medium"/>
              </a:rPr>
              <a:t> 패들 위치 </a:t>
            </a:r>
            <a:endParaRPr lang="ko-KR" altLang="en-US" sz="3000" i="0" u="none" strike="noStrike" spc="-100">
              <a:solidFill>
                <a:srgbClr val="ffffff"/>
              </a:solidFill>
              <a:ea typeface="Noto Sans CJK KR Medium"/>
            </a:endParaRPr>
          </a:p>
          <a:p>
            <a:pPr lvl="0" algn="l">
              <a:lnSpc>
                <a:spcPct val="99600"/>
              </a:lnSpc>
              <a:defRPr/>
            </a:pPr>
            <a:endParaRPr lang="ko-KR" altLang="en-US" sz="3000" i="0" u="none" strike="noStrike" spc="-100">
              <a:solidFill>
                <a:srgbClr val="ffffff"/>
              </a:solidFill>
              <a:ea typeface="Noto Sans CJK KR Medium"/>
            </a:endParaRPr>
          </a:p>
        </p:txBody>
      </p:sp>
      <p:pic>
        <p:nvPicPr>
          <p:cNvPr id="49" name="Picture 33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12192000" y="6595654"/>
            <a:ext cx="3969625" cy="635139"/>
          </a:xfrm>
          <a:prstGeom prst="rect">
            <a:avLst/>
          </a:prstGeom>
        </p:spPr>
      </p:pic>
      <p:sp>
        <p:nvSpPr>
          <p:cNvPr id="50" name="TextBox 34"/>
          <p:cNvSpPr txBox="1"/>
          <p:nvPr/>
        </p:nvSpPr>
        <p:spPr>
          <a:xfrm>
            <a:off x="12458700" y="6666572"/>
            <a:ext cx="3314700" cy="609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i="0" u="none" strike="noStrike" spc="-100">
                <a:solidFill>
                  <a:srgbClr val="ffffff"/>
                </a:solidFill>
                <a:ea typeface="Noto Sans CJK KR Medium"/>
              </a:rPr>
              <a:t>공 위치 및 속도</a:t>
            </a:r>
            <a:endParaRPr lang="ko-KR" altLang="en-US" sz="3000" b="0" i="0" u="none" strike="noStrike" spc="-100">
              <a:solidFill>
                <a:srgbClr val="ffffff"/>
              </a:solidFill>
              <a:ea typeface="Noto Sans CJK KR Medium"/>
            </a:endParaRPr>
          </a:p>
        </p:txBody>
      </p:sp>
      <p:sp>
        <p:nvSpPr>
          <p:cNvPr id="51" name="TextBox 26"/>
          <p:cNvSpPr txBox="1"/>
          <p:nvPr/>
        </p:nvSpPr>
        <p:spPr>
          <a:xfrm>
            <a:off x="2667000" y="6724249"/>
            <a:ext cx="3911600" cy="584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99600"/>
              </a:lnSpc>
              <a:defRPr/>
            </a:pP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Medium"/>
              </a:rPr>
              <a:t>   함수 프로토타입 선언</a:t>
            </a:r>
            <a:endParaRPr lang="ko-KR" altLang="en-US" sz="3000" b="0" i="0" u="none" strike="noStrike" spc="-100">
              <a:solidFill>
                <a:srgbClr val="ffffff"/>
              </a:solidFill>
              <a:ea typeface="Noto Sans CJK KR Medium"/>
            </a:endParaRPr>
          </a:p>
        </p:txBody>
      </p:sp>
      <p:pic>
        <p:nvPicPr>
          <p:cNvPr id="53" name="Picture 24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2438400" y="7861300"/>
            <a:ext cx="4114800" cy="558800"/>
          </a:xfrm>
          <a:prstGeom prst="rect">
            <a:avLst/>
          </a:prstGeom>
        </p:spPr>
      </p:pic>
      <p:pic>
        <p:nvPicPr>
          <p:cNvPr id="54" name="Picture 19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 rot="5400000">
            <a:off x="4330700" y="6219624"/>
            <a:ext cx="228600" cy="406400"/>
          </a:xfrm>
          <a:prstGeom prst="rect">
            <a:avLst/>
          </a:prstGeom>
        </p:spPr>
      </p:pic>
      <p:pic>
        <p:nvPicPr>
          <p:cNvPr id="56" name="Picture 19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 rot="5400000">
            <a:off x="4356100" y="7327499"/>
            <a:ext cx="228600" cy="406400"/>
          </a:xfrm>
          <a:prstGeom prst="rect">
            <a:avLst/>
          </a:prstGeom>
        </p:spPr>
      </p:pic>
      <p:sp>
        <p:nvSpPr>
          <p:cNvPr id="57" name="TextBox 34"/>
          <p:cNvSpPr txBox="1"/>
          <p:nvPr/>
        </p:nvSpPr>
        <p:spPr>
          <a:xfrm>
            <a:off x="7010400" y="7949671"/>
            <a:ext cx="4305300" cy="42912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Medium"/>
              </a:rPr>
              <a:t>    충돌 감지</a:t>
            </a:r>
            <a:r>
              <a:rPr lang="en-US" altLang="ko-KR" sz="3000" b="0" i="0" u="none" strike="noStrike" spc="-100">
                <a:solidFill>
                  <a:srgbClr val="ffffff"/>
                </a:solidFill>
                <a:ea typeface="Noto Sans CJK KR Medium"/>
              </a:rPr>
              <a:t>,</a:t>
            </a:r>
            <a:r>
              <a:rPr lang="ko-KR" altLang="en-US" sz="3000" b="0" i="0" u="none" strike="noStrike" spc="-100">
                <a:solidFill>
                  <a:srgbClr val="ffffff"/>
                </a:solidFill>
                <a:ea typeface="Noto Sans CJK KR Medium"/>
              </a:rPr>
              <a:t> 게임 로직 포함</a:t>
            </a:r>
            <a:endParaRPr lang="ko-KR" altLang="en-US" sz="3000" b="0" i="0" u="none" strike="noStrike" spc="-100">
              <a:solidFill>
                <a:srgbClr val="ffffff"/>
              </a:solidFill>
              <a:ea typeface="Noto Sans CJK KR Medium"/>
            </a:endParaRPr>
          </a:p>
        </p:txBody>
      </p:sp>
      <p:pic>
        <p:nvPicPr>
          <p:cNvPr id="59" name="Picture 33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12115800" y="7581900"/>
            <a:ext cx="4149240" cy="639494"/>
          </a:xfrm>
          <a:prstGeom prst="rect">
            <a:avLst/>
          </a:prstGeom>
        </p:spPr>
      </p:pic>
      <p:sp>
        <p:nvSpPr>
          <p:cNvPr id="60" name="TextBox 34"/>
          <p:cNvSpPr txBox="1"/>
          <p:nvPr/>
        </p:nvSpPr>
        <p:spPr>
          <a:xfrm>
            <a:off x="12192000" y="7459394"/>
            <a:ext cx="38862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000" i="0" u="none" strike="noStrike" spc="-100">
                <a:solidFill>
                  <a:srgbClr val="ffffff"/>
                </a:solidFill>
                <a:ea typeface="Noto Sans CJK KR Medium"/>
              </a:rPr>
              <a:t>    벽돌 배열 등으로 구성</a:t>
            </a:r>
            <a:endParaRPr lang="ko-KR" altLang="en-US" sz="3000" i="0" u="none" strike="noStrike" spc="-100">
              <a:solidFill>
                <a:srgbClr val="ffffff"/>
              </a:solidFill>
              <a:ea typeface="Noto Sans CJK KR Medium"/>
            </a:endParaRPr>
          </a:p>
        </p:txBody>
      </p:sp>
      <p:pic>
        <p:nvPicPr>
          <p:cNvPr id="61" name="Picture 32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 rot="5400000">
            <a:off x="13931900" y="6165850"/>
            <a:ext cx="228600" cy="406400"/>
          </a:xfrm>
          <a:prstGeom prst="rect">
            <a:avLst/>
          </a:prstGeom>
        </p:spPr>
      </p:pic>
      <p:pic>
        <p:nvPicPr>
          <p:cNvPr id="62" name="Picture 32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 rot="5400000">
            <a:off x="13931900" y="7203147"/>
            <a:ext cx="228600" cy="406400"/>
          </a:xfrm>
          <a:prstGeom prst="rect">
            <a:avLst/>
          </a:prstGeom>
        </p:spPr>
      </p:pic>
      <p:pic>
        <p:nvPicPr>
          <p:cNvPr id="63" name="Picture 32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 rot="5400000">
            <a:off x="13931900" y="5162550"/>
            <a:ext cx="228600" cy="406400"/>
          </a:xfrm>
          <a:prstGeom prst="rect">
            <a:avLst/>
          </a:prstGeom>
        </p:spPr>
      </p:pic>
      <p:sp>
        <p:nvSpPr>
          <p:cNvPr id="64" name="가로 글상자 63"/>
          <p:cNvSpPr txBox="1"/>
          <p:nvPr/>
        </p:nvSpPr>
        <p:spPr>
          <a:xfrm>
            <a:off x="2133599" y="1788959"/>
            <a:ext cx="7848601" cy="1333336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4500" b="1" i="0" u="none" strike="noStrike" spc="-100">
                <a:solidFill>
                  <a:srgbClr val="ffffff"/>
                </a:solidFill>
                <a:ea typeface="Noto Sans CJK KR Regular"/>
              </a:rPr>
              <a:t> 2.</a:t>
            </a:r>
            <a:r>
              <a:rPr lang="ko-KR" altLang="en-US" sz="4500" b="1" i="0" u="none" strike="noStrike" spc="-100">
                <a:solidFill>
                  <a:srgbClr val="ffffff"/>
                </a:solidFill>
                <a:ea typeface="Noto Sans CJK KR Regular"/>
              </a:rPr>
              <a:t>소스코드 구조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 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및 게임 요소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endParaRPr lang="en-US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66" name="가로 글상자 65"/>
          <p:cNvSpPr txBox="1"/>
          <p:nvPr/>
        </p:nvSpPr>
        <p:spPr>
          <a:xfrm>
            <a:off x="2285999" y="3149071"/>
            <a:ext cx="9144000" cy="592349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1800" b="1" i="0" u="none" strike="noStrike">
                <a:solidFill>
                  <a:srgbClr val="9daeff"/>
                </a:solidFill>
                <a:latin typeface="Noto Sans CJK KR Regular"/>
              </a:rPr>
              <a:t>Source Code Structure And Game Elements __</a:t>
            </a:r>
            <a:endParaRPr lang="en-US" altLang="ko-KR" sz="1800" b="1" i="0" u="none" strike="noStrike">
              <a:solidFill>
                <a:srgbClr val="9daeff"/>
              </a:solidFill>
              <a:latin typeface="Noto Sans CJK KR Regular"/>
            </a:endParaRPr>
          </a:p>
        </p:txBody>
      </p:sp>
      <p:pic>
        <p:nvPicPr>
          <p:cNvPr id="67" name="Picture 32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 rot="5400000">
            <a:off x="9080500" y="7439520"/>
            <a:ext cx="228600" cy="406400"/>
          </a:xfrm>
          <a:prstGeom prst="rect">
            <a:avLst/>
          </a:prstGeom>
        </p:spPr>
      </p:pic>
      <p:pic>
        <p:nvPicPr>
          <p:cNvPr id="68" name="Picture 33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7239000" y="7886700"/>
            <a:ext cx="4170120" cy="533400"/>
          </a:xfrm>
          <a:prstGeom prst="rect">
            <a:avLst/>
          </a:prstGeom>
        </p:spPr>
      </p:pic>
      <p:pic>
        <p:nvPicPr>
          <p:cNvPr id="71" name="그림 70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4165600" y="647700"/>
            <a:ext cx="11383963" cy="895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1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60600" y="977900"/>
            <a:ext cx="330200" cy="330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95600" y="977900"/>
            <a:ext cx="330200" cy="33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30600" y="977900"/>
            <a:ext cx="330200" cy="330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11400" y="3492500"/>
            <a:ext cx="6832600" cy="5930900"/>
          </a:xfrm>
          <a:prstGeom prst="rect">
            <a:avLst/>
          </a:prstGeom>
          <a:effectLst>
            <a:outerShdw dir="2700000" dist="91159" blurRad="349665">
              <a:srgbClr val="000000">
                <a:alpha val="45000"/>
              </a:srgbClr>
            </a:outerShdw>
          </a:effectLst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28900" y="3746500"/>
            <a:ext cx="203200" cy="203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009900" y="3746500"/>
            <a:ext cx="203200" cy="203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390900" y="3746500"/>
            <a:ext cx="203200" cy="203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271000" y="3492500"/>
            <a:ext cx="6832600" cy="5930900"/>
          </a:xfrm>
          <a:prstGeom prst="rect">
            <a:avLst/>
          </a:prstGeom>
          <a:effectLst>
            <a:outerShdw dir="2700000" dist="91159" blurRad="349665">
              <a:srgbClr val="000000">
                <a:alpha val="45000"/>
              </a:srgbClr>
            </a:outerShdw>
          </a:effectLst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88500" y="3746500"/>
            <a:ext cx="203200" cy="203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69500" y="3746500"/>
            <a:ext cx="203200" cy="203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350500" y="3746500"/>
            <a:ext cx="203200" cy="2032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016000" y="977900"/>
            <a:ext cx="1358900" cy="843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 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16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17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18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41600" y="4318000"/>
            <a:ext cx="4445000" cy="1206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ko-KR" altLang="en-US" sz="4000" b="1" i="0" u="none" strike="noStrike">
                <a:solidFill>
                  <a:srgbClr val="9daeff"/>
                </a:solidFill>
                <a:ea typeface="Noto Sans CJK KR Regular"/>
              </a:rPr>
              <a:t>사용자 입력 처리</a:t>
            </a:r>
            <a:endParaRPr lang="ko-KR" altLang="en-US" sz="4000" b="1" i="0" u="none" strike="noStrike">
              <a:solidFill>
                <a:srgbClr val="9daeff"/>
              </a:solidFill>
              <a:ea typeface="Noto Sans CJK KR Regula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588500" y="4330700"/>
            <a:ext cx="4356100" cy="1117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ko-KR" altLang="en-US" sz="4000" b="1" i="0" u="none" strike="noStrike">
                <a:solidFill>
                  <a:srgbClr val="9daeff"/>
                </a:solidFill>
                <a:ea typeface="Noto Sans CJK KR Regular"/>
              </a:rPr>
              <a:t>물리 엔진</a:t>
            </a:r>
            <a:endParaRPr lang="ko-KR" altLang="en-US" sz="4000" b="1" i="0" u="none" strike="noStrike">
              <a:solidFill>
                <a:srgbClr val="9daeff"/>
              </a:solidFill>
              <a:ea typeface="Noto Sans CJK KR Regula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601200" y="5905500"/>
            <a:ext cx="6159500" cy="2933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1.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공 위치 및 속도 업데이트</a:t>
            </a:r>
            <a:endParaRPr lang="ko-KR" altLang="en-US" sz="2900" b="0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2.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중력 적용</a:t>
            </a:r>
            <a:endParaRPr lang="ko-KR" altLang="en-US" sz="2900" b="0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3.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공과 벽</a:t>
            </a: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,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패들</a:t>
            </a: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,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벽돌의 충돌</a:t>
            </a:r>
            <a:endParaRPr lang="ko-KR" altLang="en-US" sz="2900" b="0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4.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충돌 감지 및 반사 처리 포함</a:t>
            </a:r>
            <a:endParaRPr lang="ko-KR" altLang="en-US" sz="2900" b="0" i="0" u="none" strike="noStrike">
              <a:solidFill>
                <a:srgbClr val="ffffff"/>
              </a:solidFill>
              <a:ea typeface="Noto Sans CJK KR Regula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03500" y="5892800"/>
            <a:ext cx="6159500" cy="2933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1.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화살표 키로 패들 이동</a:t>
            </a:r>
            <a:endParaRPr lang="ko-KR" altLang="en-US" sz="2900" b="0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2.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첫 화면에서 </a:t>
            </a: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‘S’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키로 게임 시작</a:t>
            </a:r>
            <a:endParaRPr lang="ko-KR" altLang="en-US" sz="2900" b="0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3.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게임 클리어 시 </a:t>
            </a:r>
            <a:r>
              <a:rPr lang="en-US" altLang="ko-KR" sz="2900" b="0" i="0" u="none" strike="noStrike">
                <a:solidFill>
                  <a:srgbClr val="ffffff"/>
                </a:solidFill>
                <a:ea typeface="Noto Sans CJK KR Regular"/>
              </a:rPr>
              <a:t>‘R’</a:t>
            </a:r>
            <a:r>
              <a:rPr lang="ko-KR" altLang="en-US" sz="2900" b="0" i="0" u="none" strike="noStrike">
                <a:solidFill>
                  <a:srgbClr val="ffffff"/>
                </a:solidFill>
                <a:ea typeface="Noto Sans CJK KR Regular"/>
              </a:rPr>
              <a:t> 키로 게임 재시작</a:t>
            </a:r>
            <a:endParaRPr lang="ko-KR" altLang="en-US" sz="2900" b="0" i="0" u="none" strike="noStrike">
              <a:solidFill>
                <a:srgbClr val="ffffff"/>
              </a:solidFill>
              <a:ea typeface="Noto Sans CJK KR Regular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4165600" y="647700"/>
            <a:ext cx="11383963" cy="895475"/>
          </a:xfrm>
          <a:prstGeom prst="rect">
            <a:avLst/>
          </a:prstGeom>
        </p:spPr>
      </p:pic>
      <p:sp>
        <p:nvSpPr>
          <p:cNvPr id="34" name="가로 글상자 33"/>
          <p:cNvSpPr txBox="1"/>
          <p:nvPr/>
        </p:nvSpPr>
        <p:spPr>
          <a:xfrm>
            <a:off x="2133599" y="1676400"/>
            <a:ext cx="7848601" cy="1333336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4500" b="1" i="0" u="none" strike="noStrike" spc="-100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4500" b="1" i="0" u="none" strike="noStrike" spc="-100">
                <a:solidFill>
                  <a:srgbClr val="ffffff"/>
                </a:solidFill>
                <a:latin typeface="Noto Sans CJK KR Regular"/>
              </a:rPr>
              <a:t>3.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사용자 입력 및 물리 엔진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endParaRPr lang="en-US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5" name="가로 글상자 34"/>
          <p:cNvSpPr txBox="1"/>
          <p:nvPr/>
        </p:nvSpPr>
        <p:spPr>
          <a:xfrm>
            <a:off x="2286000" y="2874751"/>
            <a:ext cx="9144000" cy="592349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1800" b="1" i="0" u="none" strike="noStrike">
                <a:solidFill>
                  <a:srgbClr val="9daeff"/>
                </a:solidFill>
                <a:latin typeface="Noto Sans CJK KR Regular"/>
              </a:rPr>
              <a:t>User Input and Physical Engine __</a:t>
            </a:r>
            <a:endParaRPr lang="en-US" altLang="ko-KR" sz="1800" b="1" i="0" u="none" strike="noStrike">
              <a:solidFill>
                <a:srgbClr val="9daeff"/>
              </a:solidFill>
              <a:latin typeface="Noto Sans CJK KR Regular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1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60600" y="977900"/>
            <a:ext cx="330200" cy="330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895600" y="977900"/>
            <a:ext cx="330200" cy="330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530600" y="977900"/>
            <a:ext cx="330200" cy="33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362200" y="3479800"/>
            <a:ext cx="15138400" cy="5930900"/>
          </a:xfrm>
          <a:prstGeom prst="rect">
            <a:avLst/>
          </a:prstGeom>
          <a:effectLst>
            <a:outerShdw blurRad="349665" dist="91159" dir="2700000">
              <a:srgbClr val="000000">
                <a:alpha val="45000"/>
              </a:srgbClr>
            </a:outerShdw>
          </a:effectLst>
        </p:spPr>
      </p:pic>
      <p:grpSp>
        <p:nvGrpSpPr>
          <p:cNvPr id="15" name="Group 1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sp>
        <p:nvSpPr>
          <p:cNvPr id="25" name="TextBox 25"/>
          <p:cNvSpPr txBox="1"/>
          <p:nvPr/>
        </p:nvSpPr>
        <p:spPr>
          <a:xfrm>
            <a:off x="1016000" y="977900"/>
            <a:ext cx="1358900" cy="8432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 9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10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11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12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13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15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16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17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18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19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20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21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22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23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25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26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489200" y="3695700"/>
            <a:ext cx="9702800" cy="762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en-US" altLang="ko-KR" sz="4000" b="1" i="0" u="none" strike="noStrike">
                <a:solidFill>
                  <a:srgbClr val="9daeff"/>
                </a:solidFill>
                <a:ea typeface="Noto Sans CJK KR Regular"/>
              </a:rPr>
              <a:t>1.</a:t>
            </a:r>
            <a:r>
              <a:rPr lang="ko-KR" altLang="en-US" sz="4000" b="1" i="0" u="none" strike="noStrike">
                <a:solidFill>
                  <a:srgbClr val="9daeff"/>
                </a:solidFill>
                <a:ea typeface="Noto Sans CJK KR Regular"/>
              </a:rPr>
              <a:t> 공의 중심과 벽</a:t>
            </a:r>
            <a:r>
              <a:rPr lang="en-US" altLang="ko-KR" sz="4000" b="1" i="0" u="none" strike="noStrike">
                <a:solidFill>
                  <a:srgbClr val="9daeff"/>
                </a:solidFill>
                <a:ea typeface="Noto Sans CJK KR Regular"/>
              </a:rPr>
              <a:t>(</a:t>
            </a:r>
            <a:r>
              <a:rPr lang="ko-KR" altLang="en-US" sz="4000" b="1" i="0" u="none" strike="noStrike">
                <a:solidFill>
                  <a:srgbClr val="9daeff"/>
                </a:solidFill>
                <a:ea typeface="Noto Sans CJK KR Regular"/>
              </a:rPr>
              <a:t>선분</a:t>
            </a:r>
            <a:r>
              <a:rPr lang="en-US" altLang="ko-KR" sz="4000" b="1" i="0" u="none" strike="noStrike">
                <a:solidFill>
                  <a:srgbClr val="9daeff"/>
                </a:solidFill>
                <a:ea typeface="Noto Sans CJK KR Regular"/>
              </a:rPr>
              <a:t>)</a:t>
            </a:r>
            <a:r>
              <a:rPr lang="ko-KR" altLang="en-US" sz="4000" b="1" i="0" u="none" strike="noStrike">
                <a:solidFill>
                  <a:srgbClr val="9daeff"/>
                </a:solidFill>
                <a:ea typeface="Noto Sans CJK KR Regular"/>
              </a:rPr>
              <a:t> 사이 최단 거리 계산</a:t>
            </a:r>
            <a:endParaRPr lang="ko-KR" altLang="en-US" sz="4000" b="1" i="0" u="none" strike="noStrike">
              <a:solidFill>
                <a:srgbClr val="9daeff"/>
              </a:solidFill>
              <a:ea typeface="Noto Sans CJK KR Regula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590800" y="4686300"/>
            <a:ext cx="12484100" cy="429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spcBef>
                <a:spcPts val="0"/>
              </a:spcBef>
              <a:spcAft>
                <a:spcPts val="800"/>
              </a:spcAft>
              <a:defRPr/>
            </a:pPr>
            <a:r>
              <a:rPr xmlns:mc="http://schemas.openxmlformats.org/markup-compatibility/2006" xmlns:hp="http://schemas.haansoft.com/office/presentation/8.0" lang="EN-US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pointToSegmentDistance(px, py, x1, y1, x2, y2)</a:t>
            </a:r>
            <a:endParaRPr xmlns:mc="http://schemas.openxmlformats.org/markup-compatibility/2006" xmlns:hp="http://schemas.haansoft.com/office/presentation/8.0" lang="EN-US" sz="2900" b="1" i="0" u="none" strike="noStrike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lvl="0">
              <a:spcBef>
                <a:spcPts val="0"/>
              </a:spcBef>
              <a:spcAft>
                <a:spcPts val="800"/>
              </a:spcAft>
              <a:defRPr/>
            </a:pPr>
            <a:endParaRPr xmlns:mc="http://schemas.openxmlformats.org/markup-compatibility/2006" xmlns:hp="http://schemas.haansoft.com/office/presentation/8.0" lang="EN-US" sz="2900" b="1" i="0" u="none" strike="noStrike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lvl="0">
              <a:spcBef>
                <a:spcPts val="0"/>
              </a:spcBef>
              <a:spcAft>
                <a:spcPts val="80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핵심 공식</a:t>
            </a:r>
            <a:r>
              <a:rPr xmlns:mc="http://schemas.openxmlformats.org/markup-compatibility/2006" xmlns:hp="http://schemas.haansoft.com/office/presentation/8.0" lang="en-US" altLang="ko-KR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</a:t>
            </a:r>
            <a:endParaRPr xmlns:mc="http://schemas.openxmlformats.org/markup-compatibility/2006" xmlns:hp="http://schemas.haansoft.com/office/presentation/8.0" lang="en-US" altLang="ko-KR" sz="2900" b="1" i="0" u="none" strike="noStrike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lang="ko-KR" altLang="en-US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거리 제곱</a:t>
            </a:r>
            <a:r>
              <a:rPr xmlns:mc="http://schemas.openxmlformats.org/markup-compatibility/2006" xmlns:hp="http://schemas.haansoft.com/office/presentation/8.0" lang="en-US" altLang="ko-KR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lang="ko-KR" altLang="en-US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lang="EN-US" sz="2900" b="0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l2 = (x2 - x1)^2 + (y2 - y1)^2</a:t>
            </a:r>
            <a:endParaRPr xmlns:mc="http://schemas.openxmlformats.org/markup-compatibility/2006" xmlns:hp="http://schemas.haansoft.com/office/presentation/8.0" lang="EN-US" sz="2900" b="0" i="0" u="none" strike="noStrike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lang="ko-KR" altLang="en-US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투영 위치</a:t>
            </a:r>
            <a:r>
              <a:rPr xmlns:mc="http://schemas.openxmlformats.org/markup-compatibility/2006" xmlns:hp="http://schemas.haansoft.com/office/presentation/8.0" lang="en-US" altLang="ko-KR" sz="2900" b="0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lang="ko-KR" altLang="en-US" sz="2900" b="0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lang="EN-US" altLang="en-US" sz="2900" b="0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 = [(px - x1)(x2 - x1) + (py - y1)(y2 - y1)] / l2</a:t>
            </a:r>
            <a:endParaRPr xmlns:mc="http://schemas.openxmlformats.org/markup-compatibility/2006" xmlns:hp="http://schemas.haansoft.com/office/presentation/8.0" lang="EN-US" altLang="en-US" sz="2900" b="0" i="0" u="none" strike="noStrike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lang="ko-KR" altLang="en-US" sz="2900" b="0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          </a:t>
            </a:r>
            <a:r>
              <a:rPr xmlns:mc="http://schemas.openxmlformats.org/markup-compatibility/2006" xmlns:hp="http://schemas.haansoft.com/office/presentation/8.0" lang="EN-US" altLang="en-US" sz="2900" b="0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→t∈[0,1]으로 보정</a:t>
            </a:r>
            <a:endParaRPr xmlns:mc="http://schemas.openxmlformats.org/markup-compatibility/2006" xmlns:hp="http://schemas.haansoft.com/office/presentation/8.0" lang="EN-US" altLang="en-US" sz="2900" b="0" i="0" u="none" strike="noStrike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lang="ko-KR" altLang="en-US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투영점</a:t>
            </a:r>
            <a:r>
              <a:rPr xmlns:mc="http://schemas.openxmlformats.org/markup-compatibility/2006" xmlns:hp="http://schemas.haansoft.com/office/presentation/8.0" lang="en-US" altLang="ko-KR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lang="ko-KR" altLang="en-US" sz="2900" b="0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lang="EN-US" altLang="en-US" sz="2900" b="0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projX = x1 + t(x2 - x1), projY = y1 + t(y2 - y1)</a:t>
            </a:r>
            <a:endParaRPr xmlns:mc="http://schemas.openxmlformats.org/markup-compatibility/2006" xmlns:hp="http://schemas.haansoft.com/office/presentation/8.0" lang="EN-US" altLang="en-US" sz="2900" b="0" i="0" u="none" strike="noStrike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lang="ko-KR" altLang="en-US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최단 거리</a:t>
            </a:r>
            <a:r>
              <a:rPr xmlns:mc="http://schemas.openxmlformats.org/markup-compatibility/2006" xmlns:hp="http://schemas.haansoft.com/office/presentation/8.0" lang="en-US" altLang="ko-KR" sz="2900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lang="ko-KR" altLang="en-US" sz="2900" b="0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lang="EN-US" sz="2900" b="0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distance = sqrt((px - projX)^2 + (py - projY)^2)</a:t>
            </a:r>
            <a:endParaRPr xmlns:mc="http://schemas.openxmlformats.org/markup-compatibility/2006" xmlns:hp="http://schemas.haansoft.com/office/presentation/8.0" lang="ko-KR" altLang="en-US" sz="2900" b="0" i="0" u="none" strike="noStrike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165600" y="647700"/>
            <a:ext cx="11383963" cy="895475"/>
          </a:xfrm>
          <a:prstGeom prst="rect">
            <a:avLst/>
          </a:prstGeom>
        </p:spPr>
      </p:pic>
      <p:sp>
        <p:nvSpPr>
          <p:cNvPr id="34" name="가로 글상자 33"/>
          <p:cNvSpPr txBox="1"/>
          <p:nvPr/>
        </p:nvSpPr>
        <p:spPr>
          <a:xfrm>
            <a:off x="2133599" y="1676400"/>
            <a:ext cx="7848601" cy="1333336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4500" b="1" i="0" u="none" strike="noStrike" spc="-100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4500" b="1" i="0" u="none" strike="noStrike" spc="-100">
                <a:solidFill>
                  <a:srgbClr val="ffffff"/>
                </a:solidFill>
                <a:latin typeface="Noto Sans CJK KR Regular"/>
              </a:rPr>
              <a:t>3.1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 충돌 처리 함수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r>
              <a:rPr lang="en-US" altLang="ko-KR" sz="4500" b="1" i="0" u="none" strike="noStrike" spc="-100">
                <a:solidFill>
                  <a:srgbClr val="ffffff"/>
                </a:solidFill>
                <a:latin typeface="Noto Sans CJK KR Regular"/>
              </a:rPr>
              <a:t> </a:t>
            </a:r>
            <a:endParaRPr lang="en-US" altLang="ko-KR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5" name="가로 글상자 34"/>
          <p:cNvSpPr txBox="1"/>
          <p:nvPr/>
        </p:nvSpPr>
        <p:spPr>
          <a:xfrm>
            <a:off x="2286000" y="2874751"/>
            <a:ext cx="9144000" cy="592349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1800" b="1" i="0" u="none" strike="noStrike">
                <a:solidFill>
                  <a:srgbClr val="9daeff"/>
                </a:solidFill>
                <a:latin typeface="Noto Sans CJK KR Regular"/>
              </a:rPr>
              <a:t>Collision__</a:t>
            </a:r>
            <a:endParaRPr lang="en-US" altLang="ko-KR" sz="1800" b="1" i="0" u="none" strike="noStrike">
              <a:solidFill>
                <a:srgbClr val="9daeff"/>
              </a:solidFill>
              <a:latin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46929725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1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60600" y="977900"/>
            <a:ext cx="330200" cy="330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95600" y="977900"/>
            <a:ext cx="330200" cy="330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530600" y="977900"/>
            <a:ext cx="330200" cy="33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311400" y="3492500"/>
            <a:ext cx="4699000" cy="5930900"/>
          </a:xfrm>
          <a:prstGeom prst="rect">
            <a:avLst/>
          </a:prstGeom>
          <a:effectLst>
            <a:outerShdw blurRad="349665" dist="91159" dir="2700000">
              <a:srgbClr val="000000">
                <a:alpha val="45000"/>
              </a:srgbClr>
            </a:outerShdw>
          </a:effectLst>
        </p:spPr>
      </p:pic>
      <p:grpSp>
        <p:nvGrpSpPr>
          <p:cNvPr id="15" name="Group 1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289800" y="3479799"/>
            <a:ext cx="4597400" cy="5930900"/>
          </a:xfrm>
          <a:prstGeom prst="rect">
            <a:avLst/>
          </a:prstGeom>
          <a:effectLst>
            <a:outerShdw blurRad="349665" dist="91159" dir="2700000">
              <a:srgbClr val="000000">
                <a:alpha val="45000"/>
              </a:srgbClr>
            </a:outerShdw>
          </a:effectLst>
        </p:spPr>
      </p:pic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sp>
        <p:nvSpPr>
          <p:cNvPr id="25" name="TextBox 25"/>
          <p:cNvSpPr txBox="1"/>
          <p:nvPr/>
        </p:nvSpPr>
        <p:spPr>
          <a:xfrm>
            <a:off x="1016000" y="977900"/>
            <a:ext cx="1358900" cy="8432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 9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10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11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12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13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15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16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17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18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19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20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21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22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23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25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26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603500" y="3485967"/>
            <a:ext cx="4064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82600"/>
              </a:lnSpc>
              <a:defRPr/>
            </a:pPr>
            <a:r>
              <a:rPr lang="ko-KR" altLang="en-US" sz="4000" b="1" i="0" u="none" strike="noStrike">
                <a:solidFill>
                  <a:srgbClr val="9daeff"/>
                </a:solidFill>
                <a:ea typeface="Noto Sans CJK KR Regular"/>
              </a:rPr>
              <a:t>공과 벽 충돌</a:t>
            </a:r>
            <a:endParaRPr lang="ko-KR" altLang="en-US" sz="4000" b="1" i="0" u="none" strike="noStrike">
              <a:solidFill>
                <a:srgbClr val="9daeff"/>
              </a:solidFill>
              <a:ea typeface="Noto Sans CJK KR Regula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448550" y="3467100"/>
            <a:ext cx="43561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82600"/>
              </a:lnSpc>
              <a:defRPr/>
            </a:pPr>
            <a:r>
              <a:rPr lang="ko-KR" altLang="en-US" sz="4000" b="1" i="0" u="none" strike="noStrike">
                <a:solidFill>
                  <a:srgbClr val="9daeff"/>
                </a:solidFill>
                <a:ea typeface="Noto Sans CJK KR Regular"/>
              </a:rPr>
              <a:t>공과 벽돌 충돌</a:t>
            </a:r>
            <a:endParaRPr lang="ko-KR" altLang="en-US" sz="4000" b="1" i="0" u="none" strike="noStrike">
              <a:solidFill>
                <a:srgbClr val="9daeff"/>
              </a:solidFill>
              <a:ea typeface="Noto Sans CJK KR Regula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480300" y="5981700"/>
            <a:ext cx="4406900" cy="2933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목적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공과 벽돌의 충돌 감지 및 제거</a:t>
            </a:r>
            <a:endParaRPr lang="en-US" altLang="ko-KR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충돌 조건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(AABB 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방식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):</a:t>
            </a:r>
            <a:endParaRPr lang="en-US" altLang="ko-KR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    공의 바운딩 박스와 벽돌 겹침 여부 확인</a:t>
            </a: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충돌 처리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</a:t>
            </a:r>
            <a:endParaRPr lang="en-US" altLang="ko-KR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     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벽돌 제거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brick.visible = false</a:t>
            </a:r>
            <a:endParaRPr lang="en-US" altLang="ko-KR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     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속도 반사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기본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 ballDY = -ballDY</a:t>
            </a:r>
            <a:endParaRPr lang="en-US" altLang="ko-KR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              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          옆면 충돌 시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ballDX = -ballDX</a:t>
            </a:r>
            <a:endParaRPr lang="en-US" altLang="ko-KR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      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정확한 면 판정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overlapX1, overlapX2,</a:t>
            </a:r>
            <a:endParaRPr lang="ko-KR" altLang="en-US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      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overlapY1, overlapY2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비교로 방향 결정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 </a:t>
            </a:r>
            <a:endParaRPr lang="en-US" altLang="ko-KR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게임 클리어 체크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모든 벽돌 제거 시 클리어</a:t>
            </a: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03500" y="5143500"/>
            <a:ext cx="4254500" cy="4114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목적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오각형 벽과 공의 충돌 감지 및 반사 처리</a:t>
            </a:r>
            <a:endParaRPr lang="ko-KR" altLang="en-US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         충돌 판정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if(distance &lt; BALL_RADIUS)</a:t>
            </a:r>
            <a:endParaRPr lang="en-US" altLang="ko-KR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반사 처리 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(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법선 벡터 사용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):</a:t>
            </a:r>
            <a:endParaRPr lang="en-US" altLang="ko-KR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          법선 벡터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 N = (-dy, dx) 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또는 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(dy, -dx)  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</a:t>
            </a:r>
            <a:endParaRPr lang="ko-KR" altLang="en-US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          정규화 후 반사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r = v - 2 * (v * n) * n</a:t>
            </a:r>
            <a:endParaRPr lang="en-US" altLang="ko-KR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위치 보정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공이 벽 안에 박히지 않고록                   바깥으로 이동시킴</a:t>
            </a:r>
            <a:endParaRPr lang="ko-KR" altLang="en-US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특이사항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패들이 위치한 바닥면도 벽처럼 처리함</a:t>
            </a: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165600" y="647700"/>
            <a:ext cx="11383963" cy="895475"/>
          </a:xfrm>
          <a:prstGeom prst="rect">
            <a:avLst/>
          </a:prstGeom>
        </p:spPr>
      </p:pic>
      <p:sp>
        <p:nvSpPr>
          <p:cNvPr id="34" name="가로 글상자 33"/>
          <p:cNvSpPr txBox="1"/>
          <p:nvPr/>
        </p:nvSpPr>
        <p:spPr>
          <a:xfrm>
            <a:off x="2133599" y="1676400"/>
            <a:ext cx="7848601" cy="1333336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4500" b="1" i="0" u="none" strike="noStrike" spc="-100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4500" b="1" i="0" u="none" strike="noStrike" spc="-100">
                <a:solidFill>
                  <a:srgbClr val="ffffff"/>
                </a:solidFill>
                <a:latin typeface="Noto Sans CJK KR Regular"/>
              </a:rPr>
              <a:t>3.2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 충돌 처리 함수</a:t>
            </a:r>
            <a:r>
              <a:rPr 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r>
              <a:rPr lang="en-US" altLang="ko-KR" sz="4500" b="1" i="0" u="none" strike="noStrike" spc="-100">
                <a:solidFill>
                  <a:srgbClr val="ffffff"/>
                </a:solidFill>
                <a:latin typeface="Noto Sans CJK KR Regular"/>
              </a:rPr>
              <a:t> </a:t>
            </a:r>
            <a:endParaRPr lang="en-US" altLang="ko-KR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5" name="가로 글상자 34"/>
          <p:cNvSpPr txBox="1"/>
          <p:nvPr/>
        </p:nvSpPr>
        <p:spPr>
          <a:xfrm>
            <a:off x="2286000" y="2874751"/>
            <a:ext cx="9144000" cy="592349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1800" b="1" i="0" u="none" strike="noStrike">
                <a:solidFill>
                  <a:srgbClr val="9daeff"/>
                </a:solidFill>
                <a:latin typeface="Noto Sans CJK KR Regular"/>
              </a:rPr>
              <a:t>Collision__</a:t>
            </a:r>
            <a:endParaRPr lang="en-US" altLang="ko-KR" sz="1800" b="1" i="0" u="none" strike="noStrike">
              <a:solidFill>
                <a:srgbClr val="9daeff"/>
              </a:solidFill>
              <a:latin typeface="Noto Sans CJK KR Regular"/>
            </a:endParaRPr>
          </a:p>
        </p:txBody>
      </p:sp>
      <p:pic>
        <p:nvPicPr>
          <p:cNvPr id="39" name="Picture 19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115800" y="3467100"/>
            <a:ext cx="4597400" cy="5930900"/>
          </a:xfrm>
          <a:prstGeom prst="rect">
            <a:avLst/>
          </a:prstGeom>
          <a:effectLst>
            <a:outerShdw blurRad="349665" dist="91159" dir="2700000">
              <a:srgbClr val="000000">
                <a:alpha val="45000"/>
              </a:srgbClr>
            </a:outerShdw>
          </a:effectLst>
        </p:spPr>
      </p:pic>
      <p:sp>
        <p:nvSpPr>
          <p:cNvPr id="40" name="TextBox 27"/>
          <p:cNvSpPr txBox="1"/>
          <p:nvPr/>
        </p:nvSpPr>
        <p:spPr>
          <a:xfrm>
            <a:off x="12255500" y="3467100"/>
            <a:ext cx="4356100" cy="609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82600"/>
              </a:lnSpc>
              <a:defRPr/>
            </a:pPr>
            <a:r>
              <a:rPr lang="ko-KR" altLang="en-US" sz="4000" b="1" i="0" u="none" strike="noStrike">
                <a:solidFill>
                  <a:srgbClr val="9daeff"/>
                </a:solidFill>
                <a:ea typeface="Noto Sans CJK KR Regular"/>
              </a:rPr>
              <a:t>공과 패들 충돌</a:t>
            </a:r>
            <a:endParaRPr lang="ko-KR" altLang="en-US" sz="4000" b="1" i="0" u="none" strike="noStrike">
              <a:solidFill>
                <a:srgbClr val="9daeff"/>
              </a:solidFill>
              <a:ea typeface="Noto Sans CJK KR Regular"/>
            </a:endParaRPr>
          </a:p>
        </p:txBody>
      </p:sp>
      <p:sp>
        <p:nvSpPr>
          <p:cNvPr id="41" name="가로 글상자 40"/>
          <p:cNvSpPr txBox="1"/>
          <p:nvPr/>
        </p:nvSpPr>
        <p:spPr>
          <a:xfrm>
            <a:off x="2514600" y="4305300"/>
            <a:ext cx="4419600" cy="361969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spcBef>
                <a:spcPts val="0"/>
              </a:spcBef>
              <a:spcAft>
                <a:spcPts val="800"/>
              </a:spcAft>
              <a:defRPr/>
            </a:pPr>
            <a:r>
              <a:rPr xmlns:mc="http://schemas.openxmlformats.org/markup-compatibility/2006" xmlns:hp="http://schemas.haansoft.com/office/presentation/8.0" lang="EN-US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checkWallCollisions()</a:t>
            </a:r>
            <a:endParaRPr lang="en-US" altLang="ko-KR" sz="1800" b="1" i="0" u="none" strike="noStrike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81" name="가로 글상자 80"/>
          <p:cNvSpPr txBox="1"/>
          <p:nvPr/>
        </p:nvSpPr>
        <p:spPr>
          <a:xfrm>
            <a:off x="7378700" y="4286125"/>
            <a:ext cx="4419600" cy="361969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spcBef>
                <a:spcPts val="0"/>
              </a:spcBef>
              <a:spcAft>
                <a:spcPts val="800"/>
              </a:spcAft>
              <a:defRPr/>
            </a:pPr>
            <a:r>
              <a:rPr xmlns:mc="http://schemas.openxmlformats.org/markup-compatibility/2006" xmlns:hp="http://schemas.haansoft.com/office/presentation/8.0" lang="EN-US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check</a:t>
            </a:r>
            <a:r>
              <a:rPr xmlns:mc="http://schemas.openxmlformats.org/markup-compatibility/2006" xmlns:hp="http://schemas.haansoft.com/office/presentation/8.0" lang="en-US" altLang="ko-KR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Brick</a:t>
            </a:r>
            <a:r>
              <a:rPr xmlns:mc="http://schemas.openxmlformats.org/markup-compatibility/2006" xmlns:hp="http://schemas.haansoft.com/office/presentation/8.0" lang="EN-US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Collisions()</a:t>
            </a:r>
            <a:endParaRPr xmlns:mc="http://schemas.openxmlformats.org/markup-compatibility/2006" xmlns:hp="http://schemas.haansoft.com/office/presentation/8.0" lang="EN-US" b="1" i="0" u="none" strike="noStrike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2" name="가로 글상자 81"/>
          <p:cNvSpPr txBox="1"/>
          <p:nvPr/>
        </p:nvSpPr>
        <p:spPr>
          <a:xfrm>
            <a:off x="12242800" y="4305300"/>
            <a:ext cx="4419600" cy="361969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spcBef>
                <a:spcPts val="0"/>
              </a:spcBef>
              <a:spcAft>
                <a:spcPts val="800"/>
              </a:spcAft>
              <a:defRPr/>
            </a:pPr>
            <a:r>
              <a:rPr xmlns:mc="http://schemas.openxmlformats.org/markup-compatibility/2006" xmlns:hp="http://schemas.haansoft.com/office/presentation/8.0" lang="EN-US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chec</a:t>
            </a:r>
            <a:r>
              <a:rPr xmlns:mc="http://schemas.openxmlformats.org/markup-compatibility/2006" xmlns:hp="http://schemas.haansoft.com/office/presentation/8.0" lang="en-US" altLang="ko-KR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kPaddle</a:t>
            </a:r>
            <a:r>
              <a:rPr xmlns:mc="http://schemas.openxmlformats.org/markup-compatibility/2006" xmlns:hp="http://schemas.haansoft.com/office/presentation/8.0" lang="EN-US" b="1" i="0" u="none" strike="noStrike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Collisions()</a:t>
            </a:r>
            <a:endParaRPr xmlns:mc="http://schemas.openxmlformats.org/markup-compatibility/2006" xmlns:hp="http://schemas.haansoft.com/office/presentation/8.0" lang="EN-US" b="1" i="0" u="none" strike="noStrike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3" name="TextBox 29"/>
          <p:cNvSpPr txBox="1"/>
          <p:nvPr/>
        </p:nvSpPr>
        <p:spPr>
          <a:xfrm>
            <a:off x="12319000" y="5791200"/>
            <a:ext cx="4406900" cy="2933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목적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공과 패들의 충돌 감지 및 처리</a:t>
            </a: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충돌 조건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</a:t>
            </a:r>
            <a:endParaRPr lang="en-US" altLang="ko-KR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      X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축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공이 패들 영역 내</a:t>
            </a: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      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Y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축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공이 아래로 오며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,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패들과 겹침</a:t>
            </a: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처리 방식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</a:t>
            </a:r>
            <a:endParaRPr lang="ko-KR" altLang="en-US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     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ballDY = -ballDY (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반사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)</a:t>
            </a:r>
            <a:endParaRPr lang="en-US" altLang="ko-KR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     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속도 증가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 ballEX. ballDy *= SPEED_INCREASE</a:t>
            </a:r>
            <a:endParaRPr lang="en-US" altLang="ko-KR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     연속 </a:t>
            </a:r>
            <a:r>
              <a:rPr lang="en-US" altLang="ko-KR" sz="1700" b="1" i="0" u="none" strike="noStrike">
                <a:solidFill>
                  <a:srgbClr val="9daeff"/>
                </a:solidFill>
                <a:ea typeface="Noto Sans CJK KR Regular"/>
              </a:rPr>
              <a:t>5</a:t>
            </a:r>
            <a:r>
              <a:rPr lang="ko-KR" altLang="en-US" sz="1700" b="1" i="0" u="none" strike="noStrike">
                <a:solidFill>
                  <a:srgbClr val="9daeff"/>
                </a:solidFill>
                <a:ea typeface="Noto Sans CJK KR Regular"/>
              </a:rPr>
              <a:t>회 히트 시 스피드 부스트 활성화</a:t>
            </a:r>
            <a:endParaRPr lang="ko-KR" altLang="en-US" sz="1700" b="1" i="0" u="none" strike="noStrike">
              <a:solidFill>
                <a:srgbClr val="9dae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    공 위치 보정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: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ballY = paddleY  +</a:t>
            </a:r>
            <a:r>
              <a:rPr lang="ko-KR" altLang="en-US" sz="1700" b="1" i="0" u="none" strike="noStrike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1700" b="1" i="0" u="none" strike="noStrike">
                <a:solidFill>
                  <a:srgbClr val="ffffff"/>
                </a:solidFill>
                <a:ea typeface="Noto Sans CJK KR Regular"/>
              </a:rPr>
              <a:t>BALL_RADIUS</a:t>
            </a:r>
            <a:endParaRPr lang="en-US" altLang="ko-KR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ko-KR" altLang="en-US" sz="1700" b="1" i="0" u="none" strike="noStrike">
              <a:solidFill>
                <a:srgbClr val="ffffff"/>
              </a:solidFill>
              <a:ea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02280800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1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362200" y="2193987"/>
            <a:ext cx="7086600" cy="647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ko-KR" altLang="en-US" sz="3600" b="0" i="0" u="none" strike="noStrike" spc="-100">
                <a:solidFill>
                  <a:srgbClr val="ffffff"/>
                </a:solidFill>
                <a:latin typeface="Noto Sans CJK KR Regular"/>
              </a:rPr>
              <a:t> </a:t>
            </a:r>
            <a:r>
              <a:rPr lang="en-US" altLang="ko-KR" sz="4500" b="1" i="0" u="none" strike="noStrike" spc="-100">
                <a:solidFill>
                  <a:srgbClr val="ffffff"/>
                </a:solidFill>
                <a:latin typeface="Noto Sans CJK KR Regular"/>
              </a:rPr>
              <a:t>4.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 게임 실행 과정</a:t>
            </a:r>
            <a:r>
              <a:rPr lang="en-US" altLang="ko-KR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endParaRPr lang="en-US" altLang="ko-KR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60600" y="977900"/>
            <a:ext cx="330200" cy="330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95600" y="977900"/>
            <a:ext cx="330200" cy="330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530600" y="977900"/>
            <a:ext cx="330200" cy="33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311400" y="3492500"/>
            <a:ext cx="6832600" cy="5930900"/>
          </a:xfrm>
          <a:prstGeom prst="rect">
            <a:avLst/>
          </a:prstGeom>
          <a:effectLst>
            <a:outerShdw blurRad="349665" dist="91159" dir="2700000">
              <a:srgbClr val="000000">
                <a:alpha val="45000"/>
              </a:srgbClr>
            </a:outerShdw>
          </a:effectLst>
        </p:spPr>
      </p:pic>
      <p:grpSp>
        <p:nvGrpSpPr>
          <p:cNvPr id="15" name="Group 1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628900" y="3746500"/>
            <a:ext cx="203200" cy="203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009900" y="3746500"/>
            <a:ext cx="203200" cy="20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390900" y="3746500"/>
            <a:ext cx="203200" cy="203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271000" y="3492500"/>
            <a:ext cx="6832600" cy="5930900"/>
          </a:xfrm>
          <a:prstGeom prst="rect">
            <a:avLst/>
          </a:prstGeom>
          <a:effectLst>
            <a:outerShdw blurRad="349665" dist="91159" dir="2700000">
              <a:srgbClr val="000000">
                <a:alpha val="45000"/>
              </a:srgbClr>
            </a:outerShdw>
          </a:effectLst>
        </p:spPr>
      </p:pic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588500" y="3746500"/>
            <a:ext cx="203200" cy="203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969500" y="3746500"/>
            <a:ext cx="203200" cy="203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0350500" y="3746500"/>
            <a:ext cx="203200" cy="2032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016000" y="977900"/>
            <a:ext cx="1358900" cy="8432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 9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10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11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12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13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15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16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17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18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19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20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21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22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23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24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25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  <a:p>
            <a:pPr lvl="0" algn="l">
              <a:lnSpc>
                <a:spcPct val="16351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18820"/>
                  </a:srgbClr>
                </a:solidFill>
                <a:latin typeface="Noto Sans CJK KR DemiLight"/>
              </a:rPr>
              <a:t>26</a:t>
            </a:r>
            <a:endParaRPr lang="en-US" sz="1800" b="0" i="0" u="none" strike="noStrike">
              <a:solidFill>
                <a:srgbClr val="ffffff">
                  <a:alpha val="18820"/>
                </a:srgbClr>
              </a:solidFill>
              <a:latin typeface="Noto Sans CJK KR DemiLight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601200" y="4457700"/>
            <a:ext cx="6159500" cy="438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6.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패들로 공을 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5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회 연속 맞추면 공이 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1.5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초 동안 빨갛게 변하며 빨라집니다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.(Speed UP! 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메시지 표시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)</a:t>
            </a: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7.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모든 벽돌을 파괴하며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 “CONGRATULATION!! GAME CLEAR” 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메시지와 함께 클리어 시간이 표시됩니다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.</a:t>
            </a: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8.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이때 화면에 최고 기록도 함께 표시됩니다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.</a:t>
            </a: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9.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최고 기록은 이후 최단 기록에 따라 갱신됩니다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.</a:t>
            </a: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10.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게임 클리어 후 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‘R’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키를 누르면 게임이 재시작됩니다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.</a:t>
            </a: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590800" y="4572000"/>
            <a:ext cx="6400800" cy="438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1.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게임 시작 시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’Press to Game Start’ 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메시지가 표시 됩니다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.</a:t>
            </a: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2.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‘S’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키를 누르면 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3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초 카운트 다운 후 게임이 시작되며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,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공이 중앙에서 움직이기 시작합니다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.</a:t>
            </a: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3.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게임 시작 후 바로 사용자의 게임 시간을 기록합니다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.</a:t>
            </a: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4.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사용자는 화살표 키로 패들을 움직여 공을 튕겨냅니다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.</a:t>
            </a: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5.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공은 중력의 영향을 받아 아래로 떨어지며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,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오각형의 벽과 패들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,</a:t>
            </a:r>
            <a:r>
              <a:rPr lang="ko-KR" altLang="en-US" sz="2000" b="1" i="0" u="none" strike="noStrike">
                <a:solidFill>
                  <a:srgbClr val="ffffff"/>
                </a:solidFill>
                <a:ea typeface="Noto Sans CJK KR Regular"/>
              </a:rPr>
              <a:t>  벽돌에 부딫혀 반사됩니다</a:t>
            </a:r>
            <a:r>
              <a:rPr lang="en-US" altLang="ko-KR" sz="2000" b="1" i="0" u="none" strike="noStrike">
                <a:solidFill>
                  <a:srgbClr val="ffffff"/>
                </a:solidFill>
                <a:ea typeface="Noto Sans CJK KR Regular"/>
              </a:rPr>
              <a:t>.</a:t>
            </a:r>
            <a:endParaRPr lang="en-US" altLang="ko-KR" sz="20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82600"/>
              </a:lnSpc>
              <a:defRPr/>
            </a:pPr>
            <a:endParaRPr lang="en-US" altLang="ko-KR" sz="1700" b="1" i="0" u="none" strike="noStrike">
              <a:solidFill>
                <a:srgbClr val="ffffff"/>
              </a:solidFill>
              <a:ea typeface="Noto Sans CJK KR Regular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4165600" y="647700"/>
            <a:ext cx="11383963" cy="895475"/>
          </a:xfrm>
          <a:prstGeom prst="rect">
            <a:avLst/>
          </a:prstGeom>
        </p:spPr>
      </p:pic>
      <p:sp>
        <p:nvSpPr>
          <p:cNvPr id="35" name="가로 글상자 34"/>
          <p:cNvSpPr txBox="1"/>
          <p:nvPr/>
        </p:nvSpPr>
        <p:spPr>
          <a:xfrm>
            <a:off x="2438400" y="2874751"/>
            <a:ext cx="9144000" cy="592349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1800" b="1" i="0" u="none" strike="noStrike">
                <a:solidFill>
                  <a:srgbClr val="9daeff"/>
                </a:solidFill>
                <a:latin typeface="Noto Sans CJK KR Regular"/>
              </a:rPr>
              <a:t>The process of executing a Game __</a:t>
            </a:r>
            <a:endParaRPr lang="en-US" altLang="ko-KR" sz="1800" b="1" i="0" u="none" strike="noStrike">
              <a:solidFill>
                <a:srgbClr val="9daeff"/>
              </a:solidFill>
              <a:latin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77790549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1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247900" y="2476500"/>
            <a:ext cx="7086600" cy="647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endParaRPr lang="en-US" sz="3600" b="0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60600" y="977900"/>
            <a:ext cx="330200" cy="330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95600" y="977900"/>
            <a:ext cx="330200" cy="33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30600" y="977900"/>
            <a:ext cx="330200" cy="330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4584700" y="6654800"/>
            <a:ext cx="5143500" cy="12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16000" y="977900"/>
            <a:ext cx="1358900" cy="843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 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16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17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18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36800" y="4318000"/>
            <a:ext cx="2425700" cy="317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ko-KR" altLang="en-US" sz="2000" b="1" i="0" u="none" strike="noStrike">
                <a:solidFill>
                  <a:srgbClr val="ffcd4a"/>
                </a:solidFill>
                <a:latin typeface="Noto Sans CJK KR Regular"/>
              </a:rPr>
              <a:t>소감</a:t>
            </a:r>
            <a:endParaRPr lang="ko-KR" altLang="en-US" sz="2000" b="1" i="0" u="none" strike="noStrike">
              <a:solidFill>
                <a:srgbClr val="ffcd4a"/>
              </a:solidFill>
              <a:latin typeface="Noto Sans CJK KR Regul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336800" y="5130800"/>
            <a:ext cx="1511300" cy="520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endParaRPr lang="en-US" sz="2900" b="0" i="0" u="none" strike="noStrike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286000" y="5295900"/>
            <a:ext cx="4495800" cy="297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3590"/>
              </a:lnSpc>
              <a:defRPr/>
            </a:pPr>
            <a:r>
              <a:rPr lang="ko-KR" altLang="en-US" sz="2400" b="1" i="0" u="none" strike="noStrike">
                <a:solidFill>
                  <a:srgbClr val="9daeff"/>
                </a:solidFill>
                <a:latin typeface="Noto Sans CJK KR Thin"/>
              </a:rPr>
              <a:t>계획했던 기능 일부를 구현하지 못해서 아쉽지만 물리 엔진을 기반으로하는 게임을 제작해보는 귀중한 경험을 토대로 많은 것을 배운듯 하다</a:t>
            </a:r>
            <a:r>
              <a:rPr lang="en-US" altLang="ko-KR" sz="2400" b="1" i="0" u="none" strike="noStrike">
                <a:solidFill>
                  <a:srgbClr val="9daeff"/>
                </a:solidFill>
                <a:latin typeface="Noto Sans CJK KR Thin"/>
              </a:rPr>
              <a:t>.</a:t>
            </a:r>
            <a:endParaRPr lang="en-US" altLang="ko-KR" sz="2400" b="1" i="0" u="none" strike="noStrike">
              <a:solidFill>
                <a:srgbClr val="9daeff"/>
              </a:solidFill>
              <a:latin typeface="Noto Sans CJK KR Thin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267700" y="4330700"/>
            <a:ext cx="2425700" cy="317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ko-KR" altLang="en-US" sz="2000" b="1" i="0" u="none" strike="noStrike">
                <a:solidFill>
                  <a:srgbClr val="9daeff"/>
                </a:solidFill>
                <a:latin typeface="Noto Sans CJK KR Regular"/>
              </a:rPr>
              <a:t>향후 개발 방향</a:t>
            </a:r>
            <a:endParaRPr lang="ko-KR" altLang="en-US" sz="2000" b="1" i="0" u="none" strike="noStrike">
              <a:solidFill>
                <a:srgbClr val="9daeff"/>
              </a:solidFill>
              <a:latin typeface="Noto Sans CJK KR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267700" y="5130800"/>
            <a:ext cx="1511300" cy="520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endParaRPr lang="en-US" sz="2900" b="0" i="0" u="none" strike="noStrike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077200" y="4999355"/>
            <a:ext cx="4457700" cy="322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3590"/>
              </a:lnSpc>
              <a:defRPr/>
            </a:pPr>
            <a:r>
              <a:rPr lang="en-US" altLang="ko-KR" sz="2900" b="1" i="0" u="none" strike="noStrike">
                <a:solidFill>
                  <a:srgbClr val="9daeff"/>
                </a:solidFill>
                <a:ea typeface="Noto Sans CJK KR Thin"/>
              </a:rPr>
              <a:t>1.</a:t>
            </a:r>
            <a:r>
              <a:rPr lang="en-US" sz="2900" b="1" i="0" u="none" strike="noStrike">
                <a:solidFill>
                  <a:srgbClr val="9daeff"/>
                </a:solidFill>
                <a:latin typeface="Noto Sans CJK KR Thin"/>
              </a:rPr>
              <a:t> </a:t>
            </a:r>
            <a:r>
              <a:rPr lang="ko-KR" altLang="en-US" sz="2900" b="1" i="0" u="none" strike="noStrike">
                <a:solidFill>
                  <a:srgbClr val="9daeff"/>
                </a:solidFill>
                <a:latin typeface="Noto Sans CJK KR Thin"/>
              </a:rPr>
              <a:t>다양한 아이템 추가</a:t>
            </a:r>
            <a:endParaRPr lang="ko-KR" altLang="en-US" sz="2900" b="1" i="0" u="none" strike="noStrike">
              <a:solidFill>
                <a:srgbClr val="9daeff"/>
              </a:solidFill>
              <a:latin typeface="Noto Sans CJK KR Thin"/>
            </a:endParaRPr>
          </a:p>
          <a:p>
            <a:pPr lvl="0" algn="l">
              <a:lnSpc>
                <a:spcPct val="143590"/>
              </a:lnSpc>
              <a:defRPr/>
            </a:pPr>
            <a:r>
              <a:rPr lang="en-US" altLang="ko-KR" sz="2900" b="1" i="0" u="none" strike="noStrike">
                <a:solidFill>
                  <a:srgbClr val="ffffff"/>
                </a:solidFill>
                <a:ea typeface="Noto Sans CJK KR Regular"/>
              </a:rPr>
              <a:t>2.</a:t>
            </a:r>
            <a:r>
              <a:rPr lang="en-US" sz="2900" b="1" i="0" u="none" strike="noStrike">
                <a:solidFill>
                  <a:srgbClr val="ffffff"/>
                </a:solidFill>
                <a:latin typeface="Noto Sans CJK KR Regular"/>
              </a:rPr>
              <a:t> </a:t>
            </a:r>
            <a:r>
              <a:rPr lang="ko-KR" altLang="en-US" sz="2900" b="1" i="0" u="none" strike="noStrike">
                <a:solidFill>
                  <a:srgbClr val="ffffff"/>
                </a:solidFill>
                <a:ea typeface="Noto Sans CJK KR Regular"/>
              </a:rPr>
              <a:t>스테이지 시스템 도입</a:t>
            </a:r>
            <a:endParaRPr lang="ko-KR" altLang="en-US" sz="2900" b="1" i="0" u="none" strike="noStrike">
              <a:solidFill>
                <a:srgbClr val="ffffff"/>
              </a:solidFill>
              <a:ea typeface="Noto Sans CJK KR Regular"/>
            </a:endParaRPr>
          </a:p>
          <a:p>
            <a:pPr lvl="0" algn="l">
              <a:lnSpc>
                <a:spcPct val="143590"/>
              </a:lnSpc>
              <a:defRPr/>
            </a:pPr>
            <a:r>
              <a:rPr lang="en-US" altLang="ko-KR" sz="2900" b="1" i="0" u="none" strike="noStrike">
                <a:solidFill>
                  <a:srgbClr val="9daeff"/>
                </a:solidFill>
                <a:ea typeface="Noto Sans CJK KR Regular"/>
              </a:rPr>
              <a:t>3.</a:t>
            </a:r>
            <a:r>
              <a:rPr lang="ko-KR" altLang="en-US" sz="2900" b="1" i="0" u="none" strike="noStrike">
                <a:solidFill>
                  <a:srgbClr val="9daeff"/>
                </a:solidFill>
                <a:ea typeface="Noto Sans CJK KR Regular"/>
              </a:rPr>
              <a:t> 사운드 효과 추가</a:t>
            </a:r>
            <a:r>
              <a:rPr lang="en-US" sz="2900" b="1" i="0" u="none" strike="noStrike">
                <a:solidFill>
                  <a:srgbClr val="9daeff"/>
                </a:solidFill>
                <a:latin typeface="Noto Sans CJK KR Regular"/>
              </a:rPr>
              <a:t> </a:t>
            </a:r>
            <a:endParaRPr lang="en-US" sz="2900" b="1" i="0" u="none" strike="noStrike">
              <a:solidFill>
                <a:srgbClr val="9daeff"/>
              </a:solidFill>
              <a:latin typeface="Noto Sans CJK KR Regular"/>
            </a:endParaRPr>
          </a:p>
          <a:p>
            <a:pPr lvl="0" algn="l">
              <a:lnSpc>
                <a:spcPct val="143590"/>
              </a:lnSpc>
              <a:defRPr/>
            </a:pPr>
            <a:r>
              <a:rPr lang="en-US" altLang="ko-KR" sz="2900" b="1" i="0" u="none" strike="noStrike">
                <a:solidFill>
                  <a:srgbClr val="ffffff"/>
                </a:solidFill>
                <a:ea typeface="Noto Sans CJK KR Regular"/>
              </a:rPr>
              <a:t>4.</a:t>
            </a:r>
            <a:r>
              <a:rPr lang="ko-KR" altLang="en-US" sz="2900" b="1" i="0" u="none" strike="noStrike">
                <a:solidFill>
                  <a:srgbClr val="ffffff"/>
                </a:solidFill>
                <a:ea typeface="Noto Sans CJK KR Regular"/>
              </a:rPr>
              <a:t> 그래픽 개선</a:t>
            </a:r>
            <a:endParaRPr lang="ko-KR" altLang="en-US" sz="2900" b="1" i="0" u="none" strike="noStrike">
              <a:solidFill>
                <a:srgbClr val="ffffff"/>
              </a:solidFill>
              <a:ea typeface="Noto Sans CJK KR Regula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560300" y="5359400"/>
            <a:ext cx="45847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3590"/>
              </a:lnSpc>
              <a:defRPr/>
            </a:pPr>
            <a:r>
              <a:rPr lang="en-US" altLang="ko-KR" sz="2900" b="1" i="0" u="none" strike="noStrike">
                <a:solidFill>
                  <a:srgbClr val="ffffff"/>
                </a:solidFill>
                <a:ea typeface="Noto Sans CJK KR Thin"/>
              </a:rPr>
              <a:t>1.</a:t>
            </a:r>
            <a:r>
              <a:rPr lang="en-US" sz="2900" b="1" i="0" u="none" strike="noStrike">
                <a:solidFill>
                  <a:srgbClr val="ffffff"/>
                </a:solidFill>
                <a:latin typeface="Noto Sans CJK KR Thin"/>
              </a:rPr>
              <a:t> </a:t>
            </a:r>
            <a:r>
              <a:rPr lang="ko-KR" altLang="en-US" sz="2900" b="1" i="0" u="none" strike="noStrike">
                <a:solidFill>
                  <a:srgbClr val="ffffff"/>
                </a:solidFill>
                <a:latin typeface="Noto Sans CJK KR Thin"/>
              </a:rPr>
              <a:t>코드 가동성 향상</a:t>
            </a:r>
            <a:endParaRPr lang="ko-KR" altLang="en-US" sz="2900" b="1" i="0" u="none" strike="noStrike">
              <a:solidFill>
                <a:srgbClr val="9daeff"/>
              </a:solidFill>
              <a:latin typeface="Noto Sans CJK KR Thin"/>
            </a:endParaRPr>
          </a:p>
          <a:p>
            <a:pPr lvl="0" algn="l">
              <a:lnSpc>
                <a:spcPct val="143590"/>
              </a:lnSpc>
              <a:defRPr/>
            </a:pPr>
            <a:r>
              <a:rPr lang="en-US" altLang="ko-KR" sz="2900" b="1" i="0" u="none" strike="noStrike">
                <a:solidFill>
                  <a:srgbClr val="9daeff"/>
                </a:solidFill>
                <a:latin typeface="Noto Sans CJK KR Thin"/>
              </a:rPr>
              <a:t>2.</a:t>
            </a:r>
            <a:r>
              <a:rPr lang="ko-KR" altLang="en-US" sz="2900" b="1" i="0" u="none" strike="noStrike">
                <a:solidFill>
                  <a:srgbClr val="9daeff"/>
                </a:solidFill>
                <a:latin typeface="Noto Sans CJK KR Thin"/>
              </a:rPr>
              <a:t> 코드 유지보수성 향상</a:t>
            </a:r>
            <a:endParaRPr lang="ko-KR" altLang="en-US" sz="2900" b="1" i="0" u="none" strike="noStrike">
              <a:solidFill>
                <a:srgbClr val="9daeff"/>
              </a:solidFill>
              <a:latin typeface="Noto Sans CJK KR Thin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165600" y="647700"/>
            <a:ext cx="11383963" cy="895475"/>
          </a:xfrm>
          <a:prstGeom prst="rect">
            <a:avLst/>
          </a:prstGeom>
        </p:spPr>
      </p:pic>
      <p:sp>
        <p:nvSpPr>
          <p:cNvPr id="26" name="TextBox 4"/>
          <p:cNvSpPr txBox="1"/>
          <p:nvPr/>
        </p:nvSpPr>
        <p:spPr>
          <a:xfrm>
            <a:off x="2400300" y="2628900"/>
            <a:ext cx="7086600" cy="647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82600"/>
              </a:lnSpc>
              <a:defRPr/>
            </a:pP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 </a:t>
            </a:r>
            <a:r>
              <a:rPr lang="en-US" altLang="ko-KR" sz="4500" b="1" i="0" u="none" strike="noStrike" spc="-100">
                <a:solidFill>
                  <a:srgbClr val="ffffff"/>
                </a:solidFill>
                <a:latin typeface="Noto Sans CJK KR Regular"/>
              </a:rPr>
              <a:t>5.</a:t>
            </a:r>
            <a:r>
              <a:rPr lang="ko-KR" altLang="en-US" sz="4500" b="1" i="0" u="none" strike="noStrike" spc="-100">
                <a:solidFill>
                  <a:srgbClr val="ffffff"/>
                </a:solidFill>
                <a:latin typeface="Noto Sans CJK KR Regular"/>
              </a:rPr>
              <a:t> 소감 및 향후 개발 방향</a:t>
            </a:r>
            <a:r>
              <a:rPr lang="en-US" altLang="ko-KR" sz="4500" b="1" i="0" u="none" strike="noStrike" spc="-100">
                <a:solidFill>
                  <a:srgbClr val="ffffff"/>
                </a:solidFill>
                <a:latin typeface="Noto Sans CJK KR Regular"/>
              </a:rPr>
              <a:t>;</a:t>
            </a:r>
            <a:endParaRPr lang="en-US" altLang="ko-KR" sz="4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28" name="가로 글상자 27"/>
          <p:cNvSpPr txBox="1"/>
          <p:nvPr/>
        </p:nvSpPr>
        <p:spPr>
          <a:xfrm>
            <a:off x="2514600" y="3386825"/>
            <a:ext cx="9144000" cy="592720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82600"/>
              </a:lnSpc>
              <a:defRPr/>
            </a:pPr>
            <a:r>
              <a:rPr lang="en-US" altLang="ko-KR" sz="1800" b="0" i="0" u="none" strike="noStrike">
                <a:solidFill>
                  <a:srgbClr val="9daeff"/>
                </a:solidFill>
                <a:latin typeface="Noto Sans CJK KR Regular"/>
              </a:rPr>
              <a:t>The impression and future development directions __</a:t>
            </a:r>
            <a:endParaRPr lang="en-US" altLang="ko-KR" sz="1800" b="0" i="0" u="none" strike="noStrike">
              <a:solidFill>
                <a:srgbClr val="9daeff"/>
              </a:solidFill>
              <a:latin typeface="Noto Sans CJK KR Regular"/>
            </a:endParaRP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1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247900" y="2476500"/>
            <a:ext cx="13982700" cy="5257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82600"/>
              </a:lnSpc>
              <a:defRPr/>
            </a:pPr>
            <a:r>
              <a:rPr lang="ko-KR" altLang="en-US" sz="6000" b="1" i="0" u="none" strike="noStrike" spc="-100">
                <a:solidFill>
                  <a:srgbClr val="ffffff"/>
                </a:solidFill>
                <a:latin typeface="Noto Sans CJK KR Regular"/>
              </a:rPr>
              <a:t>이상으로 프로젝트 발표를 마치겠습니다</a:t>
            </a:r>
            <a:r>
              <a:rPr lang="en-US" altLang="ko-KR" sz="6000" b="1" i="0" u="none" strike="noStrike" spc="-100">
                <a:solidFill>
                  <a:srgbClr val="ffffff"/>
                </a:solidFill>
                <a:latin typeface="Noto Sans CJK KR Regular"/>
              </a:rPr>
              <a:t>.</a:t>
            </a:r>
            <a:endParaRPr lang="en-US" altLang="ko-KR" sz="60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60600" y="977900"/>
            <a:ext cx="330200" cy="330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95600" y="977900"/>
            <a:ext cx="330200" cy="33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30600" y="977900"/>
            <a:ext cx="330200" cy="3302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016000" y="977900"/>
            <a:ext cx="1358900" cy="843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 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16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17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18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19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20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21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22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23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24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25</a:t>
            </a:r>
          </a:p>
          <a:p>
            <a:pPr algn="l" lvl="0">
              <a:lnSpc>
                <a:spcPct val="163510"/>
              </a:lnSpc>
            </a:pPr>
            <a:r>
              <a:rPr lang="en-US" sz="1800" b="false" i="false" u="none" strike="noStrike">
                <a:solidFill>
                  <a:srgbClr val="FFFFFF">
                    <a:alpha val="18824"/>
                  </a:srgbClr>
                </a:solidFill>
                <a:latin typeface="Noto Sans CJK KR DemiLight"/>
              </a:rPr>
              <a:t>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14700" y="4775200"/>
            <a:ext cx="11468100" cy="1257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endParaRPr lang="ko-KR" altLang="en-US" sz="7000" b="0" i="0" u="none" strike="noStrike" spc="-2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204700" y="6540500"/>
            <a:ext cx="5207000" cy="1435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76790"/>
              </a:lnSpc>
              <a:defRPr/>
            </a:pPr>
            <a:endParaRPr lang="en-US" sz="2000" b="0" i="0" u="none" strike="noStrike">
              <a:solidFill>
                <a:srgbClr val="ffffff"/>
              </a:solidFill>
              <a:latin typeface="Noto Sans CJK KR Regular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165600" y="647700"/>
            <a:ext cx="11383963" cy="895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671</ep:Words>
  <ep:PresentationFormat>On-screen Show (4:3)</ep:PresentationFormat>
  <ep:Paragraphs>335</ep:Paragraphs>
  <ep:Slides>10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tv365</cp:lastModifiedBy>
  <dcterms:modified xsi:type="dcterms:W3CDTF">2025-05-19T09:54:59.991</dcterms:modified>
  <cp:revision>73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