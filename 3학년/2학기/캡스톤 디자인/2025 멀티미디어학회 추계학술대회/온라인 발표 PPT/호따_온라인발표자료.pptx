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78" r:id="rId1"/>
  </p:sldMasterIdLst>
  <p:notesMasterIdLst>
    <p:notesMasterId r:id="rId15"/>
  </p:notesMasterIdLst>
  <p:sldIdLst>
    <p:sldId id="256" r:id="rId2"/>
    <p:sldId id="271" r:id="rId3"/>
    <p:sldId id="309" r:id="rId4"/>
    <p:sldId id="310" r:id="rId5"/>
    <p:sldId id="305" r:id="rId6"/>
    <p:sldId id="307" r:id="rId7"/>
    <p:sldId id="308" r:id="rId8"/>
    <p:sldId id="311" r:id="rId9"/>
    <p:sldId id="312" r:id="rId10"/>
    <p:sldId id="314" r:id="rId11"/>
    <p:sldId id="318" r:id="rId12"/>
    <p:sldId id="286" r:id="rId13"/>
    <p:sldId id="283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6D18AE4-DB49-48AB-B277-7F6434347C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75" y="39"/>
      </p:cViewPr>
      <p:guideLst>
        <p:guide orient="horz" pos="16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맑은 고딕" panose="020B0503020000020004" pitchFamily="50" charset="-127"/>
        <a:ea typeface="맑은 고딕" panose="020B0503020000020004" pitchFamily="50" charset="-12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556209E4-FF7F-297A-5725-5E6D211C1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5223F7EE-3836-B47E-D2BD-BF0020A4D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C26D5E06-EF89-8A6D-86C8-D2FEA45C3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2656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B707C458-4841-A747-B55D-7F748C44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246B0D67-2B4D-DEF0-27BB-7EA43DD5A1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65008379-1E5E-DEB3-7CE0-927EA7984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9425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DBC73373-D3F2-BE6C-2FA5-E1380013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84D4886F-8D6B-598A-C44E-C49DBBE169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D30FD7C5-202D-B5C8-3A31-6379C701C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3445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6226C489-F39A-F66F-31EC-AE4BEFCE9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0E7853D1-2C78-005C-B26A-27224E98D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099CC6EF-787B-D20D-D10A-1B48D0DB9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9972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1E1EF01A-87B7-4B7A-4157-FE037131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CBF40F49-B4E6-08F1-4FDC-CB2828A8DB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08D7D715-1F53-2E1F-E5F6-BF81862917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8368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DEC72CBA-A99B-4910-B506-0E7FC851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10E9E72F-1F24-6355-4BC8-E108CBF215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CDAE6771-604B-AD3C-9AF8-29B227D87C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0528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3B6E3831-6F28-9130-B146-A0D8C8EAB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703E38D3-9963-204E-51BC-C7A6C6C73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87C1AD45-A162-B3D3-879D-7B23980C4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1632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CFB09371-A892-CB87-23CC-56B6FC761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9224DDEF-EFE6-2534-1707-E587DD7280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C1461711-1788-E55B-6686-20E6FDC54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5249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219DCF87-D679-0D63-49D3-9E769CBCA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5246C7FC-C109-648B-B47B-89F341EC0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61AAAF0C-54C9-90C1-23B3-228600E35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6828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340135a08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340135a08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148" name="Google Shape;148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49" name="Google Shape;149;p1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18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1" name="Google Shape;151;p18"/>
          <p:cNvSpPr txBox="1">
            <a:spLocks noGrp="1"/>
          </p:cNvSpPr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ubTitle" idx="1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3" name="Google Shape;263;p27"/>
          <p:cNvSpPr txBox="1">
            <a:spLocks noGrp="1"/>
          </p:cNvSpPr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7"/>
          <p:cNvSpPr txBox="1">
            <a:spLocks noGrp="1"/>
          </p:cNvSpPr>
          <p:nvPr>
            <p:ph type="subTitle" idx="1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64" r:id="rId5"/>
    <p:sldLayoutId id="2147483673" r:id="rId6"/>
    <p:sldLayoutId id="2147483674" r:id="rId7"/>
    <p:sldLayoutId id="214748367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20213032@office.deu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20213032@office.deu.ac.k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535333" y="774541"/>
            <a:ext cx="6073333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+mj-ea"/>
                <a:ea typeface="+mj-ea"/>
              </a:rPr>
              <a:t>LLM</a:t>
            </a:r>
            <a:r>
              <a:rPr lang="ko-KR" altLang="en-US" sz="2800" b="1" dirty="0">
                <a:latin typeface="+mj-ea"/>
                <a:ea typeface="+mj-ea"/>
              </a:rPr>
              <a:t>과 </a:t>
            </a:r>
            <a:r>
              <a:rPr lang="en-US" altLang="ko-KR" sz="2800" b="1" dirty="0">
                <a:latin typeface="+mj-ea"/>
                <a:ea typeface="+mj-ea"/>
              </a:rPr>
              <a:t>RAG</a:t>
            </a:r>
            <a:r>
              <a:rPr lang="ko-KR" altLang="en-US" sz="2800" b="1" dirty="0">
                <a:latin typeface="+mj-ea"/>
                <a:ea typeface="+mj-ea"/>
              </a:rPr>
              <a:t>를 활용한 부산시 현안 및 정책 지원 모델 연구</a:t>
            </a:r>
            <a:endParaRPr sz="2800" b="1" dirty="0">
              <a:latin typeface="+mj-ea"/>
              <a:ea typeface="+mj-ea"/>
            </a:endParaRPr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1623299" y="3067451"/>
            <a:ext cx="5897400" cy="9552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 dirty="0">
                <a:latin typeface="맑은 고딕"/>
                <a:ea typeface="맑은 고딕"/>
              </a:rPr>
              <a:t>권영훈</a:t>
            </a:r>
            <a:r>
              <a:rPr lang="en-US" altLang="ko-KR" b="1" dirty="0">
                <a:latin typeface="맑은 고딕"/>
                <a:ea typeface="맑은 고딕"/>
              </a:rPr>
              <a:t>, </a:t>
            </a:r>
            <a:r>
              <a:rPr lang="ko-KR" altLang="en-US" b="1" dirty="0">
                <a:latin typeface="맑은 고딕"/>
                <a:ea typeface="맑은 고딕"/>
              </a:rPr>
              <a:t>이호준</a:t>
            </a:r>
            <a:r>
              <a:rPr lang="en-US" altLang="ko-KR" b="1" dirty="0">
                <a:latin typeface="맑은 고딕"/>
                <a:ea typeface="맑은 고딕"/>
              </a:rPr>
              <a:t>, </a:t>
            </a:r>
            <a:r>
              <a:rPr lang="ko-KR" altLang="en-US" b="1" dirty="0" err="1">
                <a:latin typeface="맑은 고딕"/>
                <a:ea typeface="맑은 고딕"/>
              </a:rPr>
              <a:t>장현오</a:t>
            </a:r>
            <a:r>
              <a:rPr lang="en-US" altLang="ko-KR" b="1" dirty="0">
                <a:latin typeface="맑은 고딕"/>
                <a:ea typeface="맑은 고딕"/>
              </a:rPr>
              <a:t>, </a:t>
            </a:r>
            <a:r>
              <a:rPr lang="ko-KR" altLang="en-US" b="1" dirty="0" err="1">
                <a:latin typeface="맑은 고딕"/>
                <a:ea typeface="맑은 고딕"/>
              </a:rPr>
              <a:t>강신혁</a:t>
            </a:r>
            <a:endParaRPr lang="en-US" altLang="ko-KR" b="1" dirty="0">
              <a:latin typeface="맑은 고딕"/>
              <a:ea typeface="맑은 고딕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400" b="1" dirty="0">
              <a:latin typeface="맑은 고딕"/>
              <a:ea typeface="맑은 고딕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100" b="1" dirty="0">
                <a:latin typeface="맑은 고딕"/>
                <a:ea typeface="맑은 고딕"/>
              </a:rPr>
              <a:t>동의대학교 </a:t>
            </a:r>
            <a:r>
              <a:rPr lang="ko-KR" altLang="en-US" sz="1100" b="1" dirty="0" err="1">
                <a:latin typeface="맑은 고딕"/>
                <a:ea typeface="맑은 고딕"/>
              </a:rPr>
              <a:t>응용소프트웨어공학과</a:t>
            </a:r>
            <a:endParaRPr lang="en-US" altLang="ko-KR" sz="1100" b="1" dirty="0">
              <a:latin typeface="맑은 고딕"/>
              <a:ea typeface="맑은 고딕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300" b="1" dirty="0">
              <a:latin typeface="맑은 고딕"/>
              <a:ea typeface="맑은 고딕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dirty="0">
                <a:latin typeface="맑은 고딕"/>
                <a:ea typeface="맑은 고딕"/>
              </a:rPr>
              <a:t>e-mail: </a:t>
            </a:r>
            <a:r>
              <a:rPr lang="en-US" sz="1100" b="1" dirty="0">
                <a:latin typeface="맑은 고딕"/>
                <a:ea typeface="맑은 고딕"/>
                <a:hlinkClick r:id="rId3"/>
              </a:rPr>
              <a:t>20213032@office.deu.ac.kr</a:t>
            </a:r>
            <a:endParaRPr lang="en-US" sz="1100" b="1" dirty="0">
              <a:latin typeface="맑은 고딕"/>
              <a:ea typeface="맑은 고딕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100" dirty="0">
              <a:latin typeface="맑은 고딕"/>
              <a:ea typeface="맑은 고딕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100" b="1" dirty="0">
                <a:latin typeface="맑은 고딕"/>
                <a:ea typeface="맑은 고딕"/>
              </a:rPr>
              <a:t>지도교수 </a:t>
            </a:r>
            <a:r>
              <a:rPr lang="en-US" altLang="ko-KR" sz="1100" b="1" dirty="0">
                <a:latin typeface="맑은 고딕"/>
                <a:ea typeface="맑은 고딕"/>
              </a:rPr>
              <a:t>: </a:t>
            </a:r>
            <a:r>
              <a:rPr lang="ko-KR" altLang="en-US" sz="1100" b="1" dirty="0">
                <a:latin typeface="맑은 고딕"/>
                <a:ea typeface="맑은 고딕"/>
              </a:rPr>
              <a:t>김현태</a:t>
            </a:r>
            <a:r>
              <a:rPr lang="en-US" altLang="ko-KR" sz="1100" b="1" dirty="0">
                <a:latin typeface="맑은 고딕"/>
                <a:ea typeface="맑은 고딕"/>
              </a:rPr>
              <a:t>,</a:t>
            </a:r>
            <a:r>
              <a:rPr lang="ko-KR" altLang="en-US" sz="1100" b="1" dirty="0">
                <a:latin typeface="맑은 고딕"/>
                <a:ea typeface="맑은 고딕"/>
              </a:rPr>
              <a:t> </a:t>
            </a:r>
            <a:r>
              <a:rPr lang="en-US" altLang="ko-KR" sz="1100" b="1" dirty="0">
                <a:latin typeface="맑은 고딕"/>
                <a:ea typeface="맑은 고딕"/>
              </a:rPr>
              <a:t>(</a:t>
            </a:r>
            <a:r>
              <a:rPr lang="ko-KR" altLang="en-US" sz="1100" b="1" dirty="0">
                <a:latin typeface="맑은 고딕"/>
                <a:ea typeface="맑은 고딕"/>
              </a:rPr>
              <a:t>동의대학교 </a:t>
            </a:r>
            <a:r>
              <a:rPr lang="ko-KR" altLang="en-US" sz="1100" b="1" dirty="0" err="1">
                <a:latin typeface="맑은 고딕"/>
                <a:ea typeface="맑은 고딕"/>
              </a:rPr>
              <a:t>응용소프트웨어공학과</a:t>
            </a:r>
            <a:r>
              <a:rPr lang="en-US" altLang="ko-KR" sz="1100" b="1" dirty="0">
                <a:latin typeface="맑은 고딕"/>
                <a:ea typeface="맑은 고딕"/>
              </a:rPr>
              <a:t>)</a:t>
            </a:r>
          </a:p>
        </p:txBody>
      </p:sp>
      <p:sp>
        <p:nvSpPr>
          <p:cNvPr id="4" name="Google Shape;289;p33"/>
          <p:cNvSpPr txBox="1"/>
          <p:nvPr/>
        </p:nvSpPr>
        <p:spPr>
          <a:xfrm>
            <a:off x="1623299" y="2076049"/>
            <a:ext cx="5897400" cy="78765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3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lvl="0" algn="ctr">
              <a:defRPr/>
            </a:pPr>
            <a:r>
              <a:rPr lang="en-US" altLang="ko-KR" sz="1800" b="1" dirty="0">
                <a:latin typeface="+mj-ea"/>
                <a:ea typeface="+mj-ea"/>
              </a:rPr>
              <a:t>LLM and RAG-Based POLICY Support Model </a:t>
            </a:r>
          </a:p>
          <a:p>
            <a:pPr lvl="0" algn="ctr">
              <a:defRPr/>
            </a:pPr>
            <a:r>
              <a:rPr lang="en-US" altLang="ko-KR" sz="1800" b="1" dirty="0">
                <a:latin typeface="+mj-ea"/>
                <a:ea typeface="+mj-ea"/>
              </a:rPr>
              <a:t>for Current issues in Busan</a:t>
            </a:r>
            <a:endParaRPr lang="ko-KR" altLang="en-US" sz="18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D29C561-E25C-6745-900B-06B1E7411B97}"/>
              </a:ext>
            </a:extLst>
          </p:cNvPr>
          <p:cNvCxnSpPr/>
          <p:nvPr/>
        </p:nvCxnSpPr>
        <p:spPr>
          <a:xfrm>
            <a:off x="529935" y="2738865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8307757-73B1-7A26-2C73-44A4A983CD31}"/>
              </a:ext>
            </a:extLst>
          </p:cNvPr>
          <p:cNvCxnSpPr>
            <a:cxnSpLocks/>
          </p:cNvCxnSpPr>
          <p:nvPr/>
        </p:nvCxnSpPr>
        <p:spPr>
          <a:xfrm>
            <a:off x="7238986" y="2738865"/>
            <a:ext cx="1" cy="309993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5CB5AF8-CC46-F8EE-7C10-C5B0A4D44F6D}"/>
              </a:ext>
            </a:extLst>
          </p:cNvPr>
          <p:cNvCxnSpPr>
            <a:cxnSpLocks/>
          </p:cNvCxnSpPr>
          <p:nvPr/>
        </p:nvCxnSpPr>
        <p:spPr>
          <a:xfrm>
            <a:off x="5427511" y="2443556"/>
            <a:ext cx="1" cy="309993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1CDEFA5-91CD-0638-8079-B36731768DDD}"/>
              </a:ext>
            </a:extLst>
          </p:cNvPr>
          <p:cNvCxnSpPr>
            <a:cxnSpLocks/>
          </p:cNvCxnSpPr>
          <p:nvPr/>
        </p:nvCxnSpPr>
        <p:spPr>
          <a:xfrm>
            <a:off x="3614293" y="2720604"/>
            <a:ext cx="1" cy="309993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2487A2F-B8EC-A83A-CB5C-09D9D0039CE2}"/>
              </a:ext>
            </a:extLst>
          </p:cNvPr>
          <p:cNvCxnSpPr>
            <a:cxnSpLocks/>
          </p:cNvCxnSpPr>
          <p:nvPr/>
        </p:nvCxnSpPr>
        <p:spPr>
          <a:xfrm>
            <a:off x="1801083" y="2464297"/>
            <a:ext cx="1" cy="309993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5" name="Google Shape;595;p48"/>
          <p:cNvSpPr txBox="1">
            <a:spLocks noGrp="1"/>
          </p:cNvSpPr>
          <p:nvPr>
            <p:ph type="title"/>
          </p:nvPr>
        </p:nvSpPr>
        <p:spPr>
          <a:xfrm>
            <a:off x="720000" y="4489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ea"/>
                <a:ea typeface="+mj-ea"/>
              </a:rPr>
              <a:t>연구 배경 및 필요성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06146BD-0918-9ED5-0CB6-10FDA93C8DD1}"/>
              </a:ext>
            </a:extLst>
          </p:cNvPr>
          <p:cNvSpPr/>
          <p:nvPr/>
        </p:nvSpPr>
        <p:spPr>
          <a:xfrm>
            <a:off x="1519657" y="2628818"/>
            <a:ext cx="562845" cy="25630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</a:rPr>
              <a:t>현안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8CE7956-A04F-A16E-5166-5B061B925206}"/>
              </a:ext>
            </a:extLst>
          </p:cNvPr>
          <p:cNvSpPr/>
          <p:nvPr/>
        </p:nvSpPr>
        <p:spPr>
          <a:xfrm>
            <a:off x="955963" y="2153684"/>
            <a:ext cx="1683327" cy="37378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0E486C5-D0EF-B0E4-C6D7-82F753D7D31E}"/>
              </a:ext>
            </a:extLst>
          </p:cNvPr>
          <p:cNvSpPr/>
          <p:nvPr/>
        </p:nvSpPr>
        <p:spPr>
          <a:xfrm>
            <a:off x="597473" y="4261747"/>
            <a:ext cx="7431236" cy="489636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결론</a:t>
            </a:r>
            <a:r>
              <a:rPr lang="en-US" altLang="ko-KR" b="1" dirty="0">
                <a:solidFill>
                  <a:schemeClr val="tx1"/>
                </a:solidFill>
              </a:rPr>
              <a:t>: LLM</a:t>
            </a:r>
            <a:r>
              <a:rPr lang="ko-KR" altLang="en-US" b="1" dirty="0">
                <a:solidFill>
                  <a:schemeClr val="tx1"/>
                </a:solidFill>
              </a:rPr>
              <a:t>의 생성 능력은 활용하되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신뢰성과 정확성을 높일 해결책 도입 필수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8B2858-767F-293D-6BE2-517ACD9087FB}"/>
              </a:ext>
            </a:extLst>
          </p:cNvPr>
          <p:cNvSpPr txBox="1"/>
          <p:nvPr/>
        </p:nvSpPr>
        <p:spPr>
          <a:xfrm>
            <a:off x="1028906" y="2199410"/>
            <a:ext cx="15443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공공데이터 접근성 강화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E30B28C-9F3F-A5F1-8F7B-391B216A1128}"/>
              </a:ext>
            </a:extLst>
          </p:cNvPr>
          <p:cNvSpPr/>
          <p:nvPr/>
        </p:nvSpPr>
        <p:spPr>
          <a:xfrm>
            <a:off x="4572000" y="2153684"/>
            <a:ext cx="1683327" cy="37378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자연어 이해 및 정보 탐색 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2CFE390-AC53-0A56-661C-B3F5067A85C9}"/>
              </a:ext>
            </a:extLst>
          </p:cNvPr>
          <p:cNvSpPr/>
          <p:nvPr/>
        </p:nvSpPr>
        <p:spPr>
          <a:xfrm>
            <a:off x="2746679" y="3057441"/>
            <a:ext cx="1683327" cy="37378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시민이 원하는 정보를 즉시 찾기 어려움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54ED20D-D43E-380F-A6A6-31F418D8FCBA}"/>
              </a:ext>
            </a:extLst>
          </p:cNvPr>
          <p:cNvSpPr/>
          <p:nvPr/>
        </p:nvSpPr>
        <p:spPr>
          <a:xfrm>
            <a:off x="6397322" y="3062943"/>
            <a:ext cx="1683327" cy="37378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</a:rPr>
              <a:t> 허위 정보 생성 가능성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5732C0-0D6E-2E02-1FC4-8FB7C2D8744B}"/>
              </a:ext>
            </a:extLst>
          </p:cNvPr>
          <p:cNvSpPr txBox="1"/>
          <p:nvPr/>
        </p:nvSpPr>
        <p:spPr>
          <a:xfrm>
            <a:off x="4458136" y="1793641"/>
            <a:ext cx="197773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300" b="1" dirty="0">
                <a:latin typeface="+mj-ea"/>
                <a:ea typeface="+mj-ea"/>
              </a:rPr>
              <a:t>LLM </a:t>
            </a:r>
            <a:r>
              <a:rPr lang="ko-KR" altLang="en-US" sz="1300" b="1" dirty="0">
                <a:latin typeface="+mj-ea"/>
                <a:ea typeface="+mj-ea"/>
              </a:rPr>
              <a:t>기반 </a:t>
            </a:r>
            <a:r>
              <a:rPr lang="ko-KR" altLang="en-US" sz="1300" b="1" dirty="0" err="1">
                <a:latin typeface="+mj-ea"/>
                <a:ea typeface="+mj-ea"/>
              </a:rPr>
              <a:t>챗봇의</a:t>
            </a:r>
            <a:r>
              <a:rPr lang="ko-KR" altLang="en-US" sz="1300" b="1" dirty="0">
                <a:latin typeface="+mj-ea"/>
                <a:ea typeface="+mj-ea"/>
              </a:rPr>
              <a:t> 강점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F1C333-C25B-F19E-57AD-7977B3FA13C3}"/>
              </a:ext>
            </a:extLst>
          </p:cNvPr>
          <p:cNvSpPr txBox="1"/>
          <p:nvPr/>
        </p:nvSpPr>
        <p:spPr>
          <a:xfrm>
            <a:off x="597473" y="1806253"/>
            <a:ext cx="262868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300" b="1" dirty="0">
                <a:latin typeface="+mj-ea"/>
                <a:ea typeface="+mj-ea"/>
              </a:rPr>
              <a:t>디지털 정부 및 스마트 시티 전환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F34723-95DD-218F-D543-8DFF90D9E6A1}"/>
              </a:ext>
            </a:extLst>
          </p:cNvPr>
          <p:cNvSpPr txBox="1"/>
          <p:nvPr/>
        </p:nvSpPr>
        <p:spPr>
          <a:xfrm>
            <a:off x="2658119" y="3537703"/>
            <a:ext cx="195392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300" b="1" dirty="0">
                <a:latin typeface="+mj-ea"/>
                <a:ea typeface="+mj-ea"/>
              </a:rPr>
              <a:t>부산시 정책 정보 분산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E58518-EDD4-01FF-281F-D7650202EB31}"/>
              </a:ext>
            </a:extLst>
          </p:cNvPr>
          <p:cNvSpPr txBox="1"/>
          <p:nvPr/>
        </p:nvSpPr>
        <p:spPr>
          <a:xfrm>
            <a:off x="5947063" y="3529787"/>
            <a:ext cx="27716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LLM</a:t>
            </a:r>
            <a:r>
              <a:rPr lang="ko-KR" altLang="en-US" b="1" dirty="0"/>
              <a:t>의 한계</a:t>
            </a:r>
            <a:r>
              <a:rPr lang="en-US" altLang="ko-KR" b="1" dirty="0"/>
              <a:t>: Hallucination </a:t>
            </a:r>
            <a:r>
              <a:rPr lang="ko-KR" altLang="en-US" b="1" dirty="0"/>
              <a:t>문제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BE3FF48-0FE7-DFF3-BFBE-60BAAE503DCF}"/>
              </a:ext>
            </a:extLst>
          </p:cNvPr>
          <p:cNvSpPr/>
          <p:nvPr/>
        </p:nvSpPr>
        <p:spPr>
          <a:xfrm>
            <a:off x="3332870" y="2637554"/>
            <a:ext cx="562845" cy="25630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</a:rPr>
              <a:t>문제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C4FA58E-FBD3-3F5B-55ED-81BA05736C6F}"/>
              </a:ext>
            </a:extLst>
          </p:cNvPr>
          <p:cNvSpPr/>
          <p:nvPr/>
        </p:nvSpPr>
        <p:spPr>
          <a:xfrm>
            <a:off x="5171634" y="2646136"/>
            <a:ext cx="562845" cy="25630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</a:rPr>
              <a:t>대안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D850D9D-E6D4-DA37-2626-856746F03E50}"/>
              </a:ext>
            </a:extLst>
          </p:cNvPr>
          <p:cNvSpPr/>
          <p:nvPr/>
        </p:nvSpPr>
        <p:spPr>
          <a:xfrm>
            <a:off x="6984852" y="2637553"/>
            <a:ext cx="562845" cy="25630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</a:rPr>
              <a:t>과제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378480A-4BE8-D88D-606B-BA4898B02B74}"/>
              </a:ext>
            </a:extLst>
          </p:cNvPr>
          <p:cNvCxnSpPr/>
          <p:nvPr/>
        </p:nvCxnSpPr>
        <p:spPr>
          <a:xfrm>
            <a:off x="529935" y="1466259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BC60E46A-04CE-C188-C1B1-ED5A77DC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B9E3FE-0B6F-27AF-ACB2-A718F4C6970D}"/>
              </a:ext>
            </a:extLst>
          </p:cNvPr>
          <p:cNvCxnSpPr/>
          <p:nvPr/>
        </p:nvCxnSpPr>
        <p:spPr>
          <a:xfrm>
            <a:off x="549095" y="1791841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90019ED4-1ED7-ABAE-3104-1AC6D50F3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ea"/>
                <a:ea typeface="+mj-ea"/>
              </a:rPr>
              <a:t>연구 목표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D57F19-C9D0-2676-C103-4BB902B9568D}"/>
              </a:ext>
            </a:extLst>
          </p:cNvPr>
          <p:cNvSpPr/>
          <p:nvPr/>
        </p:nvSpPr>
        <p:spPr>
          <a:xfrm>
            <a:off x="594214" y="2565962"/>
            <a:ext cx="1584505" cy="1543679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분산된 부산시 정책 문서 및 지역 생활 정보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리뷰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등을 수집 및 정제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ko-KR" sz="400" b="1" dirty="0">
              <a:solidFill>
                <a:schemeClr val="tx1"/>
              </a:solidFill>
              <a:latin typeface="+mn-ea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기술로 참조할 신뢰성 있는 베이스 구축</a:t>
            </a:r>
            <a:endParaRPr lang="ko-KR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C87F3E4-886D-76D3-0682-B5B7E0CB6B74}"/>
              </a:ext>
            </a:extLst>
          </p:cNvPr>
          <p:cNvSpPr/>
          <p:nvPr/>
        </p:nvSpPr>
        <p:spPr>
          <a:xfrm>
            <a:off x="594214" y="1985662"/>
            <a:ext cx="1584505" cy="37378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  <a:cs typeface="Arial"/>
              </a:rPr>
              <a:t>데이터 통합 및 </a:t>
            </a:r>
            <a:endParaRPr lang="en-US" altLang="ko-KR" sz="1200" b="1" dirty="0">
              <a:solidFill>
                <a:srgbClr val="333333"/>
              </a:solidFill>
              <a:latin typeface="+mn-ea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  <a:cs typeface="Arial"/>
              </a:rPr>
              <a:t>지식 베이스 구축</a:t>
            </a:r>
            <a:endParaRPr lang="en-US" altLang="ko-KR" sz="1200" b="1" dirty="0">
              <a:solidFill>
                <a:srgbClr val="333333"/>
              </a:solidFill>
              <a:latin typeface="+mn-ea"/>
              <a:cs typeface="Arial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3F9A13B-2A71-3163-1DDA-C6BBEE654664}"/>
              </a:ext>
            </a:extLst>
          </p:cNvPr>
          <p:cNvSpPr/>
          <p:nvPr/>
        </p:nvSpPr>
        <p:spPr>
          <a:xfrm>
            <a:off x="2711676" y="1985662"/>
            <a:ext cx="1590113" cy="37378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  <a:cs typeface="Arial"/>
              </a:rPr>
              <a:t>환각 최소화 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  <a:cs typeface="Arial"/>
              </a:rPr>
              <a:t>RAG </a:t>
            </a:r>
            <a:r>
              <a:rPr lang="ko-KR" altLang="en-US" sz="1200" b="1" dirty="0">
                <a:solidFill>
                  <a:srgbClr val="333333"/>
                </a:solidFill>
                <a:latin typeface="+mn-ea"/>
                <a:cs typeface="Arial"/>
              </a:rPr>
              <a:t>파이프라인 설계</a:t>
            </a:r>
            <a:r>
              <a:rPr kumimoji="0" lang="ko-KR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Arial"/>
                <a:sym typeface="Arial"/>
              </a:rPr>
              <a:t>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536B16B-B868-8F5B-A2C5-8E55A4BEB34D}"/>
              </a:ext>
            </a:extLst>
          </p:cNvPr>
          <p:cNvSpPr/>
          <p:nvPr/>
        </p:nvSpPr>
        <p:spPr>
          <a:xfrm>
            <a:off x="4842212" y="1985657"/>
            <a:ext cx="1590113" cy="37378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cs typeface="Arial"/>
              </a:rPr>
              <a:t>시스템 효율성 검증</a:t>
            </a:r>
            <a:r>
              <a:rPr lang="ko-KR" altLang="ko-KR" sz="1200" dirty="0">
                <a:solidFill>
                  <a:srgbClr val="333333"/>
                </a:solidFill>
                <a:latin typeface="맑은 고딕" panose="020B0503020000020004" pitchFamily="50" charset="-127"/>
                <a:cs typeface="Arial"/>
              </a:rPr>
              <a:t>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0120AD9-3282-E0A6-99B4-9B21D95EF5B2}"/>
              </a:ext>
            </a:extLst>
          </p:cNvPr>
          <p:cNvSpPr/>
          <p:nvPr/>
        </p:nvSpPr>
        <p:spPr>
          <a:xfrm>
            <a:off x="7006940" y="1985657"/>
            <a:ext cx="1584505" cy="37378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실용적 서비스 모델 </a:t>
            </a:r>
            <a:endParaRPr lang="ko-KR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A03367A-3E47-AB99-06A4-AAF57728ADB8}"/>
              </a:ext>
            </a:extLst>
          </p:cNvPr>
          <p:cNvSpPr/>
          <p:nvPr/>
        </p:nvSpPr>
        <p:spPr>
          <a:xfrm>
            <a:off x="2730359" y="2565958"/>
            <a:ext cx="1542845" cy="1543683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cs typeface="Arial"/>
                <a:sym typeface="Arial"/>
              </a:rPr>
              <a:t>검색 정확도를 높이고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cs typeface="Arial"/>
                <a:sym typeface="Arial"/>
              </a:rPr>
              <a:t>LLM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cs typeface="Arial"/>
                <a:sym typeface="Arial"/>
              </a:rPr>
              <a:t>의 환각 답변생성을 제어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맑은 고딕" panose="020B0503020000020004" pitchFamily="50" charset="-127"/>
              <a:cs typeface="Arial"/>
              <a:sym typeface="Arial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400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맑은 고딕" panose="020B0503020000020004" pitchFamily="50" charset="-127"/>
              <a:cs typeface="Arial"/>
              <a:sym typeface="Arial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cs typeface="Arial"/>
                <a:sym typeface="Arial"/>
              </a:rPr>
              <a:t>환각 발생을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cs typeface="Arial"/>
              </a:rPr>
              <a:t>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cs typeface="Arial"/>
                <a:sym typeface="Arial"/>
              </a:rPr>
              <a:t>최소화하는 최적화된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cs typeface="Arial"/>
                <a:sym typeface="Arial"/>
              </a:rPr>
              <a:t>RAG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cs typeface="Arial"/>
                <a:sym typeface="Arial"/>
              </a:rPr>
              <a:t>파이프라인 구현</a:t>
            </a:r>
            <a:endParaRPr kumimoji="0" lang="ko-KR" altLang="ko-KR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161E0A-3847-6C46-0EC0-CE29CD013DC1}"/>
              </a:ext>
            </a:extLst>
          </p:cNvPr>
          <p:cNvSpPr/>
          <p:nvPr/>
        </p:nvSpPr>
        <p:spPr>
          <a:xfrm>
            <a:off x="4847820" y="2553256"/>
            <a:ext cx="1584505" cy="15436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Arial"/>
              </a:rPr>
              <a:t>LLM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Arial"/>
              </a:rPr>
              <a:t>모델과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Arial"/>
              </a:rPr>
              <a:t>RAG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Arial"/>
              </a:rPr>
              <a:t>시스템 비교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Arial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400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Arial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Arial"/>
              </a:rPr>
              <a:t>환각률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Arial"/>
              </a:rPr>
              <a:t> 감소 및 정확도 향상 효과를 비교 및 입증</a:t>
            </a:r>
            <a:endParaRPr kumimoji="0" lang="ko-KR" altLang="ko-KR" sz="1100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E0D9837-1179-1BAA-7AF4-7FDEF7DBB29F}"/>
              </a:ext>
            </a:extLst>
          </p:cNvPr>
          <p:cNvSpPr/>
          <p:nvPr/>
        </p:nvSpPr>
        <p:spPr>
          <a:xfrm>
            <a:off x="7006940" y="2553257"/>
            <a:ext cx="1584505" cy="154367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+mj-ea"/>
              </a:rPr>
              <a:t>단일 </a:t>
            </a:r>
            <a:r>
              <a:rPr lang="en-US" altLang="ko-KR" sz="1100" b="1" dirty="0">
                <a:solidFill>
                  <a:schemeClr val="tx1"/>
                </a:solidFill>
                <a:latin typeface="+mj-ea"/>
              </a:rPr>
              <a:t>GPU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</a:rPr>
              <a:t>와 같은 제한된 자원에서도 안정적으로 구동</a:t>
            </a:r>
            <a:endParaRPr lang="en-US" altLang="ko-KR" sz="1100" b="1" dirty="0">
              <a:solidFill>
                <a:schemeClr val="tx1"/>
              </a:solidFill>
              <a:latin typeface="+mj-ea"/>
            </a:endParaRPr>
          </a:p>
          <a:p>
            <a:pPr marL="228600" lvl="0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ko-KR" sz="400" b="1" dirty="0">
              <a:solidFill>
                <a:schemeClr val="tx1"/>
              </a:solidFill>
              <a:latin typeface="+mj-ea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+mj-ea"/>
              </a:rPr>
              <a:t>부산 시 외 타 </a:t>
            </a:r>
            <a:r>
              <a:rPr lang="ko-KR" altLang="en-US" sz="1100" b="1" dirty="0" err="1">
                <a:solidFill>
                  <a:schemeClr val="tx1"/>
                </a:solidFill>
                <a:latin typeface="+mj-ea"/>
              </a:rPr>
              <a:t>지차체에서도</a:t>
            </a:r>
            <a:r>
              <a:rPr lang="ko-KR" altLang="en-US" sz="1100" b="1" dirty="0">
                <a:solidFill>
                  <a:schemeClr val="tx1"/>
                </a:solidFill>
                <a:latin typeface="+mj-ea"/>
              </a:rPr>
              <a:t> 적용 모델 구현</a:t>
            </a:r>
            <a:endParaRPr lang="ko-KR" altLang="ko-KR" sz="1100" b="1" dirty="0">
              <a:solidFill>
                <a:schemeClr val="tx1"/>
              </a:solidFill>
              <a:latin typeface="+mj-ea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D6DB526-E01C-D981-3DFE-7967205EBA60}"/>
              </a:ext>
            </a:extLst>
          </p:cNvPr>
          <p:cNvCxnSpPr/>
          <p:nvPr/>
        </p:nvCxnSpPr>
        <p:spPr>
          <a:xfrm>
            <a:off x="549095" y="4257949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2510968-4023-4FFD-4AC1-E1E7D77A10C3}"/>
              </a:ext>
            </a:extLst>
          </p:cNvPr>
          <p:cNvSpPr/>
          <p:nvPr/>
        </p:nvSpPr>
        <p:spPr>
          <a:xfrm>
            <a:off x="865149" y="1211540"/>
            <a:ext cx="7431236" cy="489636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LLM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에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RAG(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검색 증강 생성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)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 기술을 도입하여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시민들이 환각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거짓 정보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)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우려 없이 부산시 정보를 쉽고 정확하게 검색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·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활용할 수 있는 신뢰성 높은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AI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정보 </a:t>
            </a: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챗봇을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 개발하고 그 효용성을 실증함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09ADF77-59FB-89FC-6533-D0C549A1B6FB}"/>
              </a:ext>
            </a:extLst>
          </p:cNvPr>
          <p:cNvCxnSpPr/>
          <p:nvPr/>
        </p:nvCxnSpPr>
        <p:spPr>
          <a:xfrm>
            <a:off x="549095" y="1075561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94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CFF7DE40-3BC1-A990-51C6-F3F9DDC0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7D02991C-5D16-3FF6-73A0-34519FD9BC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1" dirty="0">
                <a:latin typeface="+mn-ea"/>
                <a:ea typeface="+mn-ea"/>
              </a:rPr>
              <a:t>LLM (</a:t>
            </a:r>
            <a:r>
              <a:rPr lang="ko-KR" altLang="en-US" b="1" dirty="0">
                <a:latin typeface="+mn-ea"/>
                <a:ea typeface="+mn-ea"/>
              </a:rPr>
              <a:t>대규모 언어 모델</a:t>
            </a:r>
            <a:r>
              <a:rPr lang="en-US" altLang="ko-KR" b="1" dirty="0">
                <a:latin typeface="+mn-ea"/>
                <a:ea typeface="+mn-ea"/>
              </a:rPr>
              <a:t>)</a:t>
            </a:r>
            <a:r>
              <a:rPr lang="ko-KR" altLang="en-US" b="1" dirty="0">
                <a:latin typeface="+mn-ea"/>
                <a:ea typeface="+mn-ea"/>
              </a:rPr>
              <a:t>이란</a:t>
            </a:r>
            <a:r>
              <a:rPr lang="en-US" altLang="ko-KR" b="1" dirty="0">
                <a:latin typeface="+mn-ea"/>
                <a:ea typeface="+mn-ea"/>
              </a:rPr>
              <a:t>?</a:t>
            </a:r>
            <a:endParaRPr b="1" dirty="0">
              <a:latin typeface="+mn-ea"/>
              <a:ea typeface="+mn-ea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C2B1ABC8-5FF0-0DBC-E329-0E11A403F047}"/>
              </a:ext>
            </a:extLst>
          </p:cNvPr>
          <p:cNvCxnSpPr/>
          <p:nvPr/>
        </p:nvCxnSpPr>
        <p:spPr>
          <a:xfrm>
            <a:off x="479367" y="1108812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22002D18-DCEC-5EFA-F2AB-9C6A8C133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50" y="1199900"/>
            <a:ext cx="3943600" cy="36159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451ECC5-1637-4829-B469-92A8AAF26353}"/>
              </a:ext>
            </a:extLst>
          </p:cNvPr>
          <p:cNvSpPr/>
          <p:nvPr/>
        </p:nvSpPr>
        <p:spPr>
          <a:xfrm>
            <a:off x="479368" y="1266147"/>
            <a:ext cx="4298372" cy="22986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정의</a:t>
            </a:r>
            <a:endParaRPr lang="en-US" altLang="ko-KR" sz="12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ADEC1C0-04B5-0B89-139E-0EE1918D2933}"/>
              </a:ext>
            </a:extLst>
          </p:cNvPr>
          <p:cNvSpPr/>
          <p:nvPr/>
        </p:nvSpPr>
        <p:spPr>
          <a:xfrm>
            <a:off x="479366" y="1563862"/>
            <a:ext cx="4298375" cy="446133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대규모 텍스트 데이터를 기반으로 사전 훈련된 언어 모델입니다</a:t>
            </a:r>
            <a:r>
              <a:rPr lang="en-US" altLang="ko-KR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 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이를 통해 범용적인 언어 이해 및 생성 능력을 보유하게 됩니다</a:t>
            </a:r>
            <a:r>
              <a:rPr lang="en-US" altLang="ko-KR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21BC126-9B16-6431-0889-15F9D61F35C5}"/>
              </a:ext>
            </a:extLst>
          </p:cNvPr>
          <p:cNvSpPr/>
          <p:nvPr/>
        </p:nvSpPr>
        <p:spPr>
          <a:xfrm>
            <a:off x="465684" y="2077850"/>
            <a:ext cx="4298372" cy="2514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장점</a:t>
            </a:r>
            <a:endParaRPr lang="en-US" altLang="ko-KR" sz="12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14B5B52-2B87-FB3F-B926-DAA8A011AE1B}"/>
              </a:ext>
            </a:extLst>
          </p:cNvPr>
          <p:cNvSpPr/>
          <p:nvPr/>
        </p:nvSpPr>
        <p:spPr>
          <a:xfrm>
            <a:off x="465684" y="2397192"/>
            <a:ext cx="4298373" cy="575559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뛰어난 자연어 처리</a:t>
            </a:r>
            <a:r>
              <a:rPr lang="en-US" altLang="ko-KR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</a:t>
            </a:r>
            <a:r>
              <a:rPr lang="ko-KR" altLang="en-US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능력을 보유하고 있습니다</a:t>
            </a:r>
            <a:r>
              <a:rPr lang="en-US" altLang="ko-KR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복잡한 사용자 질의를 이해하고</a:t>
            </a:r>
            <a:r>
              <a:rPr lang="en-US" altLang="ko-KR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</a:t>
            </a:r>
            <a:r>
              <a:rPr lang="ko-KR" altLang="en-US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대화 형태로 정보를 제공할 수 있습니다</a:t>
            </a:r>
            <a:r>
              <a:rPr lang="en-US" altLang="ko-KR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일반적인 질의응답이나 텍스트 생성 작업에 즉시 활용이 가능합니다</a:t>
            </a:r>
            <a:r>
              <a:rPr lang="en-US" altLang="ko-KR" sz="9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9FE3CA4-2B4B-1854-8060-75D839414855}"/>
              </a:ext>
            </a:extLst>
          </p:cNvPr>
          <p:cNvSpPr/>
          <p:nvPr/>
        </p:nvSpPr>
        <p:spPr>
          <a:xfrm>
            <a:off x="479366" y="3392858"/>
            <a:ext cx="4298374" cy="1422979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사전 훈련된 내부 지식에 의존하여 답변을 생성합니다</a:t>
            </a:r>
            <a:r>
              <a:rPr lang="en-US" altLang="ko-KR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altLang="ko-KR" sz="10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학습 데이터에 없는 최신 정보를 반영하기 어렵습니다</a:t>
            </a:r>
            <a:endParaRPr lang="en-US" altLang="ko-KR" sz="10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altLang="ko-KR" sz="10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학습되지 않은 특정 도메인 정보 </a:t>
            </a:r>
            <a:r>
              <a:rPr lang="en-US" altLang="ko-KR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</a:t>
            </a:r>
            <a:r>
              <a: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예</a:t>
            </a:r>
            <a:r>
              <a:rPr lang="en-US" altLang="ko-KR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</a:t>
            </a:r>
            <a:r>
              <a: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부산시 정책</a:t>
            </a:r>
            <a:r>
              <a:rPr lang="en-US" altLang="ko-KR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)</a:t>
            </a:r>
            <a:r>
              <a: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가 부족합니다</a:t>
            </a:r>
            <a:r>
              <a:rPr lang="en-US" altLang="ko-KR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altLang="ko-KR" sz="10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정확한 정보가 없을 경우</a:t>
            </a:r>
            <a:r>
              <a:rPr lang="en-US" altLang="ko-KR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</a:t>
            </a:r>
            <a:r>
              <a: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그럴듯한 거짓 정보</a:t>
            </a:r>
            <a:r>
              <a:rPr lang="en-US" altLang="ko-KR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('</a:t>
            </a:r>
            <a:r>
              <a: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환각</a:t>
            </a:r>
            <a:r>
              <a:rPr lang="en-US" altLang="ko-KR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Hallucination')</a:t>
            </a:r>
            <a:r>
              <a: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를 생성할 위험이 높습니다</a:t>
            </a:r>
            <a:r>
              <a:rPr lang="en-US" altLang="ko-KR" sz="10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AD07FF3-5E60-12B5-1F8E-2122D387C226}"/>
              </a:ext>
            </a:extLst>
          </p:cNvPr>
          <p:cNvSpPr/>
          <p:nvPr/>
        </p:nvSpPr>
        <p:spPr>
          <a:xfrm>
            <a:off x="479367" y="3050281"/>
            <a:ext cx="4284690" cy="25148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한계점</a:t>
            </a:r>
            <a:endParaRPr lang="en-US" altLang="ko-KR" sz="12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1595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9BBA079E-6E0C-6253-F4AA-97EE6F8F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C2867637-68B4-9746-92CE-F725A7625C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ea"/>
                <a:ea typeface="+mj-ea"/>
              </a:rPr>
              <a:t>핵심 문제 </a:t>
            </a:r>
            <a:r>
              <a:rPr lang="en-US" altLang="ko-KR" b="1" dirty="0">
                <a:latin typeface="+mj-ea"/>
                <a:ea typeface="+mj-ea"/>
              </a:rPr>
              <a:t>: Hallucination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ED407EE-F796-F1A8-0053-E08D36791383}"/>
              </a:ext>
            </a:extLst>
          </p:cNvPr>
          <p:cNvSpPr/>
          <p:nvPr/>
        </p:nvSpPr>
        <p:spPr>
          <a:xfrm>
            <a:off x="648712" y="1532846"/>
            <a:ext cx="1683326" cy="572699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Hallucination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C43122F-753B-DCAB-9D64-FCF81A8AF419}"/>
              </a:ext>
            </a:extLst>
          </p:cNvPr>
          <p:cNvSpPr/>
          <p:nvPr/>
        </p:nvSpPr>
        <p:spPr>
          <a:xfrm>
            <a:off x="648712" y="2304106"/>
            <a:ext cx="1683327" cy="96096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공공 서비스에서의  위험성</a:t>
            </a:r>
            <a:endParaRPr lang="en-US" altLang="ko-KR" sz="12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E18D229-3C37-EE00-117C-298392C2DD3F}"/>
              </a:ext>
            </a:extLst>
          </p:cNvPr>
          <p:cNvSpPr/>
          <p:nvPr/>
        </p:nvSpPr>
        <p:spPr>
          <a:xfrm>
            <a:off x="648712" y="3463635"/>
            <a:ext cx="1683327" cy="1222856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본 연구의 </a:t>
            </a:r>
            <a:endParaRPr lang="en-US" altLang="ko-KR" sz="12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해결 목표</a:t>
            </a:r>
            <a:endParaRPr lang="en-US" altLang="ko-KR" sz="12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D9CA9D5-350A-43D4-2903-E109E0DA919C}"/>
              </a:ext>
            </a:extLst>
          </p:cNvPr>
          <p:cNvSpPr/>
          <p:nvPr/>
        </p:nvSpPr>
        <p:spPr>
          <a:xfrm>
            <a:off x="2546782" y="1532847"/>
            <a:ext cx="5877213" cy="572699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환각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' 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현상이란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LLM(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대규모 언어 모델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)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이 학습 데이터에 없거나 사실과 다른 정보를 마치 사실인 것처럼 생성하는 치명적인 문제입니다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8960208-4216-2598-E1B4-D0B45F22CB8B}"/>
              </a:ext>
            </a:extLst>
          </p:cNvPr>
          <p:cNvSpPr/>
          <p:nvPr/>
        </p:nvSpPr>
        <p:spPr>
          <a:xfrm>
            <a:off x="2546782" y="2304105"/>
            <a:ext cx="5877213" cy="96096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공공 서비스에서의 위험성시민의 삶과 직결되는 공공 정책 정보에 환각이 발생할 경우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시민에게 치명적인 허위 정보를 제공할 수 있으며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이는 행정의 신뢰도를 심각하게 훼손하는 결과로 이어집니다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F8A10C3-4FA3-A794-CF8B-D2B5626BB06D}"/>
              </a:ext>
            </a:extLst>
          </p:cNvPr>
          <p:cNvSpPr/>
          <p:nvPr/>
        </p:nvSpPr>
        <p:spPr>
          <a:xfrm>
            <a:off x="2546784" y="3463635"/>
            <a:ext cx="5877213" cy="122285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LLM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의 유창한 언어 생성 능력은 유지하면서도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'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사실 기반의 정확한 응답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'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만을 제공하여 신뢰성을 확보하기 위한 기술로 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RAG(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검색 증강 생성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)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를 도입합니다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97DFD89-AD12-C599-BDC7-1E351E189DB6}"/>
              </a:ext>
            </a:extLst>
          </p:cNvPr>
          <p:cNvCxnSpPr/>
          <p:nvPr/>
        </p:nvCxnSpPr>
        <p:spPr>
          <a:xfrm>
            <a:off x="540327" y="1230732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115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9E2D37E2-208C-C363-7860-E9B35882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F7455386-7641-094C-77C7-3A5EBF150D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altLang="ko-KR" b="1" dirty="0">
                <a:latin typeface="+mj-ea"/>
                <a:ea typeface="+mj-ea"/>
              </a:rPr>
              <a:t>RAG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(Retrieval-Augmented Generation)</a:t>
            </a:r>
            <a:endParaRPr b="1" dirty="0">
              <a:latin typeface="+mj-ea"/>
              <a:ea typeface="+mj-ea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CE9970B-4F5C-55FD-BA75-9782AE9D2D3F}"/>
              </a:ext>
            </a:extLst>
          </p:cNvPr>
          <p:cNvCxnSpPr/>
          <p:nvPr/>
        </p:nvCxnSpPr>
        <p:spPr>
          <a:xfrm>
            <a:off x="553555" y="1177650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RAG (Retrieval-Augmented Generation) process diagram">
            <a:extLst>
              <a:ext uri="{FF2B5EF4-FFF2-40B4-BE49-F238E27FC236}">
                <a16:creationId xmlns:a16="http://schemas.microsoft.com/office/drawing/2014/main" id="{D9BAAFAF-D6F6-8BDB-FEDE-8B9333712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55" y="1427025"/>
            <a:ext cx="4567085" cy="33638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D52D3E9-0FA1-6CE9-9C78-D1DB0712E62E}"/>
              </a:ext>
            </a:extLst>
          </p:cNvPr>
          <p:cNvSpPr/>
          <p:nvPr/>
        </p:nvSpPr>
        <p:spPr>
          <a:xfrm>
            <a:off x="5372098" y="1903113"/>
            <a:ext cx="2981546" cy="183830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LLM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이 답변을 생성하기 전에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먼저 검증된 외부 지식 베이스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(DB)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에서 질문과 관련된 정확한 정보를 검색합니다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그 이후에 검색한 내용을 근거로 하여 답변을 생성하는 기술입니다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E78F26F-F8AF-2258-AD0C-7508A099A8C9}"/>
              </a:ext>
            </a:extLst>
          </p:cNvPr>
          <p:cNvSpPr/>
          <p:nvPr/>
        </p:nvSpPr>
        <p:spPr>
          <a:xfrm>
            <a:off x="5372098" y="1328073"/>
            <a:ext cx="2981547" cy="42461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RAG (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검색 증강 생성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Retrieval-Augmented Generation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정의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1767B76-BFA7-6D5F-345B-9FD2580CF56B}"/>
              </a:ext>
            </a:extLst>
          </p:cNvPr>
          <p:cNvSpPr/>
          <p:nvPr/>
        </p:nvSpPr>
        <p:spPr>
          <a:xfrm>
            <a:off x="5372098" y="3891842"/>
            <a:ext cx="2981546" cy="649052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 LLM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의 유창함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+ RAG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의 정확성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=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신뢰할 수 있는 답변</a:t>
            </a:r>
          </a:p>
        </p:txBody>
      </p:sp>
    </p:spTree>
    <p:extLst>
      <p:ext uri="{BB962C8B-B14F-4D97-AF65-F5344CB8AC3E}">
        <p14:creationId xmlns:p14="http://schemas.microsoft.com/office/powerpoint/2010/main" val="84870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6CC864D2-B917-F37C-0C93-E6122F4E5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b="1" dirty="0">
                <a:latin typeface="+mj-ea"/>
                <a:ea typeface="+mj-ea"/>
              </a:rPr>
              <a:t>RAG</a:t>
            </a:r>
            <a:r>
              <a:rPr lang="ko-KR" altLang="en-US" b="1" dirty="0">
                <a:latin typeface="+mj-ea"/>
                <a:ea typeface="+mj-ea"/>
              </a:rPr>
              <a:t>가 </a:t>
            </a:r>
            <a:r>
              <a:rPr lang="en-US" altLang="ko-KR" b="1" dirty="0">
                <a:latin typeface="+mj-ea"/>
              </a:rPr>
              <a:t>Hallucination</a:t>
            </a:r>
            <a:r>
              <a:rPr lang="ko-KR" altLang="en-US" b="1" dirty="0">
                <a:latin typeface="+mj-ea"/>
                <a:ea typeface="+mj-ea"/>
              </a:rPr>
              <a:t>을 억제하는 원리</a:t>
            </a:r>
            <a:endParaRPr b="1" dirty="0">
              <a:latin typeface="+mj-ea"/>
              <a:ea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1686238-F86B-28BF-57E4-B8D3F0BE410B}"/>
              </a:ext>
            </a:extLst>
          </p:cNvPr>
          <p:cNvCxnSpPr/>
          <p:nvPr/>
        </p:nvCxnSpPr>
        <p:spPr>
          <a:xfrm>
            <a:off x="549095" y="1075561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2B0E28F-B6F0-89E2-815D-8E4D174AE108}"/>
              </a:ext>
            </a:extLst>
          </p:cNvPr>
          <p:cNvSpPr/>
          <p:nvPr/>
        </p:nvSpPr>
        <p:spPr>
          <a:xfrm>
            <a:off x="549095" y="1273767"/>
            <a:ext cx="8063344" cy="295952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RAG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는 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LLM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이 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'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기억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'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에 의존하지 않고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'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검색된 사실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'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에 기반하여 답변하도록 강제합니다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62F8485-8911-C8A4-BDC5-9B5CA5445A29}"/>
              </a:ext>
            </a:extLst>
          </p:cNvPr>
          <p:cNvSpPr/>
          <p:nvPr/>
        </p:nvSpPr>
        <p:spPr>
          <a:xfrm>
            <a:off x="522424" y="3580204"/>
            <a:ext cx="8090014" cy="289529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결론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</a:t>
            </a: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환각이 줄어드는 이유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AABB505-E5B4-0957-5E1A-E5E85C145823}"/>
              </a:ext>
            </a:extLst>
          </p:cNvPr>
          <p:cNvSpPr/>
          <p:nvPr/>
        </p:nvSpPr>
        <p:spPr>
          <a:xfrm>
            <a:off x="522424" y="2027603"/>
            <a:ext cx="2612286" cy="144523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사용자 질문이 들어오면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LLM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에 먼저 묻지 않습니다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1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대신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신뢰할 수 있는 외부 지식 베이스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(DB)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에서 질문</a:t>
            </a:r>
            <a:endParaRPr lang="en-US" altLang="ko-KR" sz="11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예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부산시 정책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)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과 관련된 정확한 정보를 실시간으로 검색합니다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274AD7A-740F-CDA0-A160-377468982888}"/>
              </a:ext>
            </a:extLst>
          </p:cNvPr>
          <p:cNvSpPr/>
          <p:nvPr/>
        </p:nvSpPr>
        <p:spPr>
          <a:xfrm>
            <a:off x="3270354" y="2027604"/>
            <a:ext cx="2612286" cy="144523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검색된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‘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사실데이터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(Context)’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를 </a:t>
            </a:r>
            <a:endParaRPr lang="en-US" altLang="ko-KR" sz="11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사용자 질문과 함께 결합하여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LLM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에게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‘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참조 자료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‘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로 함께 전달합니다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219B825-85DC-E2B4-53F3-FC467E8BD366}"/>
              </a:ext>
            </a:extLst>
          </p:cNvPr>
          <p:cNvSpPr/>
          <p:nvPr/>
        </p:nvSpPr>
        <p:spPr>
          <a:xfrm>
            <a:off x="6018284" y="2027603"/>
            <a:ext cx="2603295" cy="142940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LLM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은 프롬프트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명령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)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을 통해 </a:t>
            </a:r>
            <a:endParaRPr lang="en-US" altLang="ko-KR" sz="11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오직 방금 전달받은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‘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참조 자료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‘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에 근거해서만 답변을 생성하도록 역할이 제어됩니다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CB0C956-5723-43FE-E7DD-37EF0A72B0EA}"/>
              </a:ext>
            </a:extLst>
          </p:cNvPr>
          <p:cNvSpPr/>
          <p:nvPr/>
        </p:nvSpPr>
        <p:spPr>
          <a:xfrm>
            <a:off x="549095" y="1703155"/>
            <a:ext cx="2585615" cy="21708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단계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검색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(Retrieval)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3CEC2FF-FBF8-F360-7EBB-377016EFEB08}"/>
              </a:ext>
            </a:extLst>
          </p:cNvPr>
          <p:cNvSpPr/>
          <p:nvPr/>
        </p:nvSpPr>
        <p:spPr>
          <a:xfrm>
            <a:off x="3270355" y="1719835"/>
            <a:ext cx="2612286" cy="21708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단계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증강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(Augmentation)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B25F580-D1B3-245F-17AD-956775BCC1CF}"/>
              </a:ext>
            </a:extLst>
          </p:cNvPr>
          <p:cNvSpPr/>
          <p:nvPr/>
        </p:nvSpPr>
        <p:spPr>
          <a:xfrm>
            <a:off x="6018284" y="1719835"/>
            <a:ext cx="2576621" cy="21708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단계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생성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(Generation)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3CCFEB6-56D2-84AA-8CFE-89BDB6EAE4EC}"/>
              </a:ext>
            </a:extLst>
          </p:cNvPr>
          <p:cNvSpPr/>
          <p:nvPr/>
        </p:nvSpPr>
        <p:spPr>
          <a:xfrm>
            <a:off x="522424" y="3930725"/>
            <a:ext cx="8099154" cy="92321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RAG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는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LLM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의 역할을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'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모든 것을 아는 전문가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’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에서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'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주어진 자료를 잘 요약하고 설명하는 전문가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'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로 변경시킵니다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사실의 근거가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LLM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의 내부 기억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불확실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)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에서 외부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DB(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)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로 이동하기 때문에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환각이 발생할 가능성이 극적으로 줄어듭니다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만약 외부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DB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검색 결과 관련 정보가 없다면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LLM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은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"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알 수 없음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"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이라고 답변하도록 제어됩니다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920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6466D596-0748-0A1E-3178-7E1AAFD08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82634A2-BCB3-6BD5-04A7-39096DF900C4}"/>
              </a:ext>
            </a:extLst>
          </p:cNvPr>
          <p:cNvCxnSpPr>
            <a:cxnSpLocks/>
          </p:cNvCxnSpPr>
          <p:nvPr/>
        </p:nvCxnSpPr>
        <p:spPr>
          <a:xfrm>
            <a:off x="2506684" y="2919387"/>
            <a:ext cx="419891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D6D80714-9110-C00B-958C-8E7C97D3F3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ea"/>
                <a:ea typeface="+mj-ea"/>
              </a:rPr>
              <a:t>시스템 전체 구조</a:t>
            </a:r>
            <a:endParaRPr b="1" dirty="0">
              <a:latin typeface="+mj-ea"/>
              <a:ea typeface="+mj-ea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D17E5CD-1185-F526-D1BB-42678382EBCB}"/>
              </a:ext>
            </a:extLst>
          </p:cNvPr>
          <p:cNvCxnSpPr/>
          <p:nvPr/>
        </p:nvCxnSpPr>
        <p:spPr>
          <a:xfrm>
            <a:off x="549095" y="1075561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00B09E2-7025-A0B9-A073-7E2FC32E4E44}"/>
              </a:ext>
            </a:extLst>
          </p:cNvPr>
          <p:cNvSpPr/>
          <p:nvPr/>
        </p:nvSpPr>
        <p:spPr>
          <a:xfrm>
            <a:off x="991269" y="1588393"/>
            <a:ext cx="1957589" cy="283335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데이터 수집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</a:t>
            </a:r>
          </a:p>
          <a:p>
            <a:endParaRPr lang="en-US" altLang="ko-KR" sz="4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부산 시 공식 정책 문서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(8,247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건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endParaRPr lang="en-US" altLang="ko-KR" sz="4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네이버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카카오 상점 리뷰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(156,832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건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endParaRPr lang="en-US" altLang="ko-KR" sz="1050" b="1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정제 및 정규화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</a:t>
            </a:r>
          </a:p>
          <a:p>
            <a:endParaRPr lang="en-US" altLang="ko-KR" sz="4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Apache Spark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기반 데이터 노이즈 제거 및 데이터 통합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CCF114B-BE2F-5E29-B4A1-6840741B02F4}"/>
              </a:ext>
            </a:extLst>
          </p:cNvPr>
          <p:cNvSpPr/>
          <p:nvPr/>
        </p:nvSpPr>
        <p:spPr>
          <a:xfrm>
            <a:off x="1332560" y="1725766"/>
            <a:ext cx="1275009" cy="4164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+mn-ea"/>
              </a:rPr>
              <a:t>DEV(Data)</a:t>
            </a:r>
            <a:endParaRPr lang="ko-KR" altLang="en-US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C07743D-EB45-45DA-B9E2-A5FE53E4B021}"/>
              </a:ext>
            </a:extLst>
          </p:cNvPr>
          <p:cNvSpPr/>
          <p:nvPr/>
        </p:nvSpPr>
        <p:spPr>
          <a:xfrm>
            <a:off x="6195142" y="1588393"/>
            <a:ext cx="1957589" cy="283335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Frontend: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ko-KR" altLang="ko-KR" sz="1100" b="1" dirty="0" err="1">
                <a:solidFill>
                  <a:schemeClr val="tx1"/>
                </a:solidFill>
                <a:latin typeface="+mn-ea"/>
              </a:rPr>
              <a:t>React</a:t>
            </a:r>
            <a:r>
              <a:rPr lang="ko-KR" altLang="ko-KR" sz="1100" b="1" dirty="0">
                <a:solidFill>
                  <a:schemeClr val="tx1"/>
                </a:solidFill>
                <a:latin typeface="+mn-ea"/>
              </a:rPr>
              <a:t> 기반 웹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 UI</a:t>
            </a:r>
            <a:r>
              <a:rPr lang="ko-KR" altLang="ko-KR" sz="11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개발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Visualization: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ko-KR" altLang="ko-KR" sz="1100" b="1" dirty="0" err="1">
                <a:solidFill>
                  <a:schemeClr val="tx1"/>
                </a:solidFill>
                <a:latin typeface="+mn-ea"/>
              </a:rPr>
              <a:t>Mapbox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통합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ko-KR" sz="1100" b="1" dirty="0">
                <a:solidFill>
                  <a:schemeClr val="tx1"/>
                </a:solidFill>
                <a:latin typeface="+mn-ea"/>
              </a:rPr>
              <a:t>지도 시각화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구현</a:t>
            </a:r>
            <a:endParaRPr lang="ko-KR" altLang="ko-KR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7DE0614-95AC-F68C-E66E-24971E16D8EC}"/>
              </a:ext>
            </a:extLst>
          </p:cNvPr>
          <p:cNvSpPr/>
          <p:nvPr/>
        </p:nvSpPr>
        <p:spPr>
          <a:xfrm>
            <a:off x="3593203" y="1588393"/>
            <a:ext cx="1957589" cy="283335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Storage(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저장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저장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: MongoDB, PostgreSQL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벡터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: OpenSearch</a:t>
            </a:r>
          </a:p>
          <a:p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Service(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서비스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LLM: Gemma3 27B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 API: REST API (MCP)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E09279B-11CF-334E-1096-9714F7F933B7}"/>
              </a:ext>
            </a:extLst>
          </p:cNvPr>
          <p:cNvSpPr/>
          <p:nvPr/>
        </p:nvSpPr>
        <p:spPr>
          <a:xfrm>
            <a:off x="3934494" y="1725767"/>
            <a:ext cx="1275009" cy="4164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+mn-ea"/>
              </a:rPr>
              <a:t>Package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Service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9EC7270-B998-D3D6-5546-4EAFE260E7EB}"/>
              </a:ext>
            </a:extLst>
          </p:cNvPr>
          <p:cNvSpPr/>
          <p:nvPr/>
        </p:nvSpPr>
        <p:spPr>
          <a:xfrm>
            <a:off x="6536431" y="1725766"/>
            <a:ext cx="1275009" cy="4164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Client (UI)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924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E8C176B2-0667-AB13-7638-8C2D41A6B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4DE9DB43-CC9A-4494-C4B9-78003A420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1" dirty="0">
                <a:latin typeface="+mj-ea"/>
                <a:ea typeface="+mj-ea"/>
              </a:rPr>
              <a:t>4</a:t>
            </a:r>
            <a:r>
              <a:rPr lang="ko-KR" altLang="en-US" b="1" dirty="0">
                <a:latin typeface="+mj-ea"/>
                <a:ea typeface="+mj-ea"/>
              </a:rPr>
              <a:t>단계 환각 최소화</a:t>
            </a:r>
            <a:r>
              <a:rPr lang="en-US" altLang="ko-KR" b="1" dirty="0">
                <a:latin typeface="+mj-ea"/>
                <a:ea typeface="+mj-ea"/>
              </a:rPr>
              <a:t> RAG </a:t>
            </a:r>
            <a:r>
              <a:rPr lang="ko-KR" altLang="en-US" b="1" dirty="0">
                <a:latin typeface="+mj-ea"/>
                <a:ea typeface="+mj-ea"/>
              </a:rPr>
              <a:t>파이프라인</a:t>
            </a:r>
            <a:endParaRPr b="1" dirty="0">
              <a:latin typeface="+mj-ea"/>
              <a:ea typeface="+mj-ea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2B09D2A-EC9F-0548-0E63-02C2E105FDC9}"/>
              </a:ext>
            </a:extLst>
          </p:cNvPr>
          <p:cNvCxnSpPr/>
          <p:nvPr/>
        </p:nvCxnSpPr>
        <p:spPr>
          <a:xfrm>
            <a:off x="549095" y="1075561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D9049784-801A-03A4-2122-64BB205A5488}"/>
              </a:ext>
            </a:extLst>
          </p:cNvPr>
          <p:cNvSpPr/>
          <p:nvPr/>
        </p:nvSpPr>
        <p:spPr>
          <a:xfrm>
            <a:off x="553186" y="1286012"/>
            <a:ext cx="1940820" cy="383950"/>
          </a:xfrm>
          <a:prstGeom prst="homePlat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단계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다중 검색기 앙상블</a:t>
            </a:r>
          </a:p>
        </p:txBody>
      </p:sp>
      <p:sp>
        <p:nvSpPr>
          <p:cNvPr id="12" name="화살표: 오각형 11">
            <a:extLst>
              <a:ext uri="{FF2B5EF4-FFF2-40B4-BE49-F238E27FC236}">
                <a16:creationId xmlns:a16="http://schemas.microsoft.com/office/drawing/2014/main" id="{BCABF632-FE14-B980-6283-C62472AF286E}"/>
              </a:ext>
            </a:extLst>
          </p:cNvPr>
          <p:cNvSpPr/>
          <p:nvPr/>
        </p:nvSpPr>
        <p:spPr>
          <a:xfrm>
            <a:off x="2631181" y="1286012"/>
            <a:ext cx="1940820" cy="383950"/>
          </a:xfrm>
          <a:prstGeom prst="homePlat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단계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컨텍스트 검증</a:t>
            </a:r>
          </a:p>
        </p:txBody>
      </p:sp>
      <p:sp>
        <p:nvSpPr>
          <p:cNvPr id="13" name="화살표: 오각형 12">
            <a:extLst>
              <a:ext uri="{FF2B5EF4-FFF2-40B4-BE49-F238E27FC236}">
                <a16:creationId xmlns:a16="http://schemas.microsoft.com/office/drawing/2014/main" id="{13D04D81-D48B-2701-7869-708D7A9AA402}"/>
              </a:ext>
            </a:extLst>
          </p:cNvPr>
          <p:cNvSpPr/>
          <p:nvPr/>
        </p:nvSpPr>
        <p:spPr>
          <a:xfrm>
            <a:off x="4709176" y="1286011"/>
            <a:ext cx="1940820" cy="383951"/>
          </a:xfrm>
          <a:prstGeom prst="homePlat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단계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생성 제어</a:t>
            </a:r>
          </a:p>
        </p:txBody>
      </p:sp>
      <p:sp>
        <p:nvSpPr>
          <p:cNvPr id="14" name="화살표: 오각형 13">
            <a:extLst>
              <a:ext uri="{FF2B5EF4-FFF2-40B4-BE49-F238E27FC236}">
                <a16:creationId xmlns:a16="http://schemas.microsoft.com/office/drawing/2014/main" id="{961EE4A1-0B13-0AAF-3474-97D5876AF1FD}"/>
              </a:ext>
            </a:extLst>
          </p:cNvPr>
          <p:cNvSpPr/>
          <p:nvPr/>
        </p:nvSpPr>
        <p:spPr>
          <a:xfrm>
            <a:off x="6787171" y="1286012"/>
            <a:ext cx="1940820" cy="383950"/>
          </a:xfrm>
          <a:prstGeom prst="homePlat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단계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프롬프트 엔지니어링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5C350E5-687D-CFE3-8D15-823ED0D1CEF6}"/>
              </a:ext>
            </a:extLst>
          </p:cNvPr>
          <p:cNvSpPr/>
          <p:nvPr/>
        </p:nvSpPr>
        <p:spPr>
          <a:xfrm>
            <a:off x="549095" y="1785874"/>
            <a:ext cx="1940820" cy="284193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수행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의미 기반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벡터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)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검색과 키워드 기반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(BM25)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검색을 결합합니다</a:t>
            </a:r>
            <a:endParaRPr lang="en-US" altLang="ko-KR" sz="11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1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효과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검색 정확도를 극대화하고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관련성 높은 정보를 누락 없이 추출합니다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</a:t>
            </a:r>
            <a:endParaRPr lang="en-US" altLang="ko-KR" sz="11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BEADB3C-CB9E-CE05-EE7B-7275281AFB74}"/>
              </a:ext>
            </a:extLst>
          </p:cNvPr>
          <p:cNvSpPr/>
          <p:nvPr/>
        </p:nvSpPr>
        <p:spPr>
          <a:xfrm>
            <a:off x="2631180" y="1785873"/>
            <a:ext cx="1940820" cy="284193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  <a:cs typeface="Arial"/>
              </a:rPr>
              <a:t>수행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  <a:cs typeface="Arial"/>
              </a:rPr>
              <a:t>: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+mn-ea"/>
                <a:cs typeface="Arial"/>
              </a:rPr>
              <a:t>검색된 정보의 출처</a:t>
            </a:r>
            <a:r>
              <a:rPr lang="en-US" altLang="ko-KR" sz="1100" b="1" dirty="0">
                <a:solidFill>
                  <a:srgbClr val="333333"/>
                </a:solidFill>
                <a:latin typeface="+mn-ea"/>
                <a:cs typeface="Arial"/>
              </a:rPr>
              <a:t>, </a:t>
            </a:r>
            <a:r>
              <a:rPr lang="ko-KR" altLang="en-US" sz="1100" b="1" dirty="0" err="1">
                <a:solidFill>
                  <a:srgbClr val="333333"/>
                </a:solidFill>
                <a:latin typeface="+mn-ea"/>
                <a:cs typeface="Arial"/>
              </a:rPr>
              <a:t>최신성</a:t>
            </a:r>
            <a:r>
              <a:rPr lang="en-US" altLang="ko-KR" sz="1100" b="1" dirty="0">
                <a:solidFill>
                  <a:srgbClr val="333333"/>
                </a:solidFill>
                <a:latin typeface="+mn-ea"/>
                <a:cs typeface="Arial"/>
              </a:rPr>
              <a:t>, </a:t>
            </a:r>
            <a:r>
              <a:rPr lang="ko-KR" altLang="en-US" sz="1100" b="1" dirty="0">
                <a:solidFill>
                  <a:srgbClr val="333333"/>
                </a:solidFill>
                <a:latin typeface="+mn-ea"/>
                <a:cs typeface="Arial"/>
              </a:rPr>
              <a:t>일관성을 검증하는 자동 필터를 적용합니다</a:t>
            </a:r>
            <a:r>
              <a:rPr lang="en-US" altLang="ko-KR" sz="1100" b="1" dirty="0">
                <a:solidFill>
                  <a:srgbClr val="333333"/>
                </a:solidFill>
                <a:latin typeface="+mn-ea"/>
                <a:cs typeface="Arial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ko-KR" sz="1200" b="1" dirty="0">
              <a:solidFill>
                <a:srgbClr val="333333"/>
              </a:solidFill>
              <a:latin typeface="+mn-ea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  <a:cs typeface="Arial"/>
              </a:rPr>
              <a:t>효과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  <a:cs typeface="Arial"/>
              </a:rPr>
              <a:t>: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+mn-ea"/>
                <a:cs typeface="Arial"/>
              </a:rPr>
              <a:t>신뢰도가 낮은 정보를 </a:t>
            </a:r>
            <a:r>
              <a:rPr lang="en-US" altLang="ko-KR" sz="1100" b="1" dirty="0">
                <a:solidFill>
                  <a:srgbClr val="333333"/>
                </a:solidFill>
                <a:latin typeface="+mn-ea"/>
                <a:cs typeface="Arial"/>
              </a:rPr>
              <a:t>LLM</a:t>
            </a:r>
            <a:r>
              <a:rPr lang="ko-KR" altLang="en-US" sz="1100" b="1" dirty="0">
                <a:solidFill>
                  <a:srgbClr val="333333"/>
                </a:solidFill>
                <a:latin typeface="+mn-ea"/>
                <a:cs typeface="Arial"/>
              </a:rPr>
              <a:t>에 입력하기 전에 미리 차단합니다</a:t>
            </a:r>
            <a:r>
              <a:rPr lang="en-US" altLang="ko-KR" sz="1100" b="1" dirty="0">
                <a:solidFill>
                  <a:srgbClr val="333333"/>
                </a:solidFill>
                <a:latin typeface="+mn-ea"/>
                <a:cs typeface="Arial"/>
              </a:rPr>
              <a:t>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4FB091B-2106-5F42-3400-7C688141938B}"/>
              </a:ext>
            </a:extLst>
          </p:cNvPr>
          <p:cNvSpPr/>
          <p:nvPr/>
        </p:nvSpPr>
        <p:spPr>
          <a:xfrm>
            <a:off x="4709176" y="1785873"/>
            <a:ext cx="1940820" cy="284193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ko-KR" sz="1200" b="1" dirty="0">
              <a:solidFill>
                <a:srgbClr val="333333"/>
              </a:solidFill>
              <a:latin typeface="+mn-ea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  <a:cs typeface="Arial"/>
              </a:rPr>
              <a:t>수행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  <a:cs typeface="Arial"/>
              </a:rPr>
              <a:t>: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+mn-ea"/>
                <a:cs typeface="Arial"/>
              </a:rPr>
              <a:t>모델의 창의성을 억제하고</a:t>
            </a:r>
            <a:r>
              <a:rPr lang="en-US" altLang="ko-KR" sz="1100" b="1" dirty="0">
                <a:solidFill>
                  <a:srgbClr val="333333"/>
                </a:solidFill>
                <a:latin typeface="+mn-ea"/>
                <a:cs typeface="Arial"/>
              </a:rPr>
              <a:t>, </a:t>
            </a:r>
            <a:r>
              <a:rPr lang="ko-KR" altLang="en-US" sz="1100" b="1" dirty="0">
                <a:solidFill>
                  <a:srgbClr val="333333"/>
                </a:solidFill>
                <a:latin typeface="+mn-ea"/>
                <a:cs typeface="Arial"/>
              </a:rPr>
              <a:t>정보가 없으면 </a:t>
            </a:r>
            <a:r>
              <a:rPr lang="en-US" altLang="ko-KR" sz="1100" b="1" dirty="0">
                <a:solidFill>
                  <a:srgbClr val="333333"/>
                </a:solidFill>
                <a:latin typeface="+mn-ea"/>
                <a:cs typeface="Arial"/>
              </a:rPr>
              <a:t>"</a:t>
            </a:r>
            <a:r>
              <a:rPr lang="ko-KR" altLang="en-US" sz="1100" b="1" dirty="0">
                <a:solidFill>
                  <a:srgbClr val="333333"/>
                </a:solidFill>
                <a:latin typeface="+mn-ea"/>
                <a:cs typeface="Arial"/>
              </a:rPr>
              <a:t>알 수 없음</a:t>
            </a:r>
            <a:r>
              <a:rPr lang="en-US" altLang="ko-KR" sz="1100" b="1" dirty="0">
                <a:solidFill>
                  <a:srgbClr val="333333"/>
                </a:solidFill>
                <a:latin typeface="+mn-ea"/>
                <a:cs typeface="Arial"/>
              </a:rPr>
              <a:t>"</a:t>
            </a:r>
            <a:r>
              <a:rPr lang="ko-KR" altLang="en-US" sz="1100" b="1" dirty="0">
                <a:solidFill>
                  <a:srgbClr val="333333"/>
                </a:solidFill>
                <a:latin typeface="+mn-ea"/>
                <a:cs typeface="Arial"/>
              </a:rPr>
              <a:t>을 반환합니다</a:t>
            </a:r>
            <a:r>
              <a:rPr lang="en-US" altLang="ko-KR" sz="1100" b="1" dirty="0">
                <a:solidFill>
                  <a:srgbClr val="333333"/>
                </a:solidFill>
                <a:latin typeface="+mn-ea"/>
                <a:cs typeface="Arial"/>
              </a:rPr>
              <a:t>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defRPr/>
            </a:pPr>
            <a:endParaRPr lang="en-US" altLang="ko-KR" sz="1200" b="1" dirty="0">
              <a:solidFill>
                <a:srgbClr val="333333"/>
              </a:solidFill>
              <a:latin typeface="+mn-ea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+mn-ea"/>
                <a:cs typeface="Arial"/>
              </a:rPr>
              <a:t>효과</a:t>
            </a:r>
            <a:r>
              <a:rPr lang="en-US" altLang="ko-KR" sz="1200" b="1" dirty="0">
                <a:solidFill>
                  <a:srgbClr val="333333"/>
                </a:solidFill>
                <a:latin typeface="+mn-ea"/>
                <a:cs typeface="Arial"/>
              </a:rPr>
              <a:t>: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+mn-ea"/>
                <a:cs typeface="Arial"/>
              </a:rPr>
              <a:t>사실이 아닐 수 있는 임의의 답변 생성을 방지하는 안전장치 역할을 합니다</a:t>
            </a:r>
            <a:r>
              <a:rPr lang="en-US" altLang="ko-KR" sz="1100" b="1" dirty="0">
                <a:solidFill>
                  <a:srgbClr val="333333"/>
                </a:solidFill>
                <a:latin typeface="+mn-ea"/>
                <a:cs typeface="Arial"/>
              </a:rPr>
              <a:t>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D2CED59-7124-7DDF-0871-820CF99F4942}"/>
              </a:ext>
            </a:extLst>
          </p:cNvPr>
          <p:cNvSpPr/>
          <p:nvPr/>
        </p:nvSpPr>
        <p:spPr>
          <a:xfrm>
            <a:off x="6787171" y="1785873"/>
            <a:ext cx="1940820" cy="2841935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수행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"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당신은 오직 주어진 자료에 근거해서만 답변하는 부산시 정책 전문가입니다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."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와 같이 명확한 역할을 부여합니다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1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효과</a:t>
            </a:r>
            <a:r>
              <a:rPr lang="en-US" altLang="ko-KR" sz="12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모델이 임의로 정보를 추론하거나 과장하는 것을 방지하고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답변 형식을 제어합니다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3885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35982E8-4BE0-11A1-8874-BA30736DA45D}"/>
              </a:ext>
            </a:extLst>
          </p:cNvPr>
          <p:cNvSpPr/>
          <p:nvPr/>
        </p:nvSpPr>
        <p:spPr>
          <a:xfrm>
            <a:off x="549094" y="1300123"/>
            <a:ext cx="3718105" cy="34408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실험 설정</a:t>
            </a:r>
            <a:endParaRPr lang="en-US" altLang="ko-KR" sz="11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88429E45-C3C2-EC7E-2F26-8359B3FD92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ko-KR" altLang="en-US" b="1" dirty="0">
                <a:latin typeface="+mj-ea"/>
                <a:ea typeface="+mj-ea"/>
              </a:rPr>
              <a:t>실험 및 결과</a:t>
            </a:r>
            <a:r>
              <a:rPr lang="en-US" altLang="ko-KR" b="1" dirty="0">
                <a:latin typeface="+mj-ea"/>
                <a:ea typeface="+mj-ea"/>
              </a:rPr>
              <a:t>: </a:t>
            </a:r>
            <a:r>
              <a:rPr lang="ko-KR" altLang="en-US" b="1" dirty="0">
                <a:latin typeface="+mj-ea"/>
                <a:ea typeface="+mj-ea"/>
              </a:rPr>
              <a:t>모델 별 환각 최소화 성능 검증</a:t>
            </a:r>
            <a:endParaRPr b="1" dirty="0">
              <a:latin typeface="+mj-ea"/>
              <a:ea typeface="+mj-ea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3DB0D61-4328-CE4E-E378-A4E795FDFCC1}"/>
              </a:ext>
            </a:extLst>
          </p:cNvPr>
          <p:cNvCxnSpPr/>
          <p:nvPr/>
        </p:nvCxnSpPr>
        <p:spPr>
          <a:xfrm>
            <a:off x="549095" y="1075561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0B0CB1ED-AD6E-79A0-16D5-2B0E612F56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20836" y="1300123"/>
            <a:ext cx="4191600" cy="25930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950B389-F07F-0537-E1A3-AE454D953D5C}"/>
              </a:ext>
            </a:extLst>
          </p:cNvPr>
          <p:cNvSpPr/>
          <p:nvPr/>
        </p:nvSpPr>
        <p:spPr>
          <a:xfrm>
            <a:off x="549092" y="4067938"/>
            <a:ext cx="8063344" cy="683443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결론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제안 모델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(4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단계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RAG)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은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LLM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단독 대비 </a:t>
            </a:r>
            <a:r>
              <a:rPr lang="ko-KR" altLang="en-US" sz="1100" b="1" dirty="0" err="1">
                <a:solidFill>
                  <a:schemeClr val="tx1"/>
                </a:solidFill>
                <a:latin typeface="+mn-ea"/>
              </a:rPr>
              <a:t>환각률을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28.5%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에서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1.8%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로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93.7%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억제하고 정확도를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67.4%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에서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91.2%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로 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대폭 향상시킴으로써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본 연구의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파이프라인이 공공 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서비스의 신뢰성을 확보하는 핵심 기술임을 실증하였습니다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 algn="ctr"/>
            <a:endParaRPr lang="ko-KR" altLang="en-US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81C8E35-E17D-460C-27E4-EE3DC086ACDA}"/>
              </a:ext>
            </a:extLst>
          </p:cNvPr>
          <p:cNvSpPr/>
          <p:nvPr/>
        </p:nvSpPr>
        <p:spPr>
          <a:xfrm>
            <a:off x="549094" y="1771309"/>
            <a:ext cx="3718106" cy="34408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하드웨어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NVIDIA RTX 4090 (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단일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GPU)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940B7C6-BE22-BCA6-C4EF-B7BD1D112955}"/>
              </a:ext>
            </a:extLst>
          </p:cNvPr>
          <p:cNvSpPr/>
          <p:nvPr/>
        </p:nvSpPr>
        <p:spPr>
          <a:xfrm>
            <a:off x="549092" y="2242495"/>
            <a:ext cx="3718107" cy="54792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평가 데이터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 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부산시 정책 질의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300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개</a:t>
            </a:r>
            <a:endParaRPr lang="en-US" altLang="ko-KR" sz="1100" b="1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정답형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150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개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환각유발형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150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개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)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544286D-D700-13E3-D27A-72102D1BB7B0}"/>
              </a:ext>
            </a:extLst>
          </p:cNvPr>
          <p:cNvSpPr/>
          <p:nvPr/>
        </p:nvSpPr>
        <p:spPr>
          <a:xfrm>
            <a:off x="549092" y="2923504"/>
            <a:ext cx="3718108" cy="97450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비교 모델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LLM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단독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(Gemma3 27B)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RAG (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기본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RAG 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적용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)</a:t>
            </a: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제안 모델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본 연구의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4</a:t>
            </a:r>
            <a:r>
              <a:rPr lang="ko-KR" altLang="en-US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단계 환각 최소화 </a:t>
            </a:r>
            <a:r>
              <a:rPr lang="en-US" altLang="ko-KR" sz="1100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RAG)</a:t>
            </a:r>
          </a:p>
        </p:txBody>
      </p:sp>
    </p:spTree>
    <p:extLst>
      <p:ext uri="{BB962C8B-B14F-4D97-AF65-F5344CB8AC3E}">
        <p14:creationId xmlns:p14="http://schemas.microsoft.com/office/powerpoint/2010/main" val="958478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70929D5E-ADFB-F9B3-F222-9B3635158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DDBB4CBF-5E7C-5270-C3D1-D447A6EB71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ea"/>
                <a:ea typeface="+mj-ea"/>
              </a:rPr>
              <a:t>결론 및 향후 계획</a:t>
            </a:r>
            <a:endParaRPr b="1" dirty="0">
              <a:latin typeface="+mj-ea"/>
              <a:ea typeface="+mj-ea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BC202F2-74F3-F1A7-F07A-31ABE5B8CFE2}"/>
              </a:ext>
            </a:extLst>
          </p:cNvPr>
          <p:cNvCxnSpPr/>
          <p:nvPr/>
        </p:nvCxnSpPr>
        <p:spPr>
          <a:xfrm>
            <a:off x="549095" y="1075561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44B7E0F-4B76-7F60-16BE-D72E4E045483}"/>
              </a:ext>
            </a:extLst>
          </p:cNvPr>
          <p:cNvSpPr/>
          <p:nvPr/>
        </p:nvSpPr>
        <p:spPr>
          <a:xfrm>
            <a:off x="393471" y="1813590"/>
            <a:ext cx="2601936" cy="283335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핵심 성과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</a:t>
            </a:r>
          </a:p>
          <a:p>
            <a:endParaRPr lang="en-US" altLang="ko-KR" sz="4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단계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파이프라인을 적용하여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LLM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단독 대비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환각률을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1.8%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로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93.7%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억제하고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정확도를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91.2%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로 대폭 향상시키는 목표를 달성함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신뢰성 실증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</a:t>
            </a:r>
          </a:p>
          <a:p>
            <a:endParaRPr lang="en-US" altLang="ko-KR" sz="4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기술이 공공 영역에서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서비스의 신뢰성을 담보하는 핵심 기술임을 실증함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87495D-790C-C7F8-AEF7-F4824599FEA4}"/>
              </a:ext>
            </a:extLst>
          </p:cNvPr>
          <p:cNvSpPr/>
          <p:nvPr/>
        </p:nvSpPr>
        <p:spPr>
          <a:xfrm>
            <a:off x="549095" y="1239679"/>
            <a:ext cx="2290688" cy="41641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  <a:latin typeface="+mn-ea"/>
              </a:rPr>
              <a:t>결론</a:t>
            </a:r>
            <a:endParaRPr lang="ko-KR" altLang="en-US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2212455-9C41-566B-35D3-67F27B265AE3}"/>
              </a:ext>
            </a:extLst>
          </p:cNvPr>
          <p:cNvSpPr/>
          <p:nvPr/>
        </p:nvSpPr>
        <p:spPr>
          <a:xfrm>
            <a:off x="6264099" y="1236366"/>
            <a:ext cx="2348341" cy="41641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+mn-ea"/>
              </a:rPr>
              <a:t>향후 개발 방향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967579D-A797-C7E3-BF49-0A608C0C9811}"/>
              </a:ext>
            </a:extLst>
          </p:cNvPr>
          <p:cNvSpPr/>
          <p:nvPr/>
        </p:nvSpPr>
        <p:spPr>
          <a:xfrm>
            <a:off x="3406597" y="1236367"/>
            <a:ext cx="2290688" cy="41641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+mn-ea"/>
              </a:rPr>
              <a:t>기대효과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C44BC3F-880D-664A-A59A-A21F3299951B}"/>
              </a:ext>
            </a:extLst>
          </p:cNvPr>
          <p:cNvSpPr/>
          <p:nvPr/>
        </p:nvSpPr>
        <p:spPr>
          <a:xfrm>
            <a:off x="3250973" y="1813590"/>
            <a:ext cx="2601936" cy="283335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시민 중심 서비스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</a:t>
            </a:r>
          </a:p>
          <a:p>
            <a:endParaRPr lang="en-US" altLang="ko-KR" sz="5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시민들이 허위 정보에 대한 우려 없이 부산시 관련 정책 및 생활 정보를 정확하게 활용할 수 있음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endParaRPr lang="en-US" altLang="ko-KR" sz="400" b="1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확장 가능성 제시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</a:t>
            </a:r>
          </a:p>
          <a:p>
            <a:endParaRPr lang="en-US" altLang="ko-KR" sz="5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본 연구 모델이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부산시뿐만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아니라 다른 지방자치 단체에서도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기반 시민 서비스를 도입하는 데 참고할 수 있는 구체적인 모델을 제시함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b="1" dirty="0">
              <a:solidFill>
                <a:schemeClr val="tx1"/>
              </a:solidFill>
              <a:latin typeface="+mn-ea"/>
            </a:endParaRPr>
          </a:p>
          <a:p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A910B4E-F496-9950-1F8C-115812DDA7BA}"/>
              </a:ext>
            </a:extLst>
          </p:cNvPr>
          <p:cNvSpPr/>
          <p:nvPr/>
        </p:nvSpPr>
        <p:spPr>
          <a:xfrm>
            <a:off x="6108475" y="1813590"/>
            <a:ext cx="2601936" cy="283335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서비스 모델 설계 흐름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  <a:ea typeface="Google Sans Text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Arial" panose="020B0604020202020204" pitchFamily="34" charset="0"/>
              <a:ea typeface="Google Sans Text"/>
            </a:endParaRPr>
          </a:p>
          <a:p>
            <a:endParaRPr lang="en-US" altLang="ko-KR" sz="400" dirty="0">
              <a:solidFill>
                <a:schemeClr val="tx1"/>
              </a:solidFill>
              <a:latin typeface="Arial" panose="020B0604020202020204" pitchFamily="34" charset="0"/>
              <a:ea typeface="Google Sans Text"/>
            </a:endParaRPr>
          </a:p>
          <a:p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1. </a:t>
            </a:r>
            <a:r>
              <a:rPr lang="ko-KR" altLang="ko-KR" sz="1100" b="1" dirty="0">
                <a:solidFill>
                  <a:schemeClr val="tx1"/>
                </a:solidFill>
                <a:latin typeface="+mn-ea"/>
              </a:rPr>
              <a:t>사용자 질의(</a:t>
            </a:r>
            <a:r>
              <a:rPr lang="ko-KR" altLang="ko-KR" sz="1100" b="1" dirty="0" err="1">
                <a:solidFill>
                  <a:schemeClr val="tx1"/>
                </a:solidFill>
                <a:latin typeface="+mn-ea"/>
              </a:rPr>
              <a:t>React</a:t>
            </a:r>
            <a:r>
              <a:rPr lang="ko-KR" altLang="ko-KR" sz="1100" b="1" dirty="0">
                <a:solidFill>
                  <a:schemeClr val="tx1"/>
                </a:solidFill>
                <a:latin typeface="+mn-ea"/>
              </a:rPr>
              <a:t>) </a:t>
            </a:r>
            <a:endParaRPr lang="en-US" altLang="ko-KR" sz="1100" b="1" baseline="300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ko-KR" sz="1100" b="1" dirty="0">
                <a:solidFill>
                  <a:schemeClr val="tx1"/>
                </a:solidFill>
                <a:latin typeface="+mn-ea"/>
              </a:rPr>
              <a:t>API 요청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3. </a:t>
            </a:r>
            <a:r>
              <a:rPr lang="ko-KR" altLang="ko-KR" sz="1100" b="1" dirty="0" err="1">
                <a:solidFill>
                  <a:schemeClr val="tx1"/>
                </a:solidFill>
                <a:latin typeface="+mn-ea"/>
              </a:rPr>
              <a:t>백엔드</a:t>
            </a:r>
            <a:r>
              <a:rPr lang="ko-KR" altLang="ko-KR" sz="1100" b="1" dirty="0">
                <a:solidFill>
                  <a:schemeClr val="tx1"/>
                </a:solidFill>
                <a:latin typeface="+mn-ea"/>
              </a:rPr>
              <a:t> RAG 파이프라인 실행 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4. </a:t>
            </a:r>
            <a:r>
              <a:rPr lang="ko-KR" altLang="ko-KR" sz="1100" b="1" dirty="0">
                <a:solidFill>
                  <a:schemeClr val="tx1"/>
                </a:solidFill>
                <a:latin typeface="+mn-ea"/>
              </a:rPr>
              <a:t>Gemma3 답변 생성 API 응답 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5. </a:t>
            </a:r>
            <a:r>
              <a:rPr lang="ko-KR" altLang="ko-KR" sz="1100" b="1" dirty="0">
                <a:solidFill>
                  <a:schemeClr val="tx1"/>
                </a:solidFill>
                <a:latin typeface="+mn-ea"/>
              </a:rPr>
              <a:t>결과 표시(</a:t>
            </a:r>
            <a:r>
              <a:rPr lang="ko-KR" altLang="ko-KR" sz="1100" b="1" dirty="0" err="1">
                <a:solidFill>
                  <a:schemeClr val="tx1"/>
                </a:solidFill>
                <a:latin typeface="+mn-ea"/>
              </a:rPr>
              <a:t>React</a:t>
            </a:r>
            <a:r>
              <a:rPr lang="ko-KR" altLang="ko-KR" sz="1100" b="1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100" b="1" dirty="0">
              <a:solidFill>
                <a:schemeClr val="tx1"/>
              </a:solidFill>
              <a:latin typeface="+mn-ea"/>
            </a:endParaRPr>
          </a:p>
          <a:p>
            <a:endParaRPr lang="en-US" altLang="ko-KR" sz="500" b="1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시스템 최적화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</a:t>
            </a:r>
          </a:p>
          <a:p>
            <a:endParaRPr lang="en-US" altLang="ko-KR" sz="5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단계 파이프라인으로 인해 다소 증가한 응답 시간을 단축하여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실시간 상호작용이 가능한 사용자 경험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(UX)</a:t>
            </a:r>
            <a:r>
              <a:rPr lang="ko-KR" altLang="en-US" sz="1100" b="1" dirty="0">
                <a:solidFill>
                  <a:schemeClr val="tx1"/>
                </a:solidFill>
                <a:latin typeface="+mn-ea"/>
              </a:rPr>
              <a:t>을 개선합니다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  <a:p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endParaRPr lang="en-US" altLang="ko-KR" sz="12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07007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63"/>
          <p:cNvSpPr txBox="1">
            <a:spLocks noGrp="1"/>
          </p:cNvSpPr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 dirty="0">
                <a:latin typeface="+mj-ea"/>
                <a:ea typeface="+mj-ea"/>
              </a:rPr>
              <a:t>참고 문헌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2A2B1CA-CC51-ADA3-A2B6-7323EAA9A617}"/>
              </a:ext>
            </a:extLst>
          </p:cNvPr>
          <p:cNvSpPr/>
          <p:nvPr/>
        </p:nvSpPr>
        <p:spPr>
          <a:xfrm>
            <a:off x="380902" y="1257302"/>
            <a:ext cx="8375171" cy="3441173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1. </a:t>
            </a:r>
            <a:r>
              <a:rPr lang="ko-KR" altLang="en-US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박동아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“</a:t>
            </a:r>
            <a:r>
              <a:rPr lang="ko-KR" altLang="en-US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인공지능 기반 대화형 공공 행정 </a:t>
            </a:r>
            <a:r>
              <a:rPr lang="ko-KR" altLang="en-US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챗봇</a:t>
            </a:r>
            <a:r>
              <a:rPr lang="ko-KR" altLang="en-US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서비스에 관한 연구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,” </a:t>
            </a:r>
            <a:r>
              <a:rPr lang="ko-KR" altLang="en-US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멀티미디어학회논문지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Vol.20, No.8, pp.1347–1356, 2017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2. Larsen, A. G., and Følstad, A., 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“The impact of chatbots on public service provision: A qualitative interview study with citizens and public service providers,” Government Information Quarterly, Vol.41, 101927, 2024.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3. Papikyan, A., 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“Fine-tuning large language models (LLMs) in 2025,” </a:t>
            </a:r>
            <a:r>
              <a:rPr lang="en-US" altLang="ko-KR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SuperAnnotate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Blog, Feb. 2025.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4. </a:t>
            </a:r>
            <a:r>
              <a:rPr lang="ko-KR" altLang="en-US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이은빈</a:t>
            </a:r>
            <a:r>
              <a:rPr lang="en-US" altLang="ko-KR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</a:t>
            </a:r>
            <a:r>
              <a:rPr lang="ko-KR" altLang="en-US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배호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“</a:t>
            </a:r>
            <a:r>
              <a:rPr lang="ko-KR" altLang="en-US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검색 증강 생성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(RAG) </a:t>
            </a:r>
            <a:r>
              <a:rPr lang="ko-KR" altLang="en-US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기술의 최신 연구 동향에 대한 조사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,” ASK 2024 </a:t>
            </a:r>
            <a:r>
              <a:rPr lang="ko-KR" altLang="en-US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학술발표대회 논문집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Vol.31, No.1, pp.745–748, 2024.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5. Gao, Y., et al., 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"Retrieval-Augmented Generation for Large Language Models: A Survey," arXiv:2312.10997, Dec. 2023.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6. </a:t>
            </a:r>
            <a:r>
              <a:rPr lang="ko-KR" altLang="en-US" b="1" dirty="0" err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장나은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“</a:t>
            </a:r>
            <a:r>
              <a:rPr lang="ko-KR" altLang="en-US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검색증강생성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(RAG) </a:t>
            </a:r>
            <a:r>
              <a:rPr lang="ko-KR" altLang="en-US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기술의 등장과 발전” 한국지능정보원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DIGITAL INSIGHT 2024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7. Bryce, Eddie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 “</a:t>
            </a:r>
            <a:r>
              <a:rPr lang="ko-KR" altLang="en-US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딥 러닝을 이용한 자연어 처리 입문</a:t>
            </a:r>
            <a:r>
              <a:rPr lang="en-US" altLang="ko-KR" dirty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,”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1C0E177-78FA-185E-11DD-BE50FACFEB97}"/>
              </a:ext>
            </a:extLst>
          </p:cNvPr>
          <p:cNvCxnSpPr/>
          <p:nvPr/>
        </p:nvCxnSpPr>
        <p:spPr>
          <a:xfrm>
            <a:off x="549095" y="1075561"/>
            <a:ext cx="80633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60"/>
          <p:cNvSpPr txBox="1">
            <a:spLocks noGrp="1"/>
          </p:cNvSpPr>
          <p:nvPr>
            <p:ph type="title"/>
          </p:nvPr>
        </p:nvSpPr>
        <p:spPr>
          <a:xfrm>
            <a:off x="1142854" y="1047786"/>
            <a:ext cx="3795789" cy="891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dirty="0">
                <a:latin typeface="+mn-ea"/>
                <a:ea typeface="+mn-ea"/>
              </a:rPr>
              <a:t>감사합니다</a:t>
            </a:r>
            <a:r>
              <a:rPr lang="en" sz="4800" dirty="0">
                <a:latin typeface="+mn-ea"/>
                <a:ea typeface="+mn-ea"/>
              </a:rPr>
              <a:t>!</a:t>
            </a:r>
            <a:endParaRPr sz="4800" dirty="0">
              <a:latin typeface="+mn-ea"/>
              <a:ea typeface="+mn-ea"/>
            </a:endParaRPr>
          </a:p>
        </p:txBody>
      </p:sp>
      <p:sp>
        <p:nvSpPr>
          <p:cNvPr id="870" name="직사각형 869"/>
          <p:cNvSpPr/>
          <p:nvPr/>
        </p:nvSpPr>
        <p:spPr>
          <a:xfrm>
            <a:off x="1094225" y="3274166"/>
            <a:ext cx="5605935" cy="77799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3A5536-E0CC-9376-2559-5BCB357DF73C}"/>
              </a:ext>
            </a:extLst>
          </p:cNvPr>
          <p:cNvSpPr txBox="1"/>
          <p:nvPr/>
        </p:nvSpPr>
        <p:spPr>
          <a:xfrm>
            <a:off x="1612348" y="3135664"/>
            <a:ext cx="5919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200" b="1" dirty="0">
                <a:effectLst/>
                <a:latin typeface="+mn-ea"/>
                <a:ea typeface="+mn-ea"/>
              </a:rPr>
              <a:t>e-mail: </a:t>
            </a:r>
            <a:r>
              <a:rPr lang="en-US" altLang="ko-KR" sz="1200" b="1" dirty="0">
                <a:effectLst/>
                <a:latin typeface="+mn-ea"/>
                <a:ea typeface="+mn-ea"/>
                <a:hlinkClick r:id="rId3"/>
              </a:rPr>
              <a:t>20213032@office.deu.ac.kr</a:t>
            </a:r>
            <a:endParaRPr lang="en-US" altLang="ko-KR" sz="1200" b="1" dirty="0">
              <a:effectLst/>
              <a:latin typeface="+mn-ea"/>
              <a:ea typeface="+mn-ea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D83A1FE-A783-602E-174E-C0EF224121CE}"/>
              </a:ext>
            </a:extLst>
          </p:cNvPr>
          <p:cNvSpPr/>
          <p:nvPr/>
        </p:nvSpPr>
        <p:spPr>
          <a:xfrm>
            <a:off x="941199" y="2184778"/>
            <a:ext cx="2102384" cy="84372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  <a:latin typeface="+mn-ea"/>
              </a:rPr>
              <a:t>연구진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권영훈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이호준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 err="1">
                <a:solidFill>
                  <a:schemeClr val="tx1"/>
                </a:solidFill>
                <a:latin typeface="+mn-ea"/>
              </a:rPr>
              <a:t>강신혁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 err="1">
                <a:solidFill>
                  <a:schemeClr val="tx1"/>
                </a:solidFill>
                <a:latin typeface="+mn-ea"/>
              </a:rPr>
              <a:t>장현오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644C82A-8C48-26B5-9C60-A94749C3C375}"/>
              </a:ext>
            </a:extLst>
          </p:cNvPr>
          <p:cNvSpPr/>
          <p:nvPr/>
        </p:nvSpPr>
        <p:spPr>
          <a:xfrm>
            <a:off x="5581668" y="2184778"/>
            <a:ext cx="2882054" cy="84372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  <a:latin typeface="+mn-ea"/>
              </a:rPr>
              <a:t>지도교수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김현태 교수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동의대학교 </a:t>
            </a:r>
            <a:r>
              <a:rPr lang="ko-KR" altLang="en-US" sz="1000" b="1" dirty="0" err="1">
                <a:solidFill>
                  <a:schemeClr val="tx1"/>
                </a:solidFill>
                <a:latin typeface="+mn-ea"/>
              </a:rPr>
              <a:t>응용소프트웨어공학과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3282647-B577-1543-E694-F678C7F8B103}"/>
              </a:ext>
            </a:extLst>
          </p:cNvPr>
          <p:cNvSpPr/>
          <p:nvPr/>
        </p:nvSpPr>
        <p:spPr>
          <a:xfrm>
            <a:off x="3192817" y="2184777"/>
            <a:ext cx="2239618" cy="84372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  <a:latin typeface="+mn-ea"/>
              </a:rPr>
              <a:t>소속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동의대학교 </a:t>
            </a:r>
            <a:r>
              <a:rPr lang="ko-KR" altLang="en-US" sz="1000" b="1" dirty="0" err="1">
                <a:solidFill>
                  <a:schemeClr val="tx1"/>
                </a:solidFill>
                <a:latin typeface="+mn-ea"/>
              </a:rPr>
              <a:t>응용소프트웨어공학과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1432</Words>
  <Application>Microsoft Office PowerPoint</Application>
  <PresentationFormat>화면 슬라이드 쇼(16:9)</PresentationFormat>
  <Paragraphs>220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Figtree Black</vt:lpstr>
      <vt:lpstr>Hanken Grotesk</vt:lpstr>
      <vt:lpstr>맑은 고딕</vt:lpstr>
      <vt:lpstr>Arial</vt:lpstr>
      <vt:lpstr>Lato</vt:lpstr>
      <vt:lpstr>Wingdings</vt:lpstr>
      <vt:lpstr>Elegant Black &amp; White Thesis Defense by Slidesgo</vt:lpstr>
      <vt:lpstr>LLM과 RAG를 활용한 부산시 현안 및 정책 지원 모델 연구</vt:lpstr>
      <vt:lpstr>연구 배경 및 필요성</vt:lpstr>
      <vt:lpstr>연구 목표</vt:lpstr>
      <vt:lpstr>LLM (대규모 언어 모델)이란?</vt:lpstr>
      <vt:lpstr>핵심 문제 : Hallucination</vt:lpstr>
      <vt:lpstr>RAG (Retrieval-Augmented Generation)</vt:lpstr>
      <vt:lpstr>RAG가 Hallucination을 억제하는 원리</vt:lpstr>
      <vt:lpstr>시스템 전체 구조</vt:lpstr>
      <vt:lpstr>4단계 환각 최소화 RAG 파이프라인</vt:lpstr>
      <vt:lpstr>실험 및 결과: 모델 별 환각 최소화 성능 검증</vt:lpstr>
      <vt:lpstr>결론 및 향후 계획</vt:lpstr>
      <vt:lpstr>참고 문헌</vt:lpstr>
      <vt:lpstr>감사합니다!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영훈 권</cp:lastModifiedBy>
  <cp:revision>18</cp:revision>
  <dcterms:modified xsi:type="dcterms:W3CDTF">2025-10-31T08:06:59Z</dcterms:modified>
  <cp:version/>
</cp:coreProperties>
</file>