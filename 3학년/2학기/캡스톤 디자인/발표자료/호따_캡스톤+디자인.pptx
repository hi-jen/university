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7" r:id="rId8"/>
    <p:sldId id="264" r:id="rId9"/>
    <p:sldId id="265" r:id="rId10"/>
    <p:sldId id="266" r:id="rId11"/>
  </p:sldIdLst>
  <p:sldSz cx="18288000" cy="10287000"/>
  <p:notesSz cx="6858000" cy="9144000"/>
  <p:embeddedFontLst>
    <p:embeddedFont>
      <p:font typeface="TDTD순고딕" panose="020B0600000101010101" charset="-127"/>
      <p:regular r:id="rId12"/>
    </p:embeddedFont>
    <p:embeddedFont>
      <p:font typeface="TDTD한강고딕" panose="020B0600000101010101" charset="-127"/>
      <p:regular r:id="rId13"/>
    </p:embeddedFont>
    <p:embeddedFont>
      <p:font typeface="Tlab 레트로라이프" panose="020B0600000101010101" charset="-127"/>
      <p:regular r:id="rId14"/>
    </p:embeddedFont>
    <p:embeddedFont>
      <p:font typeface="Tlab 레트로라이프 Bold" panose="020B0600000101010101" charset="-127"/>
      <p:regular r:id="rId15"/>
    </p:embeddedFont>
    <p:embeddedFont>
      <p:font typeface="Poppins" panose="020B0502040204020203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53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1031875"/>
            <a:ext cx="297537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>
                <a:solidFill>
                  <a:srgbClr val="485849"/>
                </a:solidFill>
                <a:latin typeface="Poppins"/>
                <a:ea typeface="Poppins"/>
                <a:cs typeface="Poppins"/>
                <a:sym typeface="Poppins"/>
              </a:rPr>
              <a:t>TEAM PROJECT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06053" y="5531960"/>
            <a:ext cx="8275894" cy="132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5"/>
              </a:lnSpc>
            </a:pPr>
            <a:r>
              <a:rPr lang="en-US" sz="7796" spc="-163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PRESENTATION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04073" y="3668060"/>
            <a:ext cx="10035072" cy="200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40"/>
              </a:lnSpc>
            </a:pPr>
            <a:r>
              <a:rPr lang="en-US" sz="11743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캡스톤 디자인I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 dirty="0"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6181596" y="4413888"/>
            <a:ext cx="818710" cy="703579"/>
            <a:chOff x="0" y="0"/>
            <a:chExt cx="8128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914742" y="4413888"/>
            <a:ext cx="818710" cy="703579"/>
            <a:chOff x="0" y="0"/>
            <a:chExt cx="812800" cy="698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dirty="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04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81596" y="5550705"/>
            <a:ext cx="818710" cy="703579"/>
            <a:chOff x="0" y="0"/>
            <a:chExt cx="812800" cy="698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914742" y="5550705"/>
            <a:ext cx="818710" cy="703579"/>
            <a:chOff x="0" y="0"/>
            <a:chExt cx="812800" cy="698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dirty="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05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181596" y="6683740"/>
            <a:ext cx="818710" cy="703579"/>
            <a:chOff x="0" y="0"/>
            <a:chExt cx="812800" cy="698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14742" y="6635769"/>
            <a:ext cx="818710" cy="751550"/>
            <a:chOff x="0" y="-47625"/>
            <a:chExt cx="812800" cy="74612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dirty="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06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017519" y="1749808"/>
            <a:ext cx="3481325" cy="142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9"/>
              </a:lnSpc>
            </a:pPr>
            <a:r>
              <a:rPr lang="en-US" sz="8306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221962" y="4509122"/>
            <a:ext cx="3870726" cy="45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팀 소개 및 역할 분담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952527" y="4509122"/>
            <a:ext cx="3870726" cy="45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ko-KR" alt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목표 및 기대효과</a:t>
            </a:r>
            <a:endParaRPr lang="en-US" sz="2673" dirty="0">
              <a:solidFill>
                <a:srgbClr val="658C6A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221961" y="5645938"/>
            <a:ext cx="4176297" cy="933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ko-KR" altLang="en-US" sz="2673" dirty="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문제 정의 및 프로젝트 목표</a:t>
            </a:r>
          </a:p>
          <a:p>
            <a:pPr algn="l">
              <a:lnSpc>
                <a:spcPts val="3743"/>
              </a:lnSpc>
            </a:pPr>
            <a:endParaRPr lang="en-US" sz="2673" dirty="0">
              <a:solidFill>
                <a:srgbClr val="658C6A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7221962" y="6778175"/>
            <a:ext cx="3870726" cy="45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 개요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952527" y="5645938"/>
            <a:ext cx="3799314" cy="45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ko-KR" alt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향후 계획</a:t>
            </a:r>
            <a:endParaRPr lang="en-US" sz="2673" dirty="0">
              <a:solidFill>
                <a:srgbClr val="658C6A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2952527" y="6778175"/>
            <a:ext cx="3799314" cy="45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ko-KR" altLang="en-US" sz="2673" dirty="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질의 응답</a:t>
            </a:r>
            <a:endParaRPr lang="en-US" sz="2673" dirty="0">
              <a:solidFill>
                <a:srgbClr val="658C6A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041627" y="1388861"/>
            <a:ext cx="9031942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팀원 소개 및 역할 분담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027932" y="6456415"/>
            <a:ext cx="2504871" cy="707702"/>
            <a:chOff x="13896" y="12753"/>
            <a:chExt cx="611739" cy="223717"/>
          </a:xfrm>
        </p:grpSpPr>
        <p:sp>
          <p:nvSpPr>
            <p:cNvPr id="22" name="Freeform 22"/>
            <p:cNvSpPr/>
            <p:nvPr/>
          </p:nvSpPr>
          <p:spPr>
            <a:xfrm>
              <a:off x="13896" y="47519"/>
              <a:ext cx="610674" cy="166567"/>
            </a:xfrm>
            <a:custGeom>
              <a:avLst/>
              <a:gdLst/>
              <a:ahLst/>
              <a:cxnLst/>
              <a:rect l="l" t="t" r="r" b="b"/>
              <a:pathLst>
                <a:path w="610674" h="166567">
                  <a:moveTo>
                    <a:pt x="40250" y="0"/>
                  </a:moveTo>
                  <a:lnTo>
                    <a:pt x="570424" y="0"/>
                  </a:lnTo>
                  <a:cubicBezTo>
                    <a:pt x="581099" y="0"/>
                    <a:pt x="591337" y="4241"/>
                    <a:pt x="598885" y="11789"/>
                  </a:cubicBezTo>
                  <a:cubicBezTo>
                    <a:pt x="606433" y="19337"/>
                    <a:pt x="610674" y="29575"/>
                    <a:pt x="610674" y="40250"/>
                  </a:cubicBezTo>
                  <a:lnTo>
                    <a:pt x="610674" y="126317"/>
                  </a:lnTo>
                  <a:cubicBezTo>
                    <a:pt x="610674" y="136992"/>
                    <a:pt x="606433" y="147230"/>
                    <a:pt x="598885" y="154778"/>
                  </a:cubicBezTo>
                  <a:cubicBezTo>
                    <a:pt x="591337" y="162326"/>
                    <a:pt x="581099" y="166567"/>
                    <a:pt x="570424" y="166567"/>
                  </a:cubicBezTo>
                  <a:lnTo>
                    <a:pt x="40250" y="166567"/>
                  </a:lnTo>
                  <a:cubicBezTo>
                    <a:pt x="29575" y="166567"/>
                    <a:pt x="19337" y="162326"/>
                    <a:pt x="11789" y="154778"/>
                  </a:cubicBezTo>
                  <a:cubicBezTo>
                    <a:pt x="4241" y="147230"/>
                    <a:pt x="0" y="136992"/>
                    <a:pt x="0" y="126317"/>
                  </a:cubicBezTo>
                  <a:lnTo>
                    <a:pt x="0" y="40250"/>
                  </a:lnTo>
                  <a:cubicBezTo>
                    <a:pt x="0" y="29575"/>
                    <a:pt x="4241" y="19337"/>
                    <a:pt x="11789" y="11789"/>
                  </a:cubicBezTo>
                  <a:cubicBezTo>
                    <a:pt x="19337" y="4241"/>
                    <a:pt x="29575" y="0"/>
                    <a:pt x="4025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61" y="12753"/>
              <a:ext cx="610674" cy="223717"/>
            </a:xfrm>
            <a:prstGeom prst="rect">
              <a:avLst/>
            </a:prstGeom>
          </p:spPr>
          <p:txBody>
            <a:bodyPr lIns="48088" tIns="48088" rIns="48088" bIns="48088" rtlCol="0" anchor="ctr"/>
            <a:lstStyle/>
            <a:p>
              <a:pPr algn="ctr">
                <a:lnSpc>
                  <a:spcPts val="4059"/>
                </a:lnSpc>
              </a:pPr>
              <a:r>
                <a:rPr lang="ko-KR" altLang="en-US" sz="2899" dirty="0" err="1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강신혁</a:t>
              </a:r>
              <a:endParaRPr lang="en-US" sz="28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2164414" y="7439513"/>
            <a:ext cx="2614306" cy="40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3"/>
              </a:lnSpc>
            </a:pPr>
            <a:r>
              <a:rPr lang="ko-KR" altLang="en-US" sz="2366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팀장</a:t>
            </a:r>
            <a:endParaRPr lang="en-US" sz="2366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226257" y="8108487"/>
            <a:ext cx="2552463" cy="693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196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전체 프로젝트 관리 및 발표 주도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971032" y="7439513"/>
            <a:ext cx="2614306" cy="40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3"/>
              </a:lnSpc>
            </a:pPr>
            <a:r>
              <a:rPr lang="ko-KR" altLang="en-US" sz="2366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팀원</a:t>
            </a:r>
            <a:endParaRPr lang="en-US" sz="2366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001954" y="8072431"/>
            <a:ext cx="2552463" cy="687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1961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주제에</a:t>
            </a:r>
            <a:r>
              <a:rPr lang="en-US" sz="1961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961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대한</a:t>
            </a:r>
            <a:r>
              <a:rPr lang="en-US" sz="1961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961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심층</a:t>
            </a:r>
            <a:r>
              <a:rPr lang="en-US" sz="1961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961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연구</a:t>
            </a:r>
            <a:r>
              <a:rPr lang="en-US" sz="1961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및 </a:t>
            </a:r>
            <a:r>
              <a:rPr lang="en-US" sz="1961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자료</a:t>
            </a:r>
            <a:r>
              <a:rPr lang="en-US" sz="1961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961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수집</a:t>
            </a:r>
            <a:endParaRPr lang="en-US" sz="1961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775963" y="7428007"/>
            <a:ext cx="2614306" cy="40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3"/>
              </a:lnSpc>
            </a:pPr>
            <a:r>
              <a:rPr lang="ko-KR" altLang="en-US" sz="2366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팀원</a:t>
            </a:r>
            <a:endParaRPr lang="en-US" sz="2366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837806" y="8011666"/>
            <a:ext cx="2552463" cy="687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196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PPT 디자인 및 시각적 요소 제작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224434" y="7428007"/>
            <a:ext cx="3170427" cy="40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3"/>
              </a:lnSpc>
            </a:pPr>
            <a:r>
              <a:rPr lang="ko-KR" altLang="en-US" sz="2366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팀원</a:t>
            </a:r>
            <a:endParaRPr lang="en-US" sz="2366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3566178" y="8011666"/>
            <a:ext cx="2552463" cy="687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196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시장 조사 및 </a:t>
            </a:r>
          </a:p>
          <a:p>
            <a:pPr algn="ctr">
              <a:lnSpc>
                <a:spcPts val="2745"/>
              </a:lnSpc>
            </a:pPr>
            <a:r>
              <a:rPr lang="en-US" sz="196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발표</a:t>
            </a:r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8EFDFFA1-973A-2A80-758E-D8E8A4ECA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305137672">
            <a:extLst>
              <a:ext uri="{FF2B5EF4-FFF2-40B4-BE49-F238E27FC236}">
                <a16:creationId xmlns:a16="http://schemas.microsoft.com/office/drawing/2014/main" id="{B999C2CD-B324-A2C0-F465-D14BF01AC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67" y="3784765"/>
            <a:ext cx="2359165" cy="235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4">
            <a:extLst>
              <a:ext uri="{FF2B5EF4-FFF2-40B4-BE49-F238E27FC236}">
                <a16:creationId xmlns:a16="http://schemas.microsoft.com/office/drawing/2014/main" id="{8F668469-8D7E-EB3D-D168-8FDE9ED8B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305141272">
            <a:extLst>
              <a:ext uri="{FF2B5EF4-FFF2-40B4-BE49-F238E27FC236}">
                <a16:creationId xmlns:a16="http://schemas.microsoft.com/office/drawing/2014/main" id="{375BB8AC-1E42-D955-A76E-70AB66423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702" y="3784766"/>
            <a:ext cx="2398382" cy="245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Rectangle 6">
            <a:extLst>
              <a:ext uri="{FF2B5EF4-FFF2-40B4-BE49-F238E27FC236}">
                <a16:creationId xmlns:a16="http://schemas.microsoft.com/office/drawing/2014/main" id="{732F30FE-263E-B7C4-DF96-F9A7A25E1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9" name="_x305142136">
            <a:extLst>
              <a:ext uri="{FF2B5EF4-FFF2-40B4-BE49-F238E27FC236}">
                <a16:creationId xmlns:a16="http://schemas.microsoft.com/office/drawing/2014/main" id="{1CEF3CE7-688A-4713-44B1-EEC6D2433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149" y="3784764"/>
            <a:ext cx="2614306" cy="245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Rectangle 8">
            <a:extLst>
              <a:ext uri="{FF2B5EF4-FFF2-40B4-BE49-F238E27FC236}">
                <a16:creationId xmlns:a16="http://schemas.microsoft.com/office/drawing/2014/main" id="{788DFE09-6258-D585-6FF7-22946C822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31" name="_x305099440">
            <a:extLst>
              <a:ext uri="{FF2B5EF4-FFF2-40B4-BE49-F238E27FC236}">
                <a16:creationId xmlns:a16="http://schemas.microsoft.com/office/drawing/2014/main" id="{030BB3FD-F7BE-A352-1C79-CB28778B8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1269" y="3784763"/>
            <a:ext cx="2477924" cy="245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Group 21">
            <a:extLst>
              <a:ext uri="{FF2B5EF4-FFF2-40B4-BE49-F238E27FC236}">
                <a16:creationId xmlns:a16="http://schemas.microsoft.com/office/drawing/2014/main" id="{691C9308-7967-C358-4FBA-60157C7E5A21}"/>
              </a:ext>
            </a:extLst>
          </p:cNvPr>
          <p:cNvGrpSpPr/>
          <p:nvPr/>
        </p:nvGrpSpPr>
        <p:grpSpPr>
          <a:xfrm>
            <a:off x="2161417" y="6437870"/>
            <a:ext cx="2500510" cy="707702"/>
            <a:chOff x="0" y="-40629"/>
            <a:chExt cx="610674" cy="223717"/>
          </a:xfrm>
        </p:grpSpPr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4411174-EEC2-137A-AEC0-2692A68790D2}"/>
                </a:ext>
              </a:extLst>
            </p:cNvPr>
            <p:cNvSpPr/>
            <p:nvPr/>
          </p:nvSpPr>
          <p:spPr>
            <a:xfrm>
              <a:off x="0" y="0"/>
              <a:ext cx="610674" cy="166567"/>
            </a:xfrm>
            <a:custGeom>
              <a:avLst/>
              <a:gdLst/>
              <a:ahLst/>
              <a:cxnLst/>
              <a:rect l="l" t="t" r="r" b="b"/>
              <a:pathLst>
                <a:path w="610674" h="166567">
                  <a:moveTo>
                    <a:pt x="40250" y="0"/>
                  </a:moveTo>
                  <a:lnTo>
                    <a:pt x="570424" y="0"/>
                  </a:lnTo>
                  <a:cubicBezTo>
                    <a:pt x="581099" y="0"/>
                    <a:pt x="591337" y="4241"/>
                    <a:pt x="598885" y="11789"/>
                  </a:cubicBezTo>
                  <a:cubicBezTo>
                    <a:pt x="606433" y="19337"/>
                    <a:pt x="610674" y="29575"/>
                    <a:pt x="610674" y="40250"/>
                  </a:cubicBezTo>
                  <a:lnTo>
                    <a:pt x="610674" y="126317"/>
                  </a:lnTo>
                  <a:cubicBezTo>
                    <a:pt x="610674" y="136992"/>
                    <a:pt x="606433" y="147230"/>
                    <a:pt x="598885" y="154778"/>
                  </a:cubicBezTo>
                  <a:cubicBezTo>
                    <a:pt x="591337" y="162326"/>
                    <a:pt x="581099" y="166567"/>
                    <a:pt x="570424" y="166567"/>
                  </a:cubicBezTo>
                  <a:lnTo>
                    <a:pt x="40250" y="166567"/>
                  </a:lnTo>
                  <a:cubicBezTo>
                    <a:pt x="29575" y="166567"/>
                    <a:pt x="19337" y="162326"/>
                    <a:pt x="11789" y="154778"/>
                  </a:cubicBezTo>
                  <a:cubicBezTo>
                    <a:pt x="4241" y="147230"/>
                    <a:pt x="0" y="136992"/>
                    <a:pt x="0" y="126317"/>
                  </a:cubicBezTo>
                  <a:lnTo>
                    <a:pt x="0" y="40250"/>
                  </a:lnTo>
                  <a:cubicBezTo>
                    <a:pt x="0" y="29575"/>
                    <a:pt x="4241" y="19337"/>
                    <a:pt x="11789" y="11789"/>
                  </a:cubicBezTo>
                  <a:cubicBezTo>
                    <a:pt x="19337" y="4241"/>
                    <a:pt x="29575" y="0"/>
                    <a:pt x="4025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23">
              <a:extLst>
                <a:ext uri="{FF2B5EF4-FFF2-40B4-BE49-F238E27FC236}">
                  <a16:creationId xmlns:a16="http://schemas.microsoft.com/office/drawing/2014/main" id="{AB6AF1DE-B21E-4DAD-0B3A-13E9656DE9BE}"/>
                </a:ext>
              </a:extLst>
            </p:cNvPr>
            <p:cNvSpPr txBox="1"/>
            <p:nvPr/>
          </p:nvSpPr>
          <p:spPr>
            <a:xfrm>
              <a:off x="0" y="-40629"/>
              <a:ext cx="610674" cy="223717"/>
            </a:xfrm>
            <a:prstGeom prst="rect">
              <a:avLst/>
            </a:prstGeom>
          </p:spPr>
          <p:txBody>
            <a:bodyPr lIns="48088" tIns="48088" rIns="48088" bIns="48088" rtlCol="0" anchor="ctr"/>
            <a:lstStyle/>
            <a:p>
              <a:pPr algn="ctr">
                <a:lnSpc>
                  <a:spcPts val="4059"/>
                </a:lnSpc>
              </a:pPr>
              <a:r>
                <a:rPr lang="ko-KR" altLang="en-US" sz="28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권영훈</a:t>
              </a:r>
              <a:endParaRPr lang="en-US" sz="28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1042" name="Group 21">
            <a:extLst>
              <a:ext uri="{FF2B5EF4-FFF2-40B4-BE49-F238E27FC236}">
                <a16:creationId xmlns:a16="http://schemas.microsoft.com/office/drawing/2014/main" id="{A9DDE439-3261-C8AF-FB91-A40FD3A3F3B6}"/>
              </a:ext>
            </a:extLst>
          </p:cNvPr>
          <p:cNvGrpSpPr/>
          <p:nvPr/>
        </p:nvGrpSpPr>
        <p:grpSpPr>
          <a:xfrm>
            <a:off x="9737911" y="6478019"/>
            <a:ext cx="2500510" cy="707702"/>
            <a:chOff x="0" y="-40629"/>
            <a:chExt cx="610674" cy="223717"/>
          </a:xfrm>
        </p:grpSpPr>
        <p:sp>
          <p:nvSpPr>
            <p:cNvPr id="1043" name="Freeform 22">
              <a:extLst>
                <a:ext uri="{FF2B5EF4-FFF2-40B4-BE49-F238E27FC236}">
                  <a16:creationId xmlns:a16="http://schemas.microsoft.com/office/drawing/2014/main" id="{69CE2AEE-E534-826D-01F6-B20CBA9FB4BE}"/>
                </a:ext>
              </a:extLst>
            </p:cNvPr>
            <p:cNvSpPr/>
            <p:nvPr/>
          </p:nvSpPr>
          <p:spPr>
            <a:xfrm>
              <a:off x="0" y="0"/>
              <a:ext cx="610674" cy="166567"/>
            </a:xfrm>
            <a:custGeom>
              <a:avLst/>
              <a:gdLst/>
              <a:ahLst/>
              <a:cxnLst/>
              <a:rect l="l" t="t" r="r" b="b"/>
              <a:pathLst>
                <a:path w="610674" h="166567">
                  <a:moveTo>
                    <a:pt x="40250" y="0"/>
                  </a:moveTo>
                  <a:lnTo>
                    <a:pt x="570424" y="0"/>
                  </a:lnTo>
                  <a:cubicBezTo>
                    <a:pt x="581099" y="0"/>
                    <a:pt x="591337" y="4241"/>
                    <a:pt x="598885" y="11789"/>
                  </a:cubicBezTo>
                  <a:cubicBezTo>
                    <a:pt x="606433" y="19337"/>
                    <a:pt x="610674" y="29575"/>
                    <a:pt x="610674" y="40250"/>
                  </a:cubicBezTo>
                  <a:lnTo>
                    <a:pt x="610674" y="126317"/>
                  </a:lnTo>
                  <a:cubicBezTo>
                    <a:pt x="610674" y="136992"/>
                    <a:pt x="606433" y="147230"/>
                    <a:pt x="598885" y="154778"/>
                  </a:cubicBezTo>
                  <a:cubicBezTo>
                    <a:pt x="591337" y="162326"/>
                    <a:pt x="581099" y="166567"/>
                    <a:pt x="570424" y="166567"/>
                  </a:cubicBezTo>
                  <a:lnTo>
                    <a:pt x="40250" y="166567"/>
                  </a:lnTo>
                  <a:cubicBezTo>
                    <a:pt x="29575" y="166567"/>
                    <a:pt x="19337" y="162326"/>
                    <a:pt x="11789" y="154778"/>
                  </a:cubicBezTo>
                  <a:cubicBezTo>
                    <a:pt x="4241" y="147230"/>
                    <a:pt x="0" y="136992"/>
                    <a:pt x="0" y="126317"/>
                  </a:cubicBezTo>
                  <a:lnTo>
                    <a:pt x="0" y="40250"/>
                  </a:lnTo>
                  <a:cubicBezTo>
                    <a:pt x="0" y="29575"/>
                    <a:pt x="4241" y="19337"/>
                    <a:pt x="11789" y="11789"/>
                  </a:cubicBezTo>
                  <a:cubicBezTo>
                    <a:pt x="19337" y="4241"/>
                    <a:pt x="29575" y="0"/>
                    <a:pt x="4025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4" name="TextBox 23">
              <a:extLst>
                <a:ext uri="{FF2B5EF4-FFF2-40B4-BE49-F238E27FC236}">
                  <a16:creationId xmlns:a16="http://schemas.microsoft.com/office/drawing/2014/main" id="{4B556045-F3DA-7A18-9741-A4455E12A0F3}"/>
                </a:ext>
              </a:extLst>
            </p:cNvPr>
            <p:cNvSpPr txBox="1"/>
            <p:nvPr/>
          </p:nvSpPr>
          <p:spPr>
            <a:xfrm>
              <a:off x="0" y="-40629"/>
              <a:ext cx="610674" cy="223717"/>
            </a:xfrm>
            <a:prstGeom prst="rect">
              <a:avLst/>
            </a:prstGeom>
          </p:spPr>
          <p:txBody>
            <a:bodyPr lIns="48088" tIns="48088" rIns="48088" bIns="48088" rtlCol="0" anchor="ctr"/>
            <a:lstStyle/>
            <a:p>
              <a:pPr algn="ctr">
                <a:lnSpc>
                  <a:spcPts val="4059"/>
                </a:lnSpc>
              </a:pPr>
              <a:r>
                <a:rPr lang="ko-KR" altLang="en-US" sz="28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장현오</a:t>
              </a:r>
              <a:endParaRPr lang="en-US" sz="28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1045" name="Group 21">
            <a:extLst>
              <a:ext uri="{FF2B5EF4-FFF2-40B4-BE49-F238E27FC236}">
                <a16:creationId xmlns:a16="http://schemas.microsoft.com/office/drawing/2014/main" id="{5117F792-122E-2A7F-F246-1F8AB1EF47BB}"/>
              </a:ext>
            </a:extLst>
          </p:cNvPr>
          <p:cNvGrpSpPr/>
          <p:nvPr/>
        </p:nvGrpSpPr>
        <p:grpSpPr>
          <a:xfrm>
            <a:off x="13604677" y="6519910"/>
            <a:ext cx="2500510" cy="707702"/>
            <a:chOff x="0" y="-40629"/>
            <a:chExt cx="610674" cy="223717"/>
          </a:xfrm>
        </p:grpSpPr>
        <p:sp>
          <p:nvSpPr>
            <p:cNvPr id="1046" name="Freeform 22">
              <a:extLst>
                <a:ext uri="{FF2B5EF4-FFF2-40B4-BE49-F238E27FC236}">
                  <a16:creationId xmlns:a16="http://schemas.microsoft.com/office/drawing/2014/main" id="{84533D11-7666-C39E-6DB9-5E3C02EDF4D4}"/>
                </a:ext>
              </a:extLst>
            </p:cNvPr>
            <p:cNvSpPr/>
            <p:nvPr/>
          </p:nvSpPr>
          <p:spPr>
            <a:xfrm>
              <a:off x="0" y="0"/>
              <a:ext cx="610674" cy="166567"/>
            </a:xfrm>
            <a:custGeom>
              <a:avLst/>
              <a:gdLst/>
              <a:ahLst/>
              <a:cxnLst/>
              <a:rect l="l" t="t" r="r" b="b"/>
              <a:pathLst>
                <a:path w="610674" h="166567">
                  <a:moveTo>
                    <a:pt x="40250" y="0"/>
                  </a:moveTo>
                  <a:lnTo>
                    <a:pt x="570424" y="0"/>
                  </a:lnTo>
                  <a:cubicBezTo>
                    <a:pt x="581099" y="0"/>
                    <a:pt x="591337" y="4241"/>
                    <a:pt x="598885" y="11789"/>
                  </a:cubicBezTo>
                  <a:cubicBezTo>
                    <a:pt x="606433" y="19337"/>
                    <a:pt x="610674" y="29575"/>
                    <a:pt x="610674" y="40250"/>
                  </a:cubicBezTo>
                  <a:lnTo>
                    <a:pt x="610674" y="126317"/>
                  </a:lnTo>
                  <a:cubicBezTo>
                    <a:pt x="610674" y="136992"/>
                    <a:pt x="606433" y="147230"/>
                    <a:pt x="598885" y="154778"/>
                  </a:cubicBezTo>
                  <a:cubicBezTo>
                    <a:pt x="591337" y="162326"/>
                    <a:pt x="581099" y="166567"/>
                    <a:pt x="570424" y="166567"/>
                  </a:cubicBezTo>
                  <a:lnTo>
                    <a:pt x="40250" y="166567"/>
                  </a:lnTo>
                  <a:cubicBezTo>
                    <a:pt x="29575" y="166567"/>
                    <a:pt x="19337" y="162326"/>
                    <a:pt x="11789" y="154778"/>
                  </a:cubicBezTo>
                  <a:cubicBezTo>
                    <a:pt x="4241" y="147230"/>
                    <a:pt x="0" y="136992"/>
                    <a:pt x="0" y="126317"/>
                  </a:cubicBezTo>
                  <a:lnTo>
                    <a:pt x="0" y="40250"/>
                  </a:lnTo>
                  <a:cubicBezTo>
                    <a:pt x="0" y="29575"/>
                    <a:pt x="4241" y="19337"/>
                    <a:pt x="11789" y="11789"/>
                  </a:cubicBezTo>
                  <a:cubicBezTo>
                    <a:pt x="19337" y="4241"/>
                    <a:pt x="29575" y="0"/>
                    <a:pt x="4025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7" name="TextBox 23">
              <a:extLst>
                <a:ext uri="{FF2B5EF4-FFF2-40B4-BE49-F238E27FC236}">
                  <a16:creationId xmlns:a16="http://schemas.microsoft.com/office/drawing/2014/main" id="{4355097F-3F5E-6D62-3C2C-A73A5104A08F}"/>
                </a:ext>
              </a:extLst>
            </p:cNvPr>
            <p:cNvSpPr txBox="1"/>
            <p:nvPr/>
          </p:nvSpPr>
          <p:spPr>
            <a:xfrm>
              <a:off x="0" y="-40629"/>
              <a:ext cx="610674" cy="223717"/>
            </a:xfrm>
            <a:prstGeom prst="rect">
              <a:avLst/>
            </a:prstGeom>
          </p:spPr>
          <p:txBody>
            <a:bodyPr lIns="48088" tIns="48088" rIns="48088" bIns="48088" rtlCol="0" anchor="ctr"/>
            <a:lstStyle/>
            <a:p>
              <a:pPr algn="ctr">
                <a:lnSpc>
                  <a:spcPts val="4059"/>
                </a:lnSpc>
              </a:pPr>
              <a:r>
                <a:rPr lang="ko-KR" altLang="en-US" sz="28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이호준</a:t>
              </a:r>
              <a:endParaRPr lang="en-US" sz="28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8469-0044-D98A-07CD-F3BDB7A1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>
            <a:extLst>
              <a:ext uri="{FF2B5EF4-FFF2-40B4-BE49-F238E27FC236}">
                <a16:creationId xmlns:a16="http://schemas.microsoft.com/office/drawing/2014/main" id="{DA9E18FE-76B7-7334-C227-D682B0103978}"/>
              </a:ext>
            </a:extLst>
          </p:cNvPr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60" name="Freeform 3">
              <a:extLst>
                <a:ext uri="{FF2B5EF4-FFF2-40B4-BE49-F238E27FC236}">
                  <a16:creationId xmlns:a16="http://schemas.microsoft.com/office/drawing/2014/main" id="{01484428-A031-EC88-9B03-9359874626C0}"/>
                </a:ext>
              </a:extLst>
            </p:cNvPr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Freeform 4">
              <a:extLst>
                <a:ext uri="{FF2B5EF4-FFF2-40B4-BE49-F238E27FC236}">
                  <a16:creationId xmlns:a16="http://schemas.microsoft.com/office/drawing/2014/main" id="{55E31CF9-A699-24CB-079E-684A46F53C19}"/>
                </a:ext>
              </a:extLst>
            </p:cNvPr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Freeform 5">
              <a:extLst>
                <a:ext uri="{FF2B5EF4-FFF2-40B4-BE49-F238E27FC236}">
                  <a16:creationId xmlns:a16="http://schemas.microsoft.com/office/drawing/2014/main" id="{0F2BE5FE-FBA9-1611-B657-E952F511F5E6}"/>
                </a:ext>
              </a:extLst>
            </p:cNvPr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Freeform 6">
              <a:extLst>
                <a:ext uri="{FF2B5EF4-FFF2-40B4-BE49-F238E27FC236}">
                  <a16:creationId xmlns:a16="http://schemas.microsoft.com/office/drawing/2014/main" id="{CA8B902D-C85B-11C1-8096-83F6D154CB63}"/>
                </a:ext>
              </a:extLst>
            </p:cNvPr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Freeform 7">
              <a:extLst>
                <a:ext uri="{FF2B5EF4-FFF2-40B4-BE49-F238E27FC236}">
                  <a16:creationId xmlns:a16="http://schemas.microsoft.com/office/drawing/2014/main" id="{8F97F57E-8BC9-42DA-DD45-85E2F8051DD2}"/>
                </a:ext>
              </a:extLst>
            </p:cNvPr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5" name="Freeform 8">
              <a:extLst>
                <a:ext uri="{FF2B5EF4-FFF2-40B4-BE49-F238E27FC236}">
                  <a16:creationId xmlns:a16="http://schemas.microsoft.com/office/drawing/2014/main" id="{8082F944-BA40-1734-EE70-9EACDAAC75B6}"/>
                </a:ext>
              </a:extLst>
            </p:cNvPr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Freeform 9">
              <a:extLst>
                <a:ext uri="{FF2B5EF4-FFF2-40B4-BE49-F238E27FC236}">
                  <a16:creationId xmlns:a16="http://schemas.microsoft.com/office/drawing/2014/main" id="{8C5836E4-0E46-5157-337D-746DFA6CBA23}"/>
                </a:ext>
              </a:extLst>
            </p:cNvPr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Freeform 10">
              <a:extLst>
                <a:ext uri="{FF2B5EF4-FFF2-40B4-BE49-F238E27FC236}">
                  <a16:creationId xmlns:a16="http://schemas.microsoft.com/office/drawing/2014/main" id="{B6B252F6-6505-44FE-06AE-0F0BE3ADA270}"/>
                </a:ext>
              </a:extLst>
            </p:cNvPr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8" name="Group 11">
            <a:extLst>
              <a:ext uri="{FF2B5EF4-FFF2-40B4-BE49-F238E27FC236}">
                <a16:creationId xmlns:a16="http://schemas.microsoft.com/office/drawing/2014/main" id="{D075DED9-F9B5-DEDC-F980-1B9F66132DC1}"/>
              </a:ext>
            </a:extLst>
          </p:cNvPr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69" name="Group 12">
              <a:extLst>
                <a:ext uri="{FF2B5EF4-FFF2-40B4-BE49-F238E27FC236}">
                  <a16:creationId xmlns:a16="http://schemas.microsoft.com/office/drawing/2014/main" id="{A3832F6B-091B-FBD5-A8C2-8A01027F21FD}"/>
                </a:ext>
              </a:extLst>
            </p:cNvPr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73" name="Freeform 13">
                <a:extLst>
                  <a:ext uri="{FF2B5EF4-FFF2-40B4-BE49-F238E27FC236}">
                    <a16:creationId xmlns:a16="http://schemas.microsoft.com/office/drawing/2014/main" id="{D0AFAAAC-FE1C-741F-885D-01CB8F6639F0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14">
                <a:extLst>
                  <a:ext uri="{FF2B5EF4-FFF2-40B4-BE49-F238E27FC236}">
                    <a16:creationId xmlns:a16="http://schemas.microsoft.com/office/drawing/2014/main" id="{927210E2-1E93-09C5-0E2B-B8BD6D4F8F6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70" name="Group 15">
              <a:extLst>
                <a:ext uri="{FF2B5EF4-FFF2-40B4-BE49-F238E27FC236}">
                  <a16:creationId xmlns:a16="http://schemas.microsoft.com/office/drawing/2014/main" id="{B7AB7271-5755-79F4-D8CF-9B4FF1F81D1F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71" name="Freeform 16">
                <a:extLst>
                  <a:ext uri="{FF2B5EF4-FFF2-40B4-BE49-F238E27FC236}">
                    <a16:creationId xmlns:a16="http://schemas.microsoft.com/office/drawing/2014/main" id="{E70685DA-654F-80E0-3677-42BEA01F8E65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2" name="TextBox 17">
                <a:extLst>
                  <a:ext uri="{FF2B5EF4-FFF2-40B4-BE49-F238E27FC236}">
                    <a16:creationId xmlns:a16="http://schemas.microsoft.com/office/drawing/2014/main" id="{A0D0D1C2-7355-EB3D-A246-3563F41858A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pic>
        <p:nvPicPr>
          <p:cNvPr id="76" name="그림 75">
            <a:extLst>
              <a:ext uri="{FF2B5EF4-FFF2-40B4-BE49-F238E27FC236}">
                <a16:creationId xmlns:a16="http://schemas.microsoft.com/office/drawing/2014/main" id="{CA8293BA-BF50-0E34-2DCC-201DD3A5B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807" y="1702114"/>
            <a:ext cx="14300246" cy="705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2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47800" y="-8442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2106767" y="2715339"/>
            <a:ext cx="6642252" cy="6384408"/>
            <a:chOff x="0" y="-66675"/>
            <a:chExt cx="1813523" cy="14319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13523" cy="1330165"/>
            </a:xfrm>
            <a:custGeom>
              <a:avLst/>
              <a:gdLst/>
              <a:ahLst/>
              <a:cxnLst/>
              <a:rect l="l" t="t" r="r" b="b"/>
              <a:pathLst>
                <a:path w="1813523" h="1365236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980"/>
              </a:srgbClr>
            </a:solidFill>
            <a:ln w="19050" cap="rnd">
              <a:solidFill>
                <a:srgbClr val="3E4047">
                  <a:alpha val="3098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813523" cy="1431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87845" y="3012620"/>
            <a:ext cx="6618789" cy="5930757"/>
            <a:chOff x="0" y="0"/>
            <a:chExt cx="1807117" cy="13652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07117" cy="1365236"/>
            </a:xfrm>
            <a:custGeom>
              <a:avLst/>
              <a:gdLst/>
              <a:ahLst/>
              <a:cxnLst/>
              <a:rect l="l" t="t" r="r" b="b"/>
              <a:pathLst>
                <a:path w="1807117" h="1365236">
                  <a:moveTo>
                    <a:pt x="116969" y="0"/>
                  </a:moveTo>
                  <a:lnTo>
                    <a:pt x="1690148" y="0"/>
                  </a:lnTo>
                  <a:cubicBezTo>
                    <a:pt x="1721170" y="0"/>
                    <a:pt x="1750921" y="12323"/>
                    <a:pt x="1772857" y="34259"/>
                  </a:cubicBezTo>
                  <a:cubicBezTo>
                    <a:pt x="1794793" y="56195"/>
                    <a:pt x="1807117" y="85947"/>
                    <a:pt x="1807117" y="116969"/>
                  </a:cubicBezTo>
                  <a:lnTo>
                    <a:pt x="1807117" y="1248267"/>
                  </a:lnTo>
                  <a:cubicBezTo>
                    <a:pt x="1807117" y="1312867"/>
                    <a:pt x="1754748" y="1365236"/>
                    <a:pt x="1690148" y="1365236"/>
                  </a:cubicBezTo>
                  <a:lnTo>
                    <a:pt x="116969" y="1365236"/>
                  </a:lnTo>
                  <a:cubicBezTo>
                    <a:pt x="52369" y="1365236"/>
                    <a:pt x="0" y="1312867"/>
                    <a:pt x="0" y="1248267"/>
                  </a:cubicBezTo>
                  <a:lnTo>
                    <a:pt x="0" y="116969"/>
                  </a:lnTo>
                  <a:cubicBezTo>
                    <a:pt x="0" y="52369"/>
                    <a:pt x="52369" y="0"/>
                    <a:pt x="116969" y="0"/>
                  </a:cubicBezTo>
                  <a:close/>
                </a:path>
              </a:pathLst>
            </a:custGeom>
            <a:solidFill>
              <a:srgbClr val="E3F0E5">
                <a:alpha val="49804"/>
              </a:srgbClr>
            </a:solidFill>
            <a:ln w="19050" cap="rnd">
              <a:solidFill>
                <a:srgbClr val="485849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807117" cy="1431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2106767" y="4713646"/>
            <a:ext cx="6618417" cy="16199"/>
          </a:xfrm>
          <a:prstGeom prst="line">
            <a:avLst/>
          </a:prstGeom>
          <a:ln w="19050" cap="flat">
            <a:solidFill>
              <a:srgbClr val="485849">
                <a:alpha val="6078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9387845" y="4724010"/>
            <a:ext cx="6618789" cy="0"/>
          </a:xfrm>
          <a:prstGeom prst="line">
            <a:avLst/>
          </a:prstGeom>
          <a:ln w="19050" cap="flat">
            <a:solidFill>
              <a:srgbClr val="485849">
                <a:alpha val="6588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3870789" y="1401775"/>
            <a:ext cx="12556260" cy="121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dirty="0" err="1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문제</a:t>
            </a:r>
            <a:r>
              <a:rPr lang="en-US" sz="69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sz="6999" dirty="0" err="1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정의</a:t>
            </a:r>
            <a:r>
              <a:rPr lang="en-US" sz="69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및 </a:t>
            </a:r>
            <a:r>
              <a:rPr lang="en-US" sz="6999" dirty="0" err="1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</a:t>
            </a:r>
            <a:r>
              <a:rPr lang="en-US" sz="69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ko-KR" altLang="en-US" sz="69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목표</a:t>
            </a:r>
            <a:endParaRPr lang="en-US" sz="6999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74927" y="3601196"/>
            <a:ext cx="490593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ko-KR" altLang="en-US" sz="3000" dirty="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문제 정의</a:t>
            </a:r>
            <a:endParaRPr lang="en-US" sz="3000" dirty="0">
              <a:solidFill>
                <a:srgbClr val="658C6A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244273" y="3601196"/>
            <a:ext cx="490593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</a:t>
            </a:r>
            <a:r>
              <a:rPr lang="en-US" sz="3000" dirty="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ko-KR" altLang="en-US" sz="3000" dirty="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목표</a:t>
            </a:r>
            <a:endParaRPr lang="en-US" sz="3000" dirty="0">
              <a:solidFill>
                <a:srgbClr val="658C6A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32BCA829-AB92-FC35-C9BD-05B8F914BF07}"/>
              </a:ext>
            </a:extLst>
          </p:cNvPr>
          <p:cNvSpPr txBox="1"/>
          <p:nvPr/>
        </p:nvSpPr>
        <p:spPr>
          <a:xfrm>
            <a:off x="2527980" y="4960315"/>
            <a:ext cx="5799826" cy="4848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745"/>
              </a:lnSpc>
              <a:buFontTx/>
              <a:buChar char="-"/>
            </a:pP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부산시 복지 등 정책 정보가 흩어져 있어 접근이 어려움</a:t>
            </a: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>
              <a:lnSpc>
                <a:spcPts val="2745"/>
              </a:lnSpc>
            </a:pPr>
            <a:endParaRPr lang="ko-KR" altLang="en-US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시민이 이해하기 쉽게 전달되는 체계 부족</a:t>
            </a: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신뢰할 수 있는 최신 정책 정보를 빠르게 찾기 어려움</a:t>
            </a: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중장년층의 정보 접근성과 활용성이 특히 낮음</a:t>
            </a:r>
            <a:r>
              <a:rPr lang="en-US" altLang="ko-KR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marL="342900" indent="-342900">
              <a:lnSpc>
                <a:spcPts val="2745"/>
              </a:lnSpc>
              <a:buFontTx/>
              <a:buChar char="-"/>
            </a:pP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endParaRPr lang="ko-KR" altLang="en-US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45"/>
              </a:lnSpc>
            </a:pPr>
            <a:endParaRPr lang="en-US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4" name="TextBox 44">
            <a:extLst>
              <a:ext uri="{FF2B5EF4-FFF2-40B4-BE49-F238E27FC236}">
                <a16:creationId xmlns:a16="http://schemas.microsoft.com/office/drawing/2014/main" id="{957FA42B-109D-9642-3B59-C5D8AE7289CA}"/>
              </a:ext>
            </a:extLst>
          </p:cNvPr>
          <p:cNvSpPr txBox="1"/>
          <p:nvPr/>
        </p:nvSpPr>
        <p:spPr>
          <a:xfrm>
            <a:off x="9658034" y="4964845"/>
            <a:ext cx="5951698" cy="4155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745"/>
              </a:lnSpc>
              <a:buFontTx/>
              <a:buChar char="-"/>
            </a:pPr>
            <a:r>
              <a:rPr lang="en-US" altLang="ko-KR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LLM + RAG </a:t>
            </a: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기반 부산시 정책</a:t>
            </a:r>
            <a:r>
              <a:rPr lang="en-US" altLang="ko-KR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/</a:t>
            </a: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복지 </a:t>
            </a:r>
            <a:r>
              <a:rPr lang="ko-KR" altLang="en-US" sz="2500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챗봇</a:t>
            </a: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개발</a:t>
            </a: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endParaRPr lang="ko-KR" altLang="en-US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시민이 질문하면 쉽고 빠르게 정확한 정보 제공</a:t>
            </a: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endParaRPr lang="ko-KR" altLang="en-US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정책 현안을 이해하기 쉬운 간단한 용어로 설명</a:t>
            </a: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endParaRPr lang="en-US" altLang="ko-KR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2900" indent="-342900">
              <a:lnSpc>
                <a:spcPts val="2745"/>
              </a:lnSpc>
              <a:buFontTx/>
              <a:buChar char="-"/>
            </a:pPr>
            <a:r>
              <a:rPr lang="ko-KR" altLang="en-US" sz="25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데이터 기반으로 정확하고 신뢰도 높은 정보 제공</a:t>
            </a:r>
          </a:p>
          <a:p>
            <a:pPr algn="ctr">
              <a:lnSpc>
                <a:spcPts val="2745"/>
              </a:lnSpc>
            </a:pPr>
            <a:endParaRPr lang="en-US" sz="25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041627" y="1388861"/>
            <a:ext cx="7898846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프로젝트 개요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03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80630" y="3841135"/>
            <a:ext cx="16278670" cy="0"/>
          </a:xfrm>
          <a:prstGeom prst="line">
            <a:avLst/>
          </a:prstGeom>
          <a:ln w="19050" cap="flat">
            <a:solidFill>
              <a:srgbClr val="48584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2" name="Group 22"/>
          <p:cNvGrpSpPr/>
          <p:nvPr/>
        </p:nvGrpSpPr>
        <p:grpSpPr>
          <a:xfrm>
            <a:off x="3485113" y="3399720"/>
            <a:ext cx="1005073" cy="863735"/>
            <a:chOff x="0" y="0"/>
            <a:chExt cx="812800" cy="698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FA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1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 flipV="1">
            <a:off x="3987650" y="4263455"/>
            <a:ext cx="0" cy="1221211"/>
          </a:xfrm>
          <a:prstGeom prst="line">
            <a:avLst/>
          </a:prstGeom>
          <a:ln w="28575" cap="flat">
            <a:solidFill>
              <a:srgbClr val="48584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424919" y="4598960"/>
            <a:ext cx="2903178" cy="1918640"/>
            <a:chOff x="0" y="-57150"/>
            <a:chExt cx="762847" cy="50414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62847" cy="446997"/>
            </a:xfrm>
            <a:custGeom>
              <a:avLst/>
              <a:gdLst/>
              <a:ahLst/>
              <a:cxnLst/>
              <a:rect l="l" t="t" r="r" b="b"/>
              <a:pathLst>
                <a:path w="762847" h="44699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14997"/>
                  </a:lnTo>
                  <a:cubicBezTo>
                    <a:pt x="762847" y="432670"/>
                    <a:pt x="748520" y="446997"/>
                    <a:pt x="730847" y="446997"/>
                  </a:cubicBezTo>
                  <a:lnTo>
                    <a:pt x="32000" y="446997"/>
                  </a:lnTo>
                  <a:cubicBezTo>
                    <a:pt x="23513" y="446997"/>
                    <a:pt x="15374" y="443626"/>
                    <a:pt x="9373" y="437625"/>
                  </a:cubicBezTo>
                  <a:cubicBezTo>
                    <a:pt x="3371" y="431623"/>
                    <a:pt x="0" y="423484"/>
                    <a:pt x="0" y="414997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762847" cy="5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ko-KR" alt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주제 선정 및</a:t>
              </a:r>
              <a:endParaRPr lang="en-US" altLang="ko-KR" sz="27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  <a:p>
              <a:pPr algn="ctr">
                <a:lnSpc>
                  <a:spcPts val="3919"/>
                </a:lnSpc>
              </a:pPr>
              <a:r>
                <a:rPr lang="ko-KR" alt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관련 정보 수집</a:t>
              </a:r>
              <a:endParaRPr lang="en-US" sz="27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427085" y="6657194"/>
            <a:ext cx="2903178" cy="1949739"/>
            <a:chOff x="0" y="0"/>
            <a:chExt cx="762847" cy="5123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62847" cy="512319"/>
            </a:xfrm>
            <a:custGeom>
              <a:avLst/>
              <a:gdLst/>
              <a:ahLst/>
              <a:cxnLst/>
              <a:rect l="l" t="t" r="r" b="b"/>
              <a:pathLst>
                <a:path w="762847" h="512319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80319"/>
                  </a:lnTo>
                  <a:cubicBezTo>
                    <a:pt x="762847" y="488806"/>
                    <a:pt x="759476" y="496945"/>
                    <a:pt x="753475" y="502946"/>
                  </a:cubicBezTo>
                  <a:cubicBezTo>
                    <a:pt x="747474" y="508948"/>
                    <a:pt x="739334" y="512319"/>
                    <a:pt x="730847" y="512319"/>
                  </a:cubicBezTo>
                  <a:lnTo>
                    <a:pt x="32000" y="512319"/>
                  </a:lnTo>
                  <a:cubicBezTo>
                    <a:pt x="23513" y="512319"/>
                    <a:pt x="15374" y="508948"/>
                    <a:pt x="9373" y="502946"/>
                  </a:cubicBezTo>
                  <a:cubicBezTo>
                    <a:pt x="3371" y="496945"/>
                    <a:pt x="0" y="488806"/>
                    <a:pt x="0" y="480319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762847" cy="559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부산시 현안과 관련된 문제 정의 및 주제 선정</a:t>
              </a: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985977" y="3399720"/>
            <a:ext cx="1005073" cy="863735"/>
            <a:chOff x="0" y="0"/>
            <a:chExt cx="812800" cy="6985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2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V="1">
            <a:off x="7524518" y="4263455"/>
            <a:ext cx="0" cy="1221211"/>
          </a:xfrm>
          <a:prstGeom prst="line">
            <a:avLst/>
          </a:prstGeom>
          <a:ln w="28575" cap="flat">
            <a:solidFill>
              <a:srgbClr val="48584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6" name="Group 36"/>
          <p:cNvGrpSpPr/>
          <p:nvPr/>
        </p:nvGrpSpPr>
        <p:grpSpPr>
          <a:xfrm>
            <a:off x="6011712" y="4816457"/>
            <a:ext cx="2900030" cy="1701143"/>
            <a:chOff x="0" y="0"/>
            <a:chExt cx="762020" cy="4469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62020" cy="446997"/>
            </a:xfrm>
            <a:custGeom>
              <a:avLst/>
              <a:gdLst/>
              <a:ahLst/>
              <a:cxnLst/>
              <a:rect l="l" t="t" r="r" b="b"/>
              <a:pathLst>
                <a:path w="762020" h="446997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ko-KR" alt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프로젝트 설계</a:t>
              </a:r>
              <a:endParaRPr lang="en-US" sz="27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13876" y="6657194"/>
            <a:ext cx="2900030" cy="1949739"/>
            <a:chOff x="0" y="0"/>
            <a:chExt cx="762020" cy="5123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62020" cy="512319"/>
            </a:xfrm>
            <a:custGeom>
              <a:avLst/>
              <a:gdLst/>
              <a:ahLst/>
              <a:cxnLst/>
              <a:rect l="l" t="t" r="r" b="b"/>
              <a:pathLst>
                <a:path w="762020" h="512319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LLM </a:t>
              </a: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과 </a:t>
              </a:r>
              <a:r>
                <a:rPr lang="en-US" altLang="ko-KR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RAG </a:t>
              </a: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기술을 이용하여 프로젝트 진행</a:t>
              </a:r>
              <a:endParaRPr lang="en-US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sp>
        <p:nvSpPr>
          <p:cNvPr id="42" name="AutoShape 42"/>
          <p:cNvSpPr/>
          <p:nvPr/>
        </p:nvSpPr>
        <p:spPr>
          <a:xfrm flipV="1">
            <a:off x="11015046" y="4205852"/>
            <a:ext cx="0" cy="1221211"/>
          </a:xfrm>
          <a:prstGeom prst="line">
            <a:avLst/>
          </a:prstGeom>
          <a:ln w="28575" cap="flat">
            <a:solidFill>
              <a:srgbClr val="48584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Group 43"/>
          <p:cNvGrpSpPr/>
          <p:nvPr/>
        </p:nvGrpSpPr>
        <p:grpSpPr>
          <a:xfrm>
            <a:off x="10486600" y="3399720"/>
            <a:ext cx="1005073" cy="863735"/>
            <a:chOff x="0" y="0"/>
            <a:chExt cx="812800" cy="6985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48580" y="4816457"/>
            <a:ext cx="2900030" cy="1701143"/>
            <a:chOff x="0" y="0"/>
            <a:chExt cx="762020" cy="44699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62020" cy="446997"/>
            </a:xfrm>
            <a:custGeom>
              <a:avLst/>
              <a:gdLst/>
              <a:ahLst/>
              <a:cxnLst/>
              <a:rect l="l" t="t" r="r" b="b"/>
              <a:pathLst>
                <a:path w="762020" h="446997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ko-KR" alt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프로젝트 개발</a:t>
              </a:r>
              <a:endParaRPr lang="en-US" sz="27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50744" y="6657194"/>
            <a:ext cx="2900030" cy="1949739"/>
            <a:chOff x="0" y="0"/>
            <a:chExt cx="762020" cy="51231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62020" cy="512319"/>
            </a:xfrm>
            <a:custGeom>
              <a:avLst/>
              <a:gdLst/>
              <a:ahLst/>
              <a:cxnLst/>
              <a:rect l="l" t="t" r="r" b="b"/>
              <a:pathLst>
                <a:path w="762020" h="512319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RAG, </a:t>
              </a:r>
              <a:r>
                <a:rPr lang="ko-KR" alt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파인튜닝을</a:t>
              </a:r>
              <a:r>
                <a:rPr lang="ko-KR" alt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이용한 서비스 구현</a:t>
              </a:r>
              <a:endParaRPr lang="en-US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4038590" y="3399720"/>
            <a:ext cx="1005073" cy="863735"/>
            <a:chOff x="0" y="0"/>
            <a:chExt cx="812800" cy="6985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FFFFFA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4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 flipV="1">
            <a:off x="14541127" y="4263455"/>
            <a:ext cx="0" cy="1221211"/>
          </a:xfrm>
          <a:prstGeom prst="line">
            <a:avLst/>
          </a:prstGeom>
          <a:ln w="28575" cap="flat">
            <a:solidFill>
              <a:srgbClr val="485849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6" name="Group 56"/>
          <p:cNvGrpSpPr/>
          <p:nvPr/>
        </p:nvGrpSpPr>
        <p:grpSpPr>
          <a:xfrm>
            <a:off x="13088949" y="4816457"/>
            <a:ext cx="2900030" cy="1701143"/>
            <a:chOff x="0" y="0"/>
            <a:chExt cx="762020" cy="446997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62020" cy="446997"/>
            </a:xfrm>
            <a:custGeom>
              <a:avLst/>
              <a:gdLst/>
              <a:ahLst/>
              <a:cxnLst/>
              <a:rect l="l" t="t" r="r" b="b"/>
              <a:pathLst>
                <a:path w="762020" h="446997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dirty="0" err="1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보고서</a:t>
              </a:r>
              <a:r>
                <a:rPr 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en-US" sz="2799" dirty="0" err="1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작성</a:t>
              </a:r>
              <a:r>
                <a:rPr 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 </a:t>
              </a:r>
              <a:r>
                <a:rPr lang="ko-KR" altLang="en-US" sz="2799" dirty="0">
                  <a:solidFill>
                    <a:srgbClr val="485849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및 결과 발표</a:t>
              </a:r>
              <a:endParaRPr lang="en-US" sz="27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091112" y="6657194"/>
            <a:ext cx="2900030" cy="1949739"/>
            <a:chOff x="0" y="0"/>
            <a:chExt cx="762020" cy="51231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62020" cy="512319"/>
            </a:xfrm>
            <a:custGeom>
              <a:avLst/>
              <a:gdLst/>
              <a:ahLst/>
              <a:cxnLst/>
              <a:rect l="l" t="t" r="r" b="b"/>
              <a:pathLst>
                <a:path w="762020" h="512319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분석</a:t>
              </a: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</a:t>
              </a:r>
              <a:r>
                <a:rPr 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결과</a:t>
              </a: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</a:t>
              </a:r>
              <a:r>
                <a:rPr 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요약</a:t>
              </a: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, 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시사점</a:t>
              </a: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</a:t>
              </a:r>
              <a:r>
                <a:rPr 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제시</a:t>
              </a:r>
              <a:endParaRPr lang="en-US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향후</a:t>
              </a: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</a:t>
              </a:r>
              <a:r>
                <a:rPr 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계획</a:t>
              </a: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</a:t>
              </a:r>
              <a:r>
                <a:rPr lang="en-US" sz="2199" dirty="0" err="1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수립</a:t>
              </a:r>
              <a:r>
                <a:rPr lang="en-US" sz="2199" dirty="0">
                  <a:solidFill>
                    <a:srgbClr val="485849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878AC-7521-4F9A-B8F0-AECE9315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4D5DFA-F3CD-3263-36D8-88589F66AD5E}"/>
              </a:ext>
            </a:extLst>
          </p:cNvPr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357C1E9-3938-3407-FD36-34CDECF890BF}"/>
                </a:ext>
              </a:extLst>
            </p:cNvPr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31825EB-BF93-D40E-23CC-97B003D47BA9}"/>
                </a:ext>
              </a:extLst>
            </p:cNvPr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B6CA76-8DBF-5648-CBA1-EAF94F322277}"/>
                </a:ext>
              </a:extLst>
            </p:cNvPr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A1E1237-EE6D-A82D-CB88-9BF6B72506F7}"/>
                </a:ext>
              </a:extLst>
            </p:cNvPr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919AD9-726F-5711-CD8B-51E77F39C328}"/>
                </a:ext>
              </a:extLst>
            </p:cNvPr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F91E3EC-8B32-0E01-5E6F-25EDA7272867}"/>
                </a:ext>
              </a:extLst>
            </p:cNvPr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43CF542-4C7D-2651-CD4C-82033B4662B6}"/>
                </a:ext>
              </a:extLst>
            </p:cNvPr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254496D-0C4C-9E44-F410-27A736BE2303}"/>
                </a:ext>
              </a:extLst>
            </p:cNvPr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C6C494A-4333-F605-B564-ED48731C57B3}"/>
              </a:ext>
            </a:extLst>
          </p:cNvPr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186059E-C994-E745-36EB-08FE6A323683}"/>
                </a:ext>
              </a:extLst>
            </p:cNvPr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E0A6027-7F6C-DD56-1814-1BE14774AC29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D6ADA90-6A69-CA6F-3B36-BA16F038847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4ECE6706-3597-93E2-9E67-6552305B2CC9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822BB035-2D48-5525-8718-D0DF88A147AF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EB59DA3-24FF-083A-A278-DE497C9EF1E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FE2204EE-ED57-1DF9-AA91-EB9DD7909B1C}"/>
              </a:ext>
            </a:extLst>
          </p:cNvPr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786197-5B9C-1B55-9621-29F0557B69B9}"/>
              </a:ext>
            </a:extLst>
          </p:cNvPr>
          <p:cNvGrpSpPr/>
          <p:nvPr/>
        </p:nvGrpSpPr>
        <p:grpSpPr>
          <a:xfrm>
            <a:off x="2106767" y="3110035"/>
            <a:ext cx="13613444" cy="5386265"/>
            <a:chOff x="0" y="-66675"/>
            <a:chExt cx="1813523" cy="1431911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12CE9FC-5F9B-2C0E-D820-4E2A80023F05}"/>
                </a:ext>
              </a:extLst>
            </p:cNvPr>
            <p:cNvSpPr/>
            <p:nvPr/>
          </p:nvSpPr>
          <p:spPr>
            <a:xfrm>
              <a:off x="0" y="0"/>
              <a:ext cx="1813523" cy="1330165"/>
            </a:xfrm>
            <a:custGeom>
              <a:avLst/>
              <a:gdLst/>
              <a:ahLst/>
              <a:cxnLst/>
              <a:rect l="l" t="t" r="r" b="b"/>
              <a:pathLst>
                <a:path w="1813523" h="1365236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980"/>
              </a:srgbClr>
            </a:solidFill>
            <a:ln w="19050" cap="rnd">
              <a:solidFill>
                <a:srgbClr val="3E4047">
                  <a:alpha val="3098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C7E3638-F3C0-6034-102C-724E2EEA35C0}"/>
                </a:ext>
              </a:extLst>
            </p:cNvPr>
            <p:cNvSpPr txBox="1"/>
            <p:nvPr/>
          </p:nvSpPr>
          <p:spPr>
            <a:xfrm>
              <a:off x="0" y="-66675"/>
              <a:ext cx="1813523" cy="1431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25" name="AutoShape 25">
            <a:extLst>
              <a:ext uri="{FF2B5EF4-FFF2-40B4-BE49-F238E27FC236}">
                <a16:creationId xmlns:a16="http://schemas.microsoft.com/office/drawing/2014/main" id="{1581019E-B09A-3B7C-2C1A-FA0562190D3B}"/>
              </a:ext>
            </a:extLst>
          </p:cNvPr>
          <p:cNvSpPr/>
          <p:nvPr/>
        </p:nvSpPr>
        <p:spPr>
          <a:xfrm flipV="1">
            <a:off x="2106767" y="4621595"/>
            <a:ext cx="13438033" cy="92051"/>
          </a:xfrm>
          <a:prstGeom prst="line">
            <a:avLst/>
          </a:prstGeom>
          <a:ln w="19050" cap="flat">
            <a:solidFill>
              <a:srgbClr val="485849">
                <a:alpha val="6078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AD850C7-F833-DC4D-64DF-D3E7805994AA}"/>
              </a:ext>
            </a:extLst>
          </p:cNvPr>
          <p:cNvSpPr txBox="1"/>
          <p:nvPr/>
        </p:nvSpPr>
        <p:spPr>
          <a:xfrm>
            <a:off x="3870789" y="1401775"/>
            <a:ext cx="12556260" cy="121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목표 및 기대효과</a:t>
            </a:r>
            <a:endParaRPr lang="en-US" sz="6999" dirty="0">
              <a:solidFill>
                <a:srgbClr val="485849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0B54DA3-B0BF-E402-11A0-EDC77BB9B2D8}"/>
              </a:ext>
            </a:extLst>
          </p:cNvPr>
          <p:cNvSpPr txBox="1"/>
          <p:nvPr/>
        </p:nvSpPr>
        <p:spPr>
          <a:xfrm>
            <a:off x="1822669" y="989012"/>
            <a:ext cx="2048120" cy="179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 dirty="0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04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8A1EE70-0F1A-07DF-B939-0F20DA94D090}"/>
              </a:ext>
            </a:extLst>
          </p:cNvPr>
          <p:cNvSpPr txBox="1"/>
          <p:nvPr/>
        </p:nvSpPr>
        <p:spPr>
          <a:xfrm>
            <a:off x="6441036" y="3849525"/>
            <a:ext cx="490593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ko-KR" altLang="en-US" sz="3000" dirty="0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목표 및 기대효과</a:t>
            </a:r>
            <a:endParaRPr lang="en-US" sz="3000" dirty="0">
              <a:solidFill>
                <a:srgbClr val="658C6A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1C5518D3-2AC0-A822-2B80-07603B5022A3}"/>
              </a:ext>
            </a:extLst>
          </p:cNvPr>
          <p:cNvSpPr txBox="1"/>
          <p:nvPr/>
        </p:nvSpPr>
        <p:spPr>
          <a:xfrm>
            <a:off x="2428193" y="5435266"/>
            <a:ext cx="12795180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altLang="ko-KR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1. </a:t>
            </a:r>
            <a:r>
              <a:rPr lang="ko-KR" altLang="en-US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기술적 측면 </a:t>
            </a:r>
            <a:r>
              <a:rPr lang="en-US" altLang="ko-KR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: LLM, LAG </a:t>
            </a:r>
            <a:r>
              <a:rPr lang="ko-KR" altLang="en-US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기반의 실시간 정책 질의응답 기술 확보</a:t>
            </a:r>
            <a:endParaRPr lang="en-US" altLang="ko-KR" sz="24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45"/>
              </a:lnSpc>
            </a:pPr>
            <a:endParaRPr lang="en-US" altLang="ko-KR" sz="24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45"/>
              </a:lnSpc>
            </a:pPr>
            <a:r>
              <a:rPr lang="en-US" altLang="ko-KR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2.</a:t>
            </a:r>
            <a:r>
              <a:rPr lang="ko-KR" altLang="en-US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경제적 측면 </a:t>
            </a:r>
            <a:r>
              <a:rPr lang="en-US" altLang="ko-KR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: </a:t>
            </a:r>
            <a:r>
              <a:rPr lang="ko-KR" altLang="en-US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복지 대상자에게 필요한 지원이 정확하게 전달되어 자원 낭비 방지</a:t>
            </a:r>
            <a:endParaRPr lang="en-US" altLang="ko-KR" sz="24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45"/>
              </a:lnSpc>
            </a:pPr>
            <a:endParaRPr lang="en-US" altLang="ko-KR" sz="24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45"/>
              </a:lnSpc>
            </a:pPr>
            <a:r>
              <a:rPr lang="en-US" altLang="ko-KR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3.  </a:t>
            </a:r>
            <a:r>
              <a:rPr lang="ko-KR" altLang="en-US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사회적 측면 </a:t>
            </a:r>
            <a:r>
              <a:rPr lang="en-US" altLang="ko-KR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:</a:t>
            </a:r>
            <a:r>
              <a:rPr lang="ko-KR" altLang="en-US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국가 행정에 시민 참여 확대와 제도 개선에 기여</a:t>
            </a:r>
            <a:endParaRPr lang="en-US" altLang="ko-KR" sz="24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45"/>
              </a:lnSpc>
            </a:pPr>
            <a:r>
              <a:rPr lang="ko-KR" altLang="en-US" sz="2400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endParaRPr lang="en-US" sz="2400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  <p:extLst>
      <p:ext uri="{BB962C8B-B14F-4D97-AF65-F5344CB8AC3E}">
        <p14:creationId xmlns:p14="http://schemas.microsoft.com/office/powerpoint/2010/main" val="413667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239802" y="1410881"/>
            <a:ext cx="10653914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향후 계획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22669" y="989012"/>
            <a:ext cx="2048120" cy="179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 dirty="0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992100" y="4038379"/>
            <a:ext cx="3775779" cy="973127"/>
            <a:chOff x="0" y="0"/>
            <a:chExt cx="5034372" cy="1297502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140471"/>
              <a:ext cx="4919290" cy="1157031"/>
              <a:chOff x="0" y="0"/>
              <a:chExt cx="971712" cy="22854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71712" cy="228549"/>
              </a:xfrm>
              <a:custGeom>
                <a:avLst/>
                <a:gdLst/>
                <a:ahLst/>
                <a:cxnLst/>
                <a:rect l="l" t="t" r="r" b="b"/>
                <a:pathLst>
                  <a:path w="971712" h="228549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15082" y="0"/>
              <a:ext cx="4919290" cy="1157031"/>
              <a:chOff x="0" y="0"/>
              <a:chExt cx="971712" cy="22854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971712" cy="228549"/>
              </a:xfrm>
              <a:custGeom>
                <a:avLst/>
                <a:gdLst/>
                <a:ahLst/>
                <a:cxnLst/>
                <a:rect l="l" t="t" r="r" b="b"/>
                <a:pathLst>
                  <a:path w="971712" h="228549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B1CCB4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3015536" y="7292705"/>
            <a:ext cx="3775779" cy="973127"/>
            <a:chOff x="0" y="0"/>
            <a:chExt cx="5034372" cy="1297502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140471"/>
              <a:ext cx="4919290" cy="1157031"/>
              <a:chOff x="0" y="0"/>
              <a:chExt cx="971712" cy="22854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971712" cy="228549"/>
              </a:xfrm>
              <a:custGeom>
                <a:avLst/>
                <a:gdLst/>
                <a:ahLst/>
                <a:cxnLst/>
                <a:rect l="l" t="t" r="r" b="b"/>
                <a:pathLst>
                  <a:path w="971712" h="228549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15082" y="0"/>
              <a:ext cx="4919290" cy="1157031"/>
              <a:chOff x="0" y="0"/>
              <a:chExt cx="971712" cy="22854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71712" cy="228549"/>
              </a:xfrm>
              <a:custGeom>
                <a:avLst/>
                <a:gdLst/>
                <a:ahLst/>
                <a:cxnLst/>
                <a:rect l="l" t="t" r="r" b="b"/>
                <a:pathLst>
                  <a:path w="971712" h="228549">
                    <a:moveTo>
                      <a:pt x="16787" y="0"/>
                    </a:moveTo>
                    <a:lnTo>
                      <a:pt x="954925" y="0"/>
                    </a:lnTo>
                    <a:cubicBezTo>
                      <a:pt x="964196" y="0"/>
                      <a:pt x="971712" y="7516"/>
                      <a:pt x="971712" y="16787"/>
                    </a:cubicBezTo>
                    <a:lnTo>
                      <a:pt x="971712" y="211762"/>
                    </a:lnTo>
                    <a:cubicBezTo>
                      <a:pt x="971712" y="216215"/>
                      <a:pt x="969943" y="220484"/>
                      <a:pt x="966795" y="223633"/>
                    </a:cubicBezTo>
                    <a:cubicBezTo>
                      <a:pt x="963647" y="226781"/>
                      <a:pt x="959377" y="228549"/>
                      <a:pt x="954925" y="228549"/>
                    </a:cubicBezTo>
                    <a:lnTo>
                      <a:pt x="16787" y="228549"/>
                    </a:lnTo>
                    <a:cubicBezTo>
                      <a:pt x="7516" y="228549"/>
                      <a:pt x="0" y="221034"/>
                      <a:pt x="0" y="211762"/>
                    </a:cubicBezTo>
                    <a:lnTo>
                      <a:pt x="0" y="16787"/>
                    </a:lnTo>
                    <a:cubicBezTo>
                      <a:pt x="0" y="7516"/>
                      <a:pt x="7516" y="0"/>
                      <a:pt x="16787" y="0"/>
                    </a:cubicBezTo>
                    <a:close/>
                  </a:path>
                </a:pathLst>
              </a:custGeom>
              <a:solidFill>
                <a:srgbClr val="658C6A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971712" cy="2761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2992100" y="5710556"/>
            <a:ext cx="3689468" cy="867774"/>
            <a:chOff x="0" y="0"/>
            <a:chExt cx="971712" cy="22854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1712" cy="228549"/>
            </a:xfrm>
            <a:custGeom>
              <a:avLst/>
              <a:gdLst/>
              <a:ahLst/>
              <a:cxnLst/>
              <a:rect l="l" t="t" r="r" b="b"/>
              <a:pathLst>
                <a:path w="971712" h="228549">
                  <a:moveTo>
                    <a:pt x="16787" y="0"/>
                  </a:moveTo>
                  <a:lnTo>
                    <a:pt x="954925" y="0"/>
                  </a:lnTo>
                  <a:cubicBezTo>
                    <a:pt x="964196" y="0"/>
                    <a:pt x="971712" y="7516"/>
                    <a:pt x="971712" y="16787"/>
                  </a:cubicBezTo>
                  <a:lnTo>
                    <a:pt x="971712" y="211762"/>
                  </a:lnTo>
                  <a:cubicBezTo>
                    <a:pt x="971712" y="216215"/>
                    <a:pt x="969943" y="220484"/>
                    <a:pt x="966795" y="223633"/>
                  </a:cubicBezTo>
                  <a:cubicBezTo>
                    <a:pt x="963647" y="226781"/>
                    <a:pt x="959377" y="228549"/>
                    <a:pt x="954925" y="228549"/>
                  </a:cubicBezTo>
                  <a:lnTo>
                    <a:pt x="16787" y="228549"/>
                  </a:lnTo>
                  <a:cubicBezTo>
                    <a:pt x="7516" y="228549"/>
                    <a:pt x="0" y="221034"/>
                    <a:pt x="0" y="211762"/>
                  </a:cubicBezTo>
                  <a:lnTo>
                    <a:pt x="0" y="16787"/>
                  </a:lnTo>
                  <a:cubicBezTo>
                    <a:pt x="0" y="7516"/>
                    <a:pt x="7516" y="0"/>
                    <a:pt x="167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71712" cy="276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078411" y="5605203"/>
            <a:ext cx="3689468" cy="867774"/>
            <a:chOff x="0" y="0"/>
            <a:chExt cx="971712" cy="22854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71712" cy="228549"/>
            </a:xfrm>
            <a:custGeom>
              <a:avLst/>
              <a:gdLst/>
              <a:ahLst/>
              <a:cxnLst/>
              <a:rect l="l" t="t" r="r" b="b"/>
              <a:pathLst>
                <a:path w="971712" h="228549">
                  <a:moveTo>
                    <a:pt x="16787" y="0"/>
                  </a:moveTo>
                  <a:lnTo>
                    <a:pt x="954925" y="0"/>
                  </a:lnTo>
                  <a:cubicBezTo>
                    <a:pt x="964196" y="0"/>
                    <a:pt x="971712" y="7516"/>
                    <a:pt x="971712" y="16787"/>
                  </a:cubicBezTo>
                  <a:lnTo>
                    <a:pt x="971712" y="211762"/>
                  </a:lnTo>
                  <a:cubicBezTo>
                    <a:pt x="971712" y="216215"/>
                    <a:pt x="969943" y="220484"/>
                    <a:pt x="966795" y="223633"/>
                  </a:cubicBezTo>
                  <a:cubicBezTo>
                    <a:pt x="963647" y="226781"/>
                    <a:pt x="959377" y="228549"/>
                    <a:pt x="954925" y="228549"/>
                  </a:cubicBezTo>
                  <a:lnTo>
                    <a:pt x="16787" y="228549"/>
                  </a:lnTo>
                  <a:cubicBezTo>
                    <a:pt x="7516" y="228549"/>
                    <a:pt x="0" y="221034"/>
                    <a:pt x="0" y="211762"/>
                  </a:cubicBezTo>
                  <a:lnTo>
                    <a:pt x="0" y="16787"/>
                  </a:lnTo>
                  <a:cubicBezTo>
                    <a:pt x="0" y="7516"/>
                    <a:pt x="7516" y="0"/>
                    <a:pt x="16787" y="0"/>
                  </a:cubicBezTo>
                  <a:close/>
                </a:path>
              </a:pathLst>
            </a:custGeom>
            <a:solidFill>
              <a:srgbClr val="85B38B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71712" cy="276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7134037" y="4162357"/>
            <a:ext cx="868780" cy="725170"/>
          </a:xfrm>
          <a:custGeom>
            <a:avLst/>
            <a:gdLst/>
            <a:ahLst/>
            <a:cxnLst/>
            <a:rect l="l" t="t" r="r" b="b"/>
            <a:pathLst>
              <a:path w="868780" h="725170">
                <a:moveTo>
                  <a:pt x="0" y="0"/>
                </a:moveTo>
                <a:lnTo>
                  <a:pt x="868780" y="0"/>
                </a:lnTo>
                <a:lnTo>
                  <a:pt x="868780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2" name="Freeform 42"/>
          <p:cNvSpPr/>
          <p:nvPr/>
        </p:nvSpPr>
        <p:spPr>
          <a:xfrm>
            <a:off x="7217330" y="5677067"/>
            <a:ext cx="731399" cy="842617"/>
          </a:xfrm>
          <a:custGeom>
            <a:avLst/>
            <a:gdLst/>
            <a:ahLst/>
            <a:cxnLst/>
            <a:rect l="l" t="t" r="r" b="b"/>
            <a:pathLst>
              <a:path w="731399" h="842617">
                <a:moveTo>
                  <a:pt x="0" y="0"/>
                </a:moveTo>
                <a:lnTo>
                  <a:pt x="731398" y="0"/>
                </a:lnTo>
                <a:lnTo>
                  <a:pt x="731398" y="842617"/>
                </a:lnTo>
                <a:lnTo>
                  <a:pt x="0" y="842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3351588" y="4185470"/>
            <a:ext cx="31643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ko-KR" altLang="en-US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앱 배포</a:t>
            </a:r>
            <a:endParaRPr lang="en-US" sz="2800" dirty="0">
              <a:solidFill>
                <a:srgbClr val="FFFFFF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241841" y="5769850"/>
            <a:ext cx="343972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altLang="ko-KR" sz="2800" dirty="0" err="1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정기</a:t>
            </a:r>
            <a:r>
              <a:rPr lang="en-US" altLang="ko-KR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</a:t>
            </a:r>
            <a:r>
              <a:rPr lang="en-US" altLang="ko-KR" sz="2800" dirty="0" err="1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리뷰</a:t>
            </a:r>
            <a:endParaRPr lang="en-US" altLang="ko-KR" sz="2800" dirty="0">
              <a:solidFill>
                <a:srgbClr val="FFFFFF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813972" y="4114732"/>
            <a:ext cx="6232543" cy="77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ko-KR" altLang="en-US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프로젝트를 통해 만든 앱을 스토어를 통해 실제  사용할 수 있게 배포</a:t>
            </a:r>
            <a:endParaRPr lang="en-US" sz="2199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790536" y="5688088"/>
            <a:ext cx="6505364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프로젝트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종료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후에도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정기적인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리뷰를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통해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사용자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만족도를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평가</a:t>
            </a:r>
            <a:endParaRPr lang="en-US" altLang="ko-KR" sz="2199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790536" y="7316547"/>
            <a:ext cx="6232543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사용자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피드백을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반영하여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서비스를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지속적으로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개선하고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필요시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기능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추가를</a:t>
            </a:r>
            <a:r>
              <a:rPr lang="en-US" altLang="ko-KR" sz="2199" dirty="0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199" dirty="0" err="1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고려</a:t>
            </a:r>
            <a:endParaRPr lang="en-US" altLang="ko-KR" sz="2199" dirty="0">
              <a:solidFill>
                <a:srgbClr val="485849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grpSp>
        <p:nvGrpSpPr>
          <p:cNvPr id="49" name="Group 49"/>
          <p:cNvGrpSpPr/>
          <p:nvPr/>
        </p:nvGrpSpPr>
        <p:grpSpPr>
          <a:xfrm>
            <a:off x="7217330" y="7397221"/>
            <a:ext cx="791408" cy="692122"/>
            <a:chOff x="0" y="0"/>
            <a:chExt cx="1055210" cy="92282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55210" cy="922829"/>
            </a:xfrm>
            <a:custGeom>
              <a:avLst/>
              <a:gdLst/>
              <a:ahLst/>
              <a:cxnLst/>
              <a:rect l="l" t="t" r="r" b="b"/>
              <a:pathLst>
                <a:path w="1055210" h="922829">
                  <a:moveTo>
                    <a:pt x="0" y="0"/>
                  </a:moveTo>
                  <a:lnTo>
                    <a:pt x="1055210" y="0"/>
                  </a:lnTo>
                  <a:lnTo>
                    <a:pt x="1055210" y="922829"/>
                  </a:lnTo>
                  <a:lnTo>
                    <a:pt x="0" y="9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0"/>
              <a:ext cx="1055210" cy="922829"/>
            </a:xfrm>
            <a:custGeom>
              <a:avLst/>
              <a:gdLst/>
              <a:ahLst/>
              <a:cxnLst/>
              <a:rect l="l" t="t" r="r" b="b"/>
              <a:pathLst>
                <a:path w="1055210" h="922829">
                  <a:moveTo>
                    <a:pt x="0" y="0"/>
                  </a:moveTo>
                  <a:lnTo>
                    <a:pt x="1055210" y="0"/>
                  </a:lnTo>
                  <a:lnTo>
                    <a:pt x="1055210" y="922829"/>
                  </a:lnTo>
                  <a:lnTo>
                    <a:pt x="0" y="9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4" name="TextBox 44">
            <a:extLst>
              <a:ext uri="{FF2B5EF4-FFF2-40B4-BE49-F238E27FC236}">
                <a16:creationId xmlns:a16="http://schemas.microsoft.com/office/drawing/2014/main" id="{814F1C94-5F55-E4F6-E56A-46F897129CA1}"/>
              </a:ext>
            </a:extLst>
          </p:cNvPr>
          <p:cNvSpPr txBox="1"/>
          <p:nvPr/>
        </p:nvSpPr>
        <p:spPr>
          <a:xfrm>
            <a:off x="3241841" y="7478441"/>
            <a:ext cx="343972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 err="1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업데이트</a:t>
            </a:r>
            <a:r>
              <a:rPr lang="en-US" sz="2800" dirty="0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 및 </a:t>
            </a:r>
            <a:r>
              <a:rPr lang="en-US" sz="2800" dirty="0" err="1">
                <a:solidFill>
                  <a:srgbClr val="FFFFFF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개선</a:t>
            </a:r>
            <a:endParaRPr lang="en-US" sz="2800" dirty="0">
              <a:solidFill>
                <a:srgbClr val="FFFFFF"/>
              </a:solidFill>
              <a:latin typeface="Tlab 레트로라이프"/>
              <a:ea typeface="Tlab 레트로라이프"/>
              <a:cs typeface="Tlab 레트로라이프"/>
              <a:sym typeface="Tlab 레트로라이프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239802" y="1410881"/>
            <a:ext cx="10653914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질문과 답변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22669" y="989012"/>
            <a:ext cx="2048120" cy="179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91"/>
              </a:lnSpc>
            </a:pPr>
            <a:r>
              <a:rPr lang="en-US" sz="10350" b="1" dirty="0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06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373184" y="4834443"/>
            <a:ext cx="5541633" cy="1678286"/>
            <a:chOff x="0" y="0"/>
            <a:chExt cx="7388844" cy="22377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66813" cy="2237714"/>
            </a:xfrm>
            <a:custGeom>
              <a:avLst/>
              <a:gdLst/>
              <a:ahLst/>
              <a:cxnLst/>
              <a:rect l="l" t="t" r="r" b="b"/>
              <a:pathLst>
                <a:path w="2366813" h="2237714">
                  <a:moveTo>
                    <a:pt x="0" y="0"/>
                  </a:moveTo>
                  <a:lnTo>
                    <a:pt x="2366813" y="0"/>
                  </a:lnTo>
                  <a:lnTo>
                    <a:pt x="2366813" y="2237714"/>
                  </a:lnTo>
                  <a:lnTo>
                    <a:pt x="0" y="2237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907508" y="0"/>
              <a:ext cx="2481336" cy="2237714"/>
            </a:xfrm>
            <a:custGeom>
              <a:avLst/>
              <a:gdLst/>
              <a:ahLst/>
              <a:cxnLst/>
              <a:rect l="l" t="t" r="r" b="b"/>
              <a:pathLst>
                <a:path w="2481336" h="2237714">
                  <a:moveTo>
                    <a:pt x="0" y="0"/>
                  </a:moveTo>
                  <a:lnTo>
                    <a:pt x="2481336" y="0"/>
                  </a:lnTo>
                  <a:lnTo>
                    <a:pt x="2481336" y="2237714"/>
                  </a:lnTo>
                  <a:lnTo>
                    <a:pt x="0" y="2237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57717" y="105251"/>
              <a:ext cx="1883324" cy="21324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31"/>
                </a:lnSpc>
              </a:pPr>
              <a:r>
                <a:rPr lang="en-US" sz="9522">
                  <a:solidFill>
                    <a:srgbClr val="485849">
                      <a:alpha val="73725"/>
                    </a:srgbClr>
                  </a:solidFill>
                  <a:latin typeface="TDTD한강고딕"/>
                  <a:ea typeface="TDTD한강고딕"/>
                  <a:cs typeface="TDTD한강고딕"/>
                  <a:sym typeface="TDTD한강고딕"/>
                </a:rPr>
                <a:t>&amp;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5555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88391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812271" y="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95555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388391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812271" y="6958390"/>
              <a:ext cx="6982743" cy="6982743"/>
            </a:xfrm>
            <a:custGeom>
              <a:avLst/>
              <a:gdLst/>
              <a:ahLst/>
              <a:cxnLst/>
              <a:rect l="l" t="t" r="r" b="b"/>
              <a:pathLst>
                <a:path w="6982743" h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5720211" y="231437"/>
            <a:ext cx="1136863" cy="1168738"/>
          </a:xfrm>
          <a:custGeom>
            <a:avLst/>
            <a:gdLst/>
            <a:ahLst/>
            <a:cxnLst/>
            <a:rect l="l" t="t" r="r" b="b"/>
            <a:pathLst>
              <a:path w="1136863" h="1168738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/>
          <p:cNvSpPr/>
          <p:nvPr/>
        </p:nvSpPr>
        <p:spPr>
          <a:xfrm>
            <a:off x="7378252" y="5798541"/>
            <a:ext cx="3531496" cy="1508912"/>
          </a:xfrm>
          <a:custGeom>
            <a:avLst/>
            <a:gdLst/>
            <a:ahLst/>
            <a:cxnLst/>
            <a:rect l="l" t="t" r="r" b="b"/>
            <a:pathLst>
              <a:path w="3531496" h="1508912">
                <a:moveTo>
                  <a:pt x="0" y="0"/>
                </a:moveTo>
                <a:lnTo>
                  <a:pt x="3531496" y="0"/>
                </a:lnTo>
                <a:lnTo>
                  <a:pt x="3531496" y="1508912"/>
                </a:lnTo>
                <a:lnTo>
                  <a:pt x="0" y="1508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5673298" y="3808171"/>
            <a:ext cx="6941403" cy="1552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41"/>
              </a:lnSpc>
            </a:pPr>
            <a:r>
              <a:rPr lang="en-US" sz="9100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290</Words>
  <Application>Microsoft Office PowerPoint</Application>
  <PresentationFormat>사용자 지정</PresentationFormat>
  <Paragraphs>88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TDTD한강고딕</vt:lpstr>
      <vt:lpstr>Tlab 레트로라이프 Bold</vt:lpstr>
      <vt:lpstr>Poppins</vt:lpstr>
      <vt:lpstr>Tlab 레트로라이프</vt:lpstr>
      <vt:lpstr>Calibri</vt:lpstr>
      <vt:lpstr>TDTD순고딕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초록 베이지 깔끔한 팀 프로젝트 보고서 프레젠테이션</dc:title>
  <dc:creator>강신혁</dc:creator>
  <cp:lastModifiedBy>영훈 권</cp:lastModifiedBy>
  <cp:revision>11</cp:revision>
  <dcterms:created xsi:type="dcterms:W3CDTF">2006-08-16T00:00:00Z</dcterms:created>
  <dcterms:modified xsi:type="dcterms:W3CDTF">2025-09-30T01:16:29Z</dcterms:modified>
  <dc:identifier>DAGz3CKQaTk</dc:identifier>
</cp:coreProperties>
</file>