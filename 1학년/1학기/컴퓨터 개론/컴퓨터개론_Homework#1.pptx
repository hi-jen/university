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FEFF"/>
    <a:srgbClr val="FF8A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405"/>
  </p:normalViewPr>
  <p:slideViewPr>
    <p:cSldViewPr snapToGrid="0" snapToObjects="1" showGuides="1">
      <p:cViewPr varScale="1">
        <p:scale>
          <a:sx n="59" d="100"/>
          <a:sy n="59" d="100"/>
        </p:scale>
        <p:origin x="2578" y="8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03/19/2021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42900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03/19/2021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18422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03/19/2021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66942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03/19/2021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83575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03/19/2021</a:t>
            </a:fld>
            <a:endParaRPr kumimoji="1" lang="ko-Kore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23231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03/19/2021</a:t>
            </a:fld>
            <a:endParaRPr kumimoji="1" lang="ko-Kore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1003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03/19/2021</a:t>
            </a:fld>
            <a:endParaRPr kumimoji="1" lang="ko-Kore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7131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03/19/2021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42981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03/19/2021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3135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03/19/2021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44667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03/19/2021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52853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93533-4FA2-F14B-AEA2-5287B408F2EF}" type="datetimeFigureOut">
              <a:rPr kumimoji="1" lang="ko-Kore-KR" altLang="en-US" smtClean="0"/>
              <a:t>03/19/2021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15565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ADD0B4-9759-2A40-90CA-C0781B782D3B}"/>
              </a:ext>
            </a:extLst>
          </p:cNvPr>
          <p:cNvSpPr txBox="1"/>
          <p:nvPr/>
        </p:nvSpPr>
        <p:spPr>
          <a:xfrm>
            <a:off x="211015" y="295422"/>
            <a:ext cx="2475914" cy="3077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ko-KR" altLang="en-US" sz="1400" dirty="0">
                <a:latin typeface="+mn-ea"/>
              </a:rPr>
              <a:t>학번</a:t>
            </a:r>
            <a:r>
              <a:rPr kumimoji="1" lang="en-US" altLang="ko-KR" sz="1400" dirty="0">
                <a:latin typeface="+mn-ea"/>
              </a:rPr>
              <a:t>: 20213032</a:t>
            </a:r>
            <a:endParaRPr kumimoji="1" lang="ko-Kore-KR" altLang="en-US" sz="14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375A5A-0598-C643-A746-1B33D408F356}"/>
              </a:ext>
            </a:extLst>
          </p:cNvPr>
          <p:cNvSpPr txBox="1"/>
          <p:nvPr/>
        </p:nvSpPr>
        <p:spPr>
          <a:xfrm>
            <a:off x="2811194" y="295422"/>
            <a:ext cx="2475914" cy="3077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ko-KR" altLang="en-US" sz="1400" dirty="0">
                <a:latin typeface="+mn-ea"/>
              </a:rPr>
              <a:t>이름</a:t>
            </a:r>
            <a:r>
              <a:rPr kumimoji="1" lang="en-US" altLang="ko-KR" sz="1400" dirty="0">
                <a:latin typeface="+mn-ea"/>
              </a:rPr>
              <a:t>: </a:t>
            </a:r>
            <a:r>
              <a:rPr kumimoji="1" lang="ko-KR" altLang="en-US" sz="1400" dirty="0">
                <a:latin typeface="+mn-ea"/>
              </a:rPr>
              <a:t>권영훈 </a:t>
            </a:r>
            <a:endParaRPr kumimoji="1" lang="ko-Kore-KR" altLang="en-US" sz="1400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0F2EE9-395E-484A-B61F-3F5A3BC9AD01}"/>
              </a:ext>
            </a:extLst>
          </p:cNvPr>
          <p:cNvSpPr txBox="1"/>
          <p:nvPr/>
        </p:nvSpPr>
        <p:spPr>
          <a:xfrm>
            <a:off x="211009" y="727134"/>
            <a:ext cx="6400803" cy="418535"/>
          </a:xfrm>
          <a:prstGeom prst="rect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kumimoji="1" lang="ko-KR" altLang="en-US" b="1" dirty="0" err="1">
                <a:solidFill>
                  <a:schemeClr val="bg1"/>
                </a:solidFill>
                <a:latin typeface="+mn-ea"/>
              </a:rPr>
              <a:t>컴퓨터개론</a:t>
            </a:r>
            <a:r>
              <a:rPr kumimoji="1" lang="en-US" altLang="ko-KR" b="1" dirty="0">
                <a:solidFill>
                  <a:schemeClr val="bg1"/>
                </a:solidFill>
                <a:latin typeface="+mn-ea"/>
              </a:rPr>
              <a:t>(2021</a:t>
            </a:r>
            <a:r>
              <a:rPr kumimoji="1" lang="ko-KR" altLang="en-US" b="1" dirty="0">
                <a:solidFill>
                  <a:schemeClr val="bg1"/>
                </a:solidFill>
                <a:latin typeface="+mn-ea"/>
              </a:rPr>
              <a:t>학년도 </a:t>
            </a:r>
            <a:r>
              <a:rPr kumimoji="1" lang="en-US" altLang="ko-KR" b="1" dirty="0">
                <a:solidFill>
                  <a:schemeClr val="bg1"/>
                </a:solidFill>
                <a:latin typeface="+mn-ea"/>
              </a:rPr>
              <a:t>1</a:t>
            </a:r>
            <a:r>
              <a:rPr kumimoji="1" lang="ko-KR" altLang="en-US" b="1" dirty="0">
                <a:solidFill>
                  <a:schemeClr val="bg1"/>
                </a:solidFill>
                <a:latin typeface="+mn-ea"/>
              </a:rPr>
              <a:t>학기</a:t>
            </a:r>
            <a:r>
              <a:rPr kumimoji="1" lang="en-US" altLang="ko-KR" b="1" dirty="0">
                <a:solidFill>
                  <a:schemeClr val="bg1"/>
                </a:solidFill>
                <a:latin typeface="+mn-ea"/>
              </a:rPr>
              <a:t>)</a:t>
            </a:r>
            <a:r>
              <a:rPr kumimoji="1" lang="ko-KR" altLang="en-US" b="1" dirty="0">
                <a:solidFill>
                  <a:schemeClr val="bg1"/>
                </a:solidFill>
                <a:latin typeface="+mn-ea"/>
              </a:rPr>
              <a:t> </a:t>
            </a:r>
            <a:r>
              <a:rPr kumimoji="1" lang="en-US" altLang="ko-KR" b="1" dirty="0">
                <a:solidFill>
                  <a:schemeClr val="bg1"/>
                </a:solidFill>
                <a:latin typeface="+mn-ea"/>
              </a:rPr>
              <a:t>Homework#1</a:t>
            </a:r>
            <a:endParaRPr kumimoji="1" lang="ko-Kore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75F9D5-6837-5A45-B395-C440E680ECB4}"/>
              </a:ext>
            </a:extLst>
          </p:cNvPr>
          <p:cNvSpPr txBox="1"/>
          <p:nvPr/>
        </p:nvSpPr>
        <p:spPr>
          <a:xfrm>
            <a:off x="211011" y="1243840"/>
            <a:ext cx="6400804" cy="10336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sz="1400" dirty="0">
                <a:latin typeface="+mn-ea"/>
              </a:rPr>
              <a:t>컴퓨터의 발전으로 사회에 미칠 수 있는 여러 가지 악영향이 우려되고 있다</a:t>
            </a:r>
            <a:r>
              <a:rPr kumimoji="1" lang="en-US" altLang="ko-KR" sz="1400" dirty="0">
                <a:latin typeface="+mn-ea"/>
              </a:rPr>
              <a:t>. </a:t>
            </a:r>
            <a:r>
              <a:rPr kumimoji="1" lang="ko-KR" altLang="en-US" sz="1400" dirty="0">
                <a:latin typeface="+mn-ea"/>
              </a:rPr>
              <a:t>이러한 것들에는 어떤 것이 있는지 그리고 우리는 도래하는 정보화 사회에서 어떤 마인드</a:t>
            </a:r>
            <a:r>
              <a:rPr kumimoji="1" lang="en-US" altLang="ko-KR" sz="1400" dirty="0">
                <a:latin typeface="+mn-ea"/>
              </a:rPr>
              <a:t>(mind)</a:t>
            </a:r>
            <a:r>
              <a:rPr kumimoji="1" lang="ko-KR" altLang="en-US" sz="1400" dirty="0" err="1">
                <a:latin typeface="+mn-ea"/>
              </a:rPr>
              <a:t>를</a:t>
            </a:r>
            <a:r>
              <a:rPr kumimoji="1" lang="ko-KR" altLang="en-US" sz="1400" dirty="0">
                <a:latin typeface="+mn-ea"/>
              </a:rPr>
              <a:t> 가져야 할지를 논의하고 기술하시오</a:t>
            </a:r>
            <a:r>
              <a:rPr kumimoji="1" lang="en-US" altLang="ko-KR" sz="1400" dirty="0">
                <a:latin typeface="+mn-ea"/>
              </a:rPr>
              <a:t>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4A9B645-323B-D04C-A0CC-D1AA5285D863}"/>
              </a:ext>
            </a:extLst>
          </p:cNvPr>
          <p:cNvSpPr/>
          <p:nvPr/>
        </p:nvSpPr>
        <p:spPr>
          <a:xfrm>
            <a:off x="228598" y="9173205"/>
            <a:ext cx="6395130" cy="646331"/>
          </a:xfrm>
          <a:prstGeom prst="rect">
            <a:avLst/>
          </a:prstGeom>
          <a:ln w="57150"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kumimoji="1" lang="en-US" altLang="ko-KR" b="1" dirty="0">
                <a:solidFill>
                  <a:srgbClr val="0070C0"/>
                </a:solidFill>
                <a:latin typeface="+mn-ea"/>
              </a:rPr>
              <a:t>(</a:t>
            </a:r>
            <a:r>
              <a:rPr kumimoji="1" lang="ko-KR" altLang="en-US" b="1" dirty="0">
                <a:solidFill>
                  <a:srgbClr val="0070C0"/>
                </a:solidFill>
                <a:latin typeface="+mn-ea"/>
              </a:rPr>
              <a:t>글과 그림을 활용하여 자유롭게 작성하세요</a:t>
            </a:r>
            <a:r>
              <a:rPr kumimoji="1" lang="en-US" altLang="ko-KR" b="1" dirty="0">
                <a:solidFill>
                  <a:srgbClr val="0070C0"/>
                </a:solidFill>
                <a:latin typeface="+mn-ea"/>
              </a:rPr>
              <a:t>.</a:t>
            </a:r>
            <a:r>
              <a:rPr kumimoji="1" lang="ko-KR" altLang="en-US" b="1" dirty="0">
                <a:solidFill>
                  <a:srgbClr val="0070C0"/>
                </a:solidFill>
                <a:latin typeface="+mn-ea"/>
              </a:rPr>
              <a:t> 필요시 페이지를 추가하여 작성합니다</a:t>
            </a:r>
            <a:r>
              <a:rPr kumimoji="1" lang="en-US" altLang="ko-KR" b="1" dirty="0">
                <a:solidFill>
                  <a:srgbClr val="0070C0"/>
                </a:solidFill>
                <a:latin typeface="+mn-ea"/>
              </a:rPr>
              <a:t>.)</a:t>
            </a:r>
            <a:endParaRPr kumimoji="1" lang="ko-Kore-KR" altLang="en-US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1A633F5-8DDA-3846-8BCB-5A7F382FC62F}"/>
              </a:ext>
            </a:extLst>
          </p:cNvPr>
          <p:cNvSpPr txBox="1"/>
          <p:nvPr/>
        </p:nvSpPr>
        <p:spPr>
          <a:xfrm>
            <a:off x="204766" y="7846620"/>
            <a:ext cx="6424635" cy="12024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kumimoji="1" lang="en-US" altLang="ko-KR" sz="1400" dirty="0">
                <a:latin typeface="+mn-ea"/>
              </a:rPr>
              <a:t>1) </a:t>
            </a:r>
            <a:r>
              <a:rPr kumimoji="1" lang="ko-KR" altLang="en-US" sz="1400" dirty="0">
                <a:latin typeface="+mn-ea"/>
              </a:rPr>
              <a:t>슈퍼 하이웨이 </a:t>
            </a:r>
            <a:r>
              <a:rPr kumimoji="1" lang="en-US" altLang="ko-KR" sz="1400" dirty="0">
                <a:latin typeface="+mn-ea"/>
              </a:rPr>
              <a:t>(Super highway)</a:t>
            </a:r>
          </a:p>
          <a:p>
            <a:endParaRPr kumimoji="1" lang="en-US" altLang="ko-Kore-KR" sz="1400" dirty="0">
              <a:latin typeface="+mn-ea"/>
            </a:endParaRPr>
          </a:p>
          <a:p>
            <a:r>
              <a:rPr kumimoji="1" lang="en-US" altLang="ko-KR" sz="1400" dirty="0">
                <a:latin typeface="+mn-ea"/>
              </a:rPr>
              <a:t>2) </a:t>
            </a:r>
            <a:r>
              <a:rPr kumimoji="1" lang="ko-KR" altLang="en-US" sz="1400" dirty="0">
                <a:latin typeface="+mn-ea"/>
              </a:rPr>
              <a:t>파 </a:t>
            </a:r>
            <a:r>
              <a:rPr kumimoji="1" lang="ko-KR" altLang="en-US" sz="1400" dirty="0" err="1">
                <a:latin typeface="+mn-ea"/>
              </a:rPr>
              <a:t>밍</a:t>
            </a:r>
            <a:r>
              <a:rPr kumimoji="1" lang="ko-KR" altLang="en-US" sz="1400" dirty="0">
                <a:latin typeface="+mn-ea"/>
              </a:rPr>
              <a:t> </a:t>
            </a:r>
            <a:r>
              <a:rPr kumimoji="1" lang="en-US" altLang="ko-KR" sz="1400" dirty="0">
                <a:latin typeface="+mn-ea"/>
              </a:rPr>
              <a:t>(Pharming)</a:t>
            </a:r>
          </a:p>
          <a:p>
            <a:endParaRPr kumimoji="1" lang="en-US" altLang="ko-Kore-KR" sz="1400" dirty="0">
              <a:latin typeface="+mn-ea"/>
            </a:endParaRPr>
          </a:p>
          <a:p>
            <a:r>
              <a:rPr kumimoji="1" lang="en-US" altLang="ko-KR" sz="1400" dirty="0">
                <a:latin typeface="+mn-ea"/>
              </a:rPr>
              <a:t>3) </a:t>
            </a:r>
            <a:r>
              <a:rPr kumimoji="1" lang="ko-KR" altLang="en-US" sz="1400" dirty="0">
                <a:latin typeface="+mn-ea"/>
              </a:rPr>
              <a:t>디지털 치매현상 </a:t>
            </a:r>
            <a:r>
              <a:rPr kumimoji="1" lang="en-US" altLang="ko-KR" sz="1400" dirty="0">
                <a:latin typeface="+mn-ea"/>
              </a:rPr>
              <a:t>(Digital Dementia)</a:t>
            </a:r>
            <a:endParaRPr kumimoji="1" lang="ko-Kore-KR" altLang="en-US" sz="1400" dirty="0"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03A259-6850-2646-A193-41EA0A7AEC1E}"/>
              </a:ext>
            </a:extLst>
          </p:cNvPr>
          <p:cNvSpPr txBox="1"/>
          <p:nvPr/>
        </p:nvSpPr>
        <p:spPr>
          <a:xfrm>
            <a:off x="222925" y="5835824"/>
            <a:ext cx="6424635" cy="18605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marL="230188" indent="-230188">
              <a:buAutoNum type="arabicParenR"/>
            </a:pPr>
            <a:r>
              <a:rPr kumimoji="1" lang="en-US" altLang="ko-KR" sz="1400" dirty="0">
                <a:latin typeface="+mn-ea"/>
              </a:rPr>
              <a:t>20</a:t>
            </a:r>
            <a:r>
              <a:rPr kumimoji="1" lang="ko-KR" altLang="en-US" sz="1400" dirty="0">
                <a:latin typeface="+mn-ea"/>
              </a:rPr>
              <a:t>세기 말에 등장한 개념으로서 언제 어디서나 멀티미디어 등의 고속 정보의 통신이 가능한 인프라</a:t>
            </a:r>
            <a:r>
              <a:rPr kumimoji="1" lang="en-US" altLang="ko-KR" sz="1400" dirty="0">
                <a:latin typeface="+mn-ea"/>
              </a:rPr>
              <a:t>(Infra)</a:t>
            </a:r>
            <a:r>
              <a:rPr kumimoji="1" lang="ko-KR" altLang="en-US" sz="1400" dirty="0" err="1">
                <a:latin typeface="+mn-ea"/>
              </a:rPr>
              <a:t>를</a:t>
            </a:r>
            <a:r>
              <a:rPr kumimoji="1" lang="ko-KR" altLang="en-US" sz="1400" dirty="0">
                <a:latin typeface="+mn-ea"/>
              </a:rPr>
              <a:t> 의미하는 단어는 무엇인가</a:t>
            </a:r>
            <a:r>
              <a:rPr kumimoji="1" lang="en-US" altLang="ko-KR" sz="1400" dirty="0">
                <a:latin typeface="+mn-ea"/>
              </a:rPr>
              <a:t>?</a:t>
            </a:r>
          </a:p>
          <a:p>
            <a:pPr marL="230188" indent="-230188">
              <a:buAutoNum type="arabicParenR"/>
            </a:pPr>
            <a:r>
              <a:rPr kumimoji="1" lang="ko-KR" altLang="en-US" sz="1400" dirty="0">
                <a:latin typeface="+mn-ea"/>
              </a:rPr>
              <a:t>합법적인 도메인을 탈취하거나 도메인 네임 서버의 주소를 변조함으로써 사용자가 진짜 사이트 주소를 입력해도 가짜 사이트로 접속하도록 유도한 뒤에 개인정보를 훔치는 사기 수법은</a:t>
            </a:r>
            <a:r>
              <a:rPr kumimoji="1" lang="en-US" altLang="ko-KR" sz="1400" dirty="0">
                <a:latin typeface="+mn-ea"/>
              </a:rPr>
              <a:t>?</a:t>
            </a:r>
            <a:endParaRPr kumimoji="1" lang="ko-KR" altLang="en-US" sz="1400" dirty="0">
              <a:latin typeface="+mn-ea"/>
            </a:endParaRPr>
          </a:p>
          <a:p>
            <a:pPr marL="230188" indent="-230188">
              <a:buAutoNum type="arabicParenR"/>
            </a:pPr>
            <a:r>
              <a:rPr kumimoji="1" lang="ko-KR" altLang="en-US" sz="1400" dirty="0">
                <a:latin typeface="+mn-ea"/>
              </a:rPr>
              <a:t>전화번호를 기억하는 대신 스마트폰에 저장하고</a:t>
            </a:r>
            <a:r>
              <a:rPr kumimoji="1" lang="en-US" altLang="ko-KR" sz="1400" dirty="0">
                <a:latin typeface="+mn-ea"/>
              </a:rPr>
              <a:t>, </a:t>
            </a:r>
            <a:r>
              <a:rPr kumimoji="1" lang="ko-KR" altLang="en-US" sz="1400" dirty="0">
                <a:latin typeface="+mn-ea"/>
              </a:rPr>
              <a:t>길 찾기는 내비게이션에 맡기다 보니 기억력이 감퇴하는 현상은 무엇인가</a:t>
            </a:r>
            <a:r>
              <a:rPr kumimoji="1" lang="en-US" altLang="ko-KR" sz="1400" dirty="0">
                <a:latin typeface="+mn-ea"/>
              </a:rPr>
              <a:t>? </a:t>
            </a:r>
            <a:endParaRPr kumimoji="1" lang="ko-Kore-KR" altLang="en-US" sz="1400" dirty="0">
              <a:latin typeface="+mn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8D1148-B17E-804F-AF6A-14511DAAE1CB}"/>
              </a:ext>
            </a:extLst>
          </p:cNvPr>
          <p:cNvSpPr txBox="1"/>
          <p:nvPr/>
        </p:nvSpPr>
        <p:spPr>
          <a:xfrm>
            <a:off x="228598" y="2406268"/>
            <a:ext cx="6424635" cy="327927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sz="1400" dirty="0">
                <a:latin typeface="+mn-ea"/>
              </a:rPr>
              <a:t>일단 개인정보 유출</a:t>
            </a:r>
            <a:r>
              <a:rPr kumimoji="1" lang="en-US" altLang="ko-KR" sz="1400" dirty="0">
                <a:latin typeface="+mn-ea"/>
              </a:rPr>
              <a:t>, </a:t>
            </a:r>
            <a:r>
              <a:rPr kumimoji="1" lang="ko-KR" altLang="en-US" sz="1400" dirty="0">
                <a:latin typeface="+mn-ea"/>
              </a:rPr>
              <a:t>해킹과</a:t>
            </a:r>
            <a:r>
              <a:rPr kumimoji="1" lang="en-US" altLang="ko-KR" sz="1400" dirty="0">
                <a:latin typeface="+mn-ea"/>
              </a:rPr>
              <a:t> </a:t>
            </a:r>
            <a:r>
              <a:rPr kumimoji="1" lang="ko-KR" altLang="en-US" sz="1400" dirty="0">
                <a:latin typeface="+mn-ea"/>
              </a:rPr>
              <a:t>익명성을 이용한 사이버 폭력 및 사기와 </a:t>
            </a:r>
            <a:endParaRPr kumimoji="1" lang="en-US" altLang="ko-KR" sz="1400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sz="1400" dirty="0">
                <a:latin typeface="+mn-ea"/>
              </a:rPr>
              <a:t>같은 범죄행위</a:t>
            </a:r>
            <a:r>
              <a:rPr kumimoji="1" lang="en-US" altLang="ko-KR" sz="1400" dirty="0">
                <a:latin typeface="+mn-ea"/>
              </a:rPr>
              <a:t>, </a:t>
            </a:r>
            <a:r>
              <a:rPr kumimoji="1" lang="ko-KR" altLang="en-US" sz="1400" dirty="0">
                <a:latin typeface="+mn-ea"/>
              </a:rPr>
              <a:t>남의 소유물 불법 복제 및 저작권 침해행위 등등</a:t>
            </a:r>
            <a:r>
              <a:rPr kumimoji="1" lang="en-US" altLang="ko-KR" sz="1400" dirty="0">
                <a:latin typeface="+mn-ea"/>
              </a:rPr>
              <a:t> </a:t>
            </a:r>
            <a:r>
              <a:rPr kumimoji="1" lang="ko-KR" altLang="en-US" sz="1400" dirty="0">
                <a:latin typeface="+mn-ea"/>
              </a:rPr>
              <a:t>다양한 악영향들이 있다</a:t>
            </a:r>
            <a:r>
              <a:rPr kumimoji="1" lang="en-US" altLang="ko-KR" sz="1400" dirty="0">
                <a:latin typeface="+mn-ea"/>
              </a:rPr>
              <a:t>.</a:t>
            </a:r>
          </a:p>
          <a:p>
            <a:endParaRPr kumimoji="1" lang="en-US" altLang="ko-KR" sz="1400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sz="1400" dirty="0">
                <a:latin typeface="+mn-ea"/>
              </a:rPr>
              <a:t>이런 문제를 해결하기 위해 우리는 사이버 범죄의 형량을 높이고 재범을 막기 위한 정책을 세워야 한다</a:t>
            </a:r>
            <a:r>
              <a:rPr kumimoji="1" lang="en-US" altLang="ko-KR" sz="1400" dirty="0">
                <a:latin typeface="+mn-ea"/>
              </a:rPr>
              <a:t>.</a:t>
            </a:r>
          </a:p>
          <a:p>
            <a:endParaRPr kumimoji="1" lang="en-US" altLang="ko-KR" sz="1400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sz="1400" dirty="0">
                <a:latin typeface="+mn-ea"/>
              </a:rPr>
              <a:t>그럼으로 우리들은 현재 진행중인 정보화 사회에서 자신의 신변을 보호 받고 범죄 행위를 저지르지 않게 노력하여야 하며 다른 이의 저작권을 침해하지 말아야 한다</a:t>
            </a:r>
            <a:r>
              <a:rPr kumimoji="1" lang="en-US" altLang="ko-KR" sz="1400" dirty="0">
                <a:latin typeface="+mn-ea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35071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90</TotalTime>
  <Words>210</Words>
  <Application>Microsoft Office PowerPoint</Application>
  <PresentationFormat>A4 용지(210x297mm)</PresentationFormat>
  <Paragraphs>19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Nam Gyu</dc:creator>
  <cp:lastModifiedBy>권 영훈</cp:lastModifiedBy>
  <cp:revision>15</cp:revision>
  <dcterms:created xsi:type="dcterms:W3CDTF">2020-12-27T02:05:04Z</dcterms:created>
  <dcterms:modified xsi:type="dcterms:W3CDTF">2021-03-19T09:56:37Z</dcterms:modified>
</cp:coreProperties>
</file>