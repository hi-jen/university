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FEFF"/>
    <a:srgbClr val="FF8A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405"/>
  </p:normalViewPr>
  <p:slideViewPr>
    <p:cSldViewPr snapToGrid="0" snapToObjects="1" showGuides="1">
      <p:cViewPr varScale="1">
        <p:scale>
          <a:sx n="59" d="100"/>
          <a:sy n="59" d="100"/>
        </p:scale>
        <p:origin x="629" y="8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04/02/2021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42900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04/02/2021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118422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04/02/2021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66942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04/02/2021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83575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04/02/2021</a:t>
            </a:fld>
            <a:endParaRPr kumimoji="1" lang="ko-Kore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23231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04/02/2021</a:t>
            </a:fld>
            <a:endParaRPr kumimoji="1" lang="ko-Kore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1003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04/02/2021</a:t>
            </a:fld>
            <a:endParaRPr kumimoji="1" lang="ko-Kore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71314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04/02/2021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42981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04/02/2021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31359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04/02/2021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44667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04/02/2021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52853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93533-4FA2-F14B-AEA2-5287B408F2EF}" type="datetimeFigureOut">
              <a:rPr kumimoji="1" lang="ko-Kore-KR" altLang="en-US" smtClean="0"/>
              <a:t>04/02/2021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15565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ADD0B4-9759-2A40-90CA-C0781B782D3B}"/>
              </a:ext>
            </a:extLst>
          </p:cNvPr>
          <p:cNvSpPr txBox="1"/>
          <p:nvPr/>
        </p:nvSpPr>
        <p:spPr>
          <a:xfrm>
            <a:off x="211015" y="295422"/>
            <a:ext cx="2475914" cy="3077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ko-KR" altLang="en-US" sz="1400" dirty="0">
                <a:latin typeface="+mn-ea"/>
              </a:rPr>
              <a:t>학번</a:t>
            </a:r>
            <a:r>
              <a:rPr kumimoji="1" lang="en-US" altLang="ko-KR" sz="1400" dirty="0">
                <a:latin typeface="+mn-ea"/>
              </a:rPr>
              <a:t>: 20213032</a:t>
            </a:r>
            <a:endParaRPr kumimoji="1" lang="ko-Kore-KR" altLang="en-US" sz="14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375A5A-0598-C643-A746-1B33D408F356}"/>
              </a:ext>
            </a:extLst>
          </p:cNvPr>
          <p:cNvSpPr txBox="1"/>
          <p:nvPr/>
        </p:nvSpPr>
        <p:spPr>
          <a:xfrm>
            <a:off x="2811194" y="295422"/>
            <a:ext cx="2475914" cy="3077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ko-KR" altLang="en-US" sz="1400" dirty="0">
                <a:latin typeface="+mn-ea"/>
              </a:rPr>
              <a:t>이름</a:t>
            </a:r>
            <a:r>
              <a:rPr kumimoji="1" lang="en-US" altLang="ko-KR" sz="1400" dirty="0">
                <a:latin typeface="+mn-ea"/>
              </a:rPr>
              <a:t>: </a:t>
            </a:r>
            <a:r>
              <a:rPr kumimoji="1" lang="ko-KR" altLang="en-US" sz="1400" dirty="0">
                <a:latin typeface="+mn-ea"/>
              </a:rPr>
              <a:t>권영훈</a:t>
            </a:r>
            <a:endParaRPr kumimoji="1" lang="ko-Kore-KR" altLang="en-US" sz="1400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0F2EE9-395E-484A-B61F-3F5A3BC9AD01}"/>
              </a:ext>
            </a:extLst>
          </p:cNvPr>
          <p:cNvSpPr txBox="1"/>
          <p:nvPr/>
        </p:nvSpPr>
        <p:spPr>
          <a:xfrm>
            <a:off x="211009" y="727134"/>
            <a:ext cx="6400803" cy="418535"/>
          </a:xfrm>
          <a:prstGeom prst="rect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kumimoji="1" lang="ko-KR" altLang="en-US" b="1" dirty="0" err="1">
                <a:solidFill>
                  <a:schemeClr val="bg1"/>
                </a:solidFill>
                <a:latin typeface="+mn-ea"/>
              </a:rPr>
              <a:t>컴퓨터개론</a:t>
            </a:r>
            <a:r>
              <a:rPr kumimoji="1" lang="en-US" altLang="ko-KR" b="1" dirty="0">
                <a:solidFill>
                  <a:schemeClr val="bg1"/>
                </a:solidFill>
                <a:latin typeface="+mn-ea"/>
              </a:rPr>
              <a:t>(2021</a:t>
            </a:r>
            <a:r>
              <a:rPr kumimoji="1" lang="ko-KR" altLang="en-US" b="1" dirty="0">
                <a:solidFill>
                  <a:schemeClr val="bg1"/>
                </a:solidFill>
                <a:latin typeface="+mn-ea"/>
              </a:rPr>
              <a:t>학년도 </a:t>
            </a:r>
            <a:r>
              <a:rPr kumimoji="1" lang="en-US" altLang="ko-KR" b="1" dirty="0">
                <a:solidFill>
                  <a:schemeClr val="bg1"/>
                </a:solidFill>
                <a:latin typeface="+mn-ea"/>
              </a:rPr>
              <a:t>1</a:t>
            </a:r>
            <a:r>
              <a:rPr kumimoji="1" lang="ko-KR" altLang="en-US" b="1" dirty="0">
                <a:solidFill>
                  <a:schemeClr val="bg1"/>
                </a:solidFill>
                <a:latin typeface="+mn-ea"/>
              </a:rPr>
              <a:t>학기</a:t>
            </a:r>
            <a:r>
              <a:rPr kumimoji="1" lang="en-US" altLang="ko-KR" b="1" dirty="0">
                <a:solidFill>
                  <a:schemeClr val="bg1"/>
                </a:solidFill>
                <a:latin typeface="+mn-ea"/>
              </a:rPr>
              <a:t>)</a:t>
            </a:r>
            <a:r>
              <a:rPr kumimoji="1" lang="ko-KR" altLang="en-US" b="1" dirty="0">
                <a:solidFill>
                  <a:schemeClr val="bg1"/>
                </a:solidFill>
                <a:latin typeface="+mn-ea"/>
              </a:rPr>
              <a:t> </a:t>
            </a:r>
            <a:r>
              <a:rPr kumimoji="1" lang="en-US" altLang="ko-KR" b="1" dirty="0">
                <a:solidFill>
                  <a:schemeClr val="bg1"/>
                </a:solidFill>
                <a:latin typeface="+mn-ea"/>
              </a:rPr>
              <a:t>Homework#3</a:t>
            </a:r>
            <a:endParaRPr kumimoji="1" lang="ko-Kore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75F9D5-6837-5A45-B395-C440E680ECB4}"/>
              </a:ext>
            </a:extLst>
          </p:cNvPr>
          <p:cNvSpPr txBox="1"/>
          <p:nvPr/>
        </p:nvSpPr>
        <p:spPr>
          <a:xfrm>
            <a:off x="211011" y="1243840"/>
            <a:ext cx="6400804" cy="7591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kumimoji="1" lang="ko-KR" altLang="en-US" sz="1600" dirty="0">
                <a:latin typeface="+mn-ea"/>
              </a:rPr>
              <a:t>중앙</a:t>
            </a:r>
            <a:r>
              <a:rPr kumimoji="1" lang="en-US" altLang="ko-KR" sz="1600" dirty="0">
                <a:latin typeface="+mn-ea"/>
              </a:rPr>
              <a:t> </a:t>
            </a:r>
            <a:r>
              <a:rPr kumimoji="1" lang="ko-KR" altLang="en-US" sz="1600" dirty="0">
                <a:latin typeface="+mn-ea"/>
              </a:rPr>
              <a:t>처리 장치와 캐쉬 기억 장치 사이의 관계를 설명하시오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1A633F5-8DDA-3846-8BCB-5A7F382FC62F}"/>
              </a:ext>
            </a:extLst>
          </p:cNvPr>
          <p:cNvSpPr txBox="1"/>
          <p:nvPr/>
        </p:nvSpPr>
        <p:spPr>
          <a:xfrm>
            <a:off x="229167" y="7910285"/>
            <a:ext cx="6442224" cy="1768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kumimoji="1" lang="en-US" altLang="ko-KR" sz="1400" dirty="0">
                <a:latin typeface="+mn-ea"/>
              </a:rPr>
              <a:t>1) SSD(</a:t>
            </a:r>
            <a:r>
              <a:rPr kumimoji="1" lang="en-US" altLang="ko-KR" sz="1400" dirty="0" err="1">
                <a:latin typeface="+mn-ea"/>
              </a:rPr>
              <a:t>Soild</a:t>
            </a:r>
            <a:r>
              <a:rPr kumimoji="1" lang="en-US" altLang="ko-KR" sz="1400" dirty="0">
                <a:latin typeface="+mn-ea"/>
              </a:rPr>
              <a:t> State Drive)</a:t>
            </a:r>
          </a:p>
          <a:p>
            <a:endParaRPr kumimoji="1" lang="en-US" altLang="ko-Kore-KR" sz="1400" dirty="0">
              <a:latin typeface="+mn-ea"/>
            </a:endParaRPr>
          </a:p>
          <a:p>
            <a:r>
              <a:rPr kumimoji="1" lang="en-US" altLang="ko-KR" sz="1400" dirty="0">
                <a:latin typeface="+mn-ea"/>
              </a:rPr>
              <a:t>2) Bus </a:t>
            </a:r>
          </a:p>
          <a:p>
            <a:endParaRPr kumimoji="1" lang="en-US" altLang="ko-Kore-KR" sz="1400" dirty="0">
              <a:latin typeface="+mn-ea"/>
            </a:endParaRPr>
          </a:p>
          <a:p>
            <a:r>
              <a:rPr kumimoji="1" lang="en-US" altLang="ko-KR" sz="1400" dirty="0">
                <a:latin typeface="+mn-ea"/>
              </a:rPr>
              <a:t>3) </a:t>
            </a:r>
            <a:r>
              <a:rPr kumimoji="1" lang="ko-KR" altLang="en-US" sz="1400" dirty="0">
                <a:latin typeface="+mn-ea"/>
              </a:rPr>
              <a:t>광학 문자 판독기</a:t>
            </a:r>
            <a:endParaRPr kumimoji="1" lang="en-US" altLang="ko-KR" sz="1400" dirty="0">
              <a:latin typeface="+mn-ea"/>
            </a:endParaRPr>
          </a:p>
          <a:p>
            <a:endParaRPr kumimoji="1" lang="en-US" altLang="ko-Kore-KR" sz="1400" dirty="0">
              <a:latin typeface="+mn-ea"/>
            </a:endParaRPr>
          </a:p>
          <a:p>
            <a:r>
              <a:rPr kumimoji="1" lang="en-US" altLang="ko-KR" sz="1400" dirty="0">
                <a:latin typeface="+mn-ea"/>
              </a:rPr>
              <a:t>4) </a:t>
            </a:r>
            <a:r>
              <a:rPr kumimoji="1" lang="ko-KR" altLang="en-US" sz="1400" dirty="0">
                <a:latin typeface="+mn-ea"/>
              </a:rPr>
              <a:t>펌웨어</a:t>
            </a:r>
            <a:endParaRPr kumimoji="1" lang="ko-Kore-KR" altLang="en-US" sz="1400" dirty="0"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03A259-6850-2646-A193-41EA0A7AEC1E}"/>
              </a:ext>
            </a:extLst>
          </p:cNvPr>
          <p:cNvSpPr txBox="1"/>
          <p:nvPr/>
        </p:nvSpPr>
        <p:spPr>
          <a:xfrm>
            <a:off x="229166" y="5216067"/>
            <a:ext cx="6442225" cy="25203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marL="230188" indent="-230188">
              <a:buAutoNum type="arabicParenR"/>
            </a:pPr>
            <a:r>
              <a:rPr kumimoji="1" lang="en-US" altLang="ko-KR" sz="1400" dirty="0">
                <a:latin typeface="+mn-ea"/>
              </a:rPr>
              <a:t>(          )</a:t>
            </a:r>
            <a:r>
              <a:rPr kumimoji="1" lang="ko-KR" altLang="en-US" sz="1400" dirty="0">
                <a:latin typeface="+mn-ea"/>
              </a:rPr>
              <a:t>는 하드디스크 드라이브를 대체할 차세대 저장매체로서 </a:t>
            </a:r>
            <a:r>
              <a:rPr kumimoji="1" lang="en-US" altLang="ko-KR" sz="1400" dirty="0">
                <a:latin typeface="+mn-ea"/>
              </a:rPr>
              <a:t>HDD</a:t>
            </a:r>
            <a:r>
              <a:rPr kumimoji="1" lang="ko-KR" altLang="en-US" sz="1400" dirty="0">
                <a:latin typeface="+mn-ea"/>
              </a:rPr>
              <a:t>보다 가볍고 데이터 처리 속도가 빠르며 낮은 전력 소모와 안정성이 장점이다</a:t>
            </a:r>
            <a:r>
              <a:rPr kumimoji="1" lang="en-US" altLang="ko-KR" sz="1400" dirty="0">
                <a:latin typeface="+mn-ea"/>
              </a:rPr>
              <a:t>. </a:t>
            </a:r>
          </a:p>
          <a:p>
            <a:pPr marL="230188" indent="-230188">
              <a:buAutoNum type="arabicParenR"/>
            </a:pPr>
            <a:endParaRPr kumimoji="1" lang="en-US" altLang="ko-KR" sz="1400" dirty="0">
              <a:latin typeface="+mn-ea"/>
            </a:endParaRPr>
          </a:p>
          <a:p>
            <a:pPr marL="230188" indent="-230188">
              <a:buFontTx/>
              <a:buAutoNum type="arabicParenR"/>
            </a:pPr>
            <a:r>
              <a:rPr kumimoji="1" lang="ko-KR" altLang="en-US" sz="1400" dirty="0">
                <a:latin typeface="+mn-ea"/>
              </a:rPr>
              <a:t>컴퓨터의 </a:t>
            </a:r>
            <a:r>
              <a:rPr kumimoji="1" lang="en-US" altLang="ko-KR" sz="1400" dirty="0">
                <a:latin typeface="+mn-ea"/>
              </a:rPr>
              <a:t>(        )</a:t>
            </a:r>
            <a:r>
              <a:rPr kumimoji="1" lang="ko-KR" altLang="en-US" sz="1400" dirty="0">
                <a:latin typeface="+mn-ea"/>
              </a:rPr>
              <a:t>란 컴퓨터 내부에서 데이터가 전송되는 통로를 의미하며 </a:t>
            </a:r>
            <a:r>
              <a:rPr kumimoji="1" lang="en-US" altLang="ko-KR" sz="1400" dirty="0">
                <a:latin typeface="+mn-ea"/>
              </a:rPr>
              <a:t>16</a:t>
            </a:r>
            <a:r>
              <a:rPr kumimoji="1" lang="ko-KR" altLang="en-US" sz="1400" dirty="0">
                <a:latin typeface="+mn-ea"/>
              </a:rPr>
              <a:t>비트</a:t>
            </a:r>
            <a:r>
              <a:rPr kumimoji="1" lang="en-US" altLang="ko-KR" sz="1400" dirty="0">
                <a:latin typeface="+mn-ea"/>
              </a:rPr>
              <a:t>, 32</a:t>
            </a:r>
            <a:r>
              <a:rPr kumimoji="1" lang="ko-KR" altLang="en-US" sz="1400" dirty="0">
                <a:latin typeface="+mn-ea"/>
              </a:rPr>
              <a:t>비트 등이 있다</a:t>
            </a:r>
            <a:r>
              <a:rPr kumimoji="1" lang="en-US" altLang="ko-KR" sz="1400" dirty="0">
                <a:latin typeface="+mn-ea"/>
              </a:rPr>
              <a:t>.</a:t>
            </a:r>
          </a:p>
          <a:p>
            <a:pPr marL="230188" indent="-230188">
              <a:buFontTx/>
              <a:buAutoNum type="arabicParenR"/>
            </a:pPr>
            <a:endParaRPr kumimoji="1" lang="en-US" altLang="ko-KR" sz="1400" dirty="0">
              <a:latin typeface="+mn-ea"/>
            </a:endParaRPr>
          </a:p>
          <a:p>
            <a:pPr marL="230188" indent="-230188">
              <a:buFontTx/>
              <a:buAutoNum type="arabicParenR"/>
            </a:pPr>
            <a:r>
              <a:rPr kumimoji="1" lang="ko-KR" altLang="en-US" sz="1400" dirty="0">
                <a:latin typeface="+mn-ea"/>
              </a:rPr>
              <a:t>손으로 쓴 글씨나 인쇄된 문자에 빛을 쏘아 반사되는 정도를 가지고 문자를 판독하는 장치로 청구서 등에 사용되는 </a:t>
            </a:r>
            <a:r>
              <a:rPr kumimoji="1" lang="ko-KR" altLang="en-US" sz="1400" dirty="0" err="1">
                <a:latin typeface="+mn-ea"/>
              </a:rPr>
              <a:t>입력장치는</a:t>
            </a:r>
            <a:r>
              <a:rPr kumimoji="1" lang="ko-KR" altLang="en-US" sz="1400" dirty="0">
                <a:latin typeface="+mn-ea"/>
              </a:rPr>
              <a:t> </a:t>
            </a:r>
            <a:r>
              <a:rPr kumimoji="1" lang="en-US" altLang="ko-KR" sz="1400" dirty="0">
                <a:latin typeface="+mn-ea"/>
              </a:rPr>
              <a:t>(</a:t>
            </a:r>
            <a:r>
              <a:rPr kumimoji="1" lang="ko-KR" altLang="en-US" sz="1400" dirty="0">
                <a:latin typeface="+mn-ea"/>
              </a:rPr>
              <a:t>           </a:t>
            </a:r>
            <a:r>
              <a:rPr kumimoji="1" lang="en-US" altLang="ko-KR" sz="1400" dirty="0">
                <a:latin typeface="+mn-ea"/>
              </a:rPr>
              <a:t>)</a:t>
            </a:r>
            <a:r>
              <a:rPr kumimoji="1" lang="ko-KR" altLang="en-US" sz="1400" dirty="0">
                <a:latin typeface="+mn-ea"/>
              </a:rPr>
              <a:t> 이다</a:t>
            </a:r>
            <a:r>
              <a:rPr kumimoji="1" lang="en-US" altLang="ko-KR" sz="1400" dirty="0">
                <a:latin typeface="+mn-ea"/>
              </a:rPr>
              <a:t>.</a:t>
            </a:r>
          </a:p>
          <a:p>
            <a:pPr marL="230188" indent="-230188">
              <a:buFontTx/>
              <a:buAutoNum type="arabicParenR"/>
            </a:pPr>
            <a:endParaRPr kumimoji="1" lang="en-US" altLang="ko-KR" sz="1400" dirty="0">
              <a:latin typeface="+mn-ea"/>
            </a:endParaRPr>
          </a:p>
          <a:p>
            <a:pPr marL="230188" indent="-230188">
              <a:buAutoNum type="arabicParenR"/>
            </a:pPr>
            <a:r>
              <a:rPr kumimoji="1" lang="ko-KR" altLang="en-US" sz="1400" dirty="0">
                <a:latin typeface="+mn-ea"/>
              </a:rPr>
              <a:t> </a:t>
            </a:r>
            <a:r>
              <a:rPr kumimoji="1" lang="en-US" altLang="ko-KR" sz="1400" dirty="0">
                <a:latin typeface="+mn-ea"/>
              </a:rPr>
              <a:t>(</a:t>
            </a:r>
            <a:r>
              <a:rPr kumimoji="1" lang="ko-KR" altLang="en-US" sz="1400" dirty="0">
                <a:latin typeface="+mn-ea"/>
              </a:rPr>
              <a:t>             </a:t>
            </a:r>
            <a:r>
              <a:rPr kumimoji="1" lang="en-US" altLang="ko-KR" sz="1400" dirty="0">
                <a:latin typeface="+mn-ea"/>
              </a:rPr>
              <a:t>)</a:t>
            </a:r>
            <a:r>
              <a:rPr kumimoji="1" lang="ko-KR" altLang="en-US" sz="1400" dirty="0">
                <a:latin typeface="+mn-ea"/>
              </a:rPr>
              <a:t>란 시스템의 효율을 높이기 위해 </a:t>
            </a:r>
            <a:r>
              <a:rPr kumimoji="1" lang="en-US" altLang="ko-KR" sz="1400" dirty="0">
                <a:latin typeface="+mn-ea"/>
              </a:rPr>
              <a:t>ROM</a:t>
            </a:r>
            <a:r>
              <a:rPr kumimoji="1" lang="ko-KR" altLang="en-US" sz="1400" dirty="0">
                <a:latin typeface="+mn-ea"/>
              </a:rPr>
              <a:t>에 들어 있는 기본적인 프로그램을 의미한다</a:t>
            </a:r>
            <a:r>
              <a:rPr kumimoji="1" lang="en-US" altLang="ko-KR" sz="1400" dirty="0">
                <a:latin typeface="+mn-ea"/>
              </a:rPr>
              <a:t>. </a:t>
            </a:r>
            <a:r>
              <a:rPr kumimoji="1" lang="ko-KR" altLang="en-US" sz="1400" dirty="0">
                <a:latin typeface="+mn-ea"/>
              </a:rPr>
              <a:t>대표적인 예로 </a:t>
            </a:r>
            <a:r>
              <a:rPr kumimoji="1" lang="en-US" altLang="ko-KR" sz="1400" dirty="0">
                <a:latin typeface="+mn-ea"/>
              </a:rPr>
              <a:t>BIOS</a:t>
            </a:r>
            <a:r>
              <a:rPr kumimoji="1" lang="ko-KR" altLang="en-US" sz="1400" dirty="0">
                <a:latin typeface="+mn-ea"/>
              </a:rPr>
              <a:t>가 있다</a:t>
            </a:r>
            <a:r>
              <a:rPr kumimoji="1" lang="en-US" altLang="ko-KR" sz="1400" dirty="0">
                <a:latin typeface="+mn-ea"/>
              </a:rPr>
              <a:t>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C8D1148-B17E-804F-AF6A-14511DAAE1CB}"/>
              </a:ext>
            </a:extLst>
          </p:cNvPr>
          <p:cNvSpPr txBox="1"/>
          <p:nvPr/>
        </p:nvSpPr>
        <p:spPr>
          <a:xfrm>
            <a:off x="229166" y="2169578"/>
            <a:ext cx="6442225" cy="278342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kumimoji="1" lang="en-US" altLang="ko-Kore-KR" sz="1400" dirty="0">
                <a:latin typeface="+mn-ea"/>
              </a:rPr>
              <a:t>…</a:t>
            </a:r>
          </a:p>
          <a:p>
            <a:r>
              <a:rPr kumimoji="1" lang="en-US" altLang="ko-Kore-KR" sz="1400" dirty="0">
                <a:latin typeface="+mn-ea"/>
              </a:rPr>
              <a:t>CPU</a:t>
            </a:r>
            <a:r>
              <a:rPr kumimoji="1" lang="ko-KR" altLang="en-US" sz="1400" dirty="0">
                <a:latin typeface="+mn-ea"/>
              </a:rPr>
              <a:t>는 </a:t>
            </a:r>
            <a:r>
              <a:rPr kumimoji="1" lang="en-US" altLang="ko-KR" sz="1400" dirty="0">
                <a:latin typeface="+mn-ea"/>
              </a:rPr>
              <a:t>RAM</a:t>
            </a:r>
            <a:r>
              <a:rPr kumimoji="1" lang="ko-KR" altLang="en-US" sz="1400" dirty="0">
                <a:latin typeface="+mn-ea"/>
              </a:rPr>
              <a:t>에서 데이터를 사용한다</a:t>
            </a:r>
            <a:r>
              <a:rPr kumimoji="1" lang="en-US" altLang="ko-KR" sz="1400" dirty="0">
                <a:latin typeface="+mn-ea"/>
              </a:rPr>
              <a:t>. CPU</a:t>
            </a:r>
            <a:r>
              <a:rPr kumimoji="1" lang="ko-KR" altLang="en-US" sz="1400" dirty="0">
                <a:latin typeface="+mn-ea"/>
              </a:rPr>
              <a:t>의 데이터 처리 속도에 비해 </a:t>
            </a:r>
            <a:r>
              <a:rPr kumimoji="1" lang="en-US" altLang="ko-KR" sz="1400" dirty="0">
                <a:latin typeface="+mn-ea"/>
              </a:rPr>
              <a:t>RAM</a:t>
            </a:r>
            <a:r>
              <a:rPr kumimoji="1" lang="ko-KR" altLang="en-US" sz="1400" dirty="0">
                <a:latin typeface="+mn-ea"/>
              </a:rPr>
              <a:t>은 데이터 처리 속도가 매우 느리기 때문에 </a:t>
            </a:r>
            <a:r>
              <a:rPr kumimoji="1" lang="en-US" altLang="ko-KR" sz="1400" dirty="0">
                <a:latin typeface="+mn-ea"/>
              </a:rPr>
              <a:t>CPU</a:t>
            </a:r>
            <a:r>
              <a:rPr kumimoji="1" lang="ko-KR" altLang="en-US" sz="1400" dirty="0">
                <a:latin typeface="+mn-ea"/>
              </a:rPr>
              <a:t>안에 </a:t>
            </a:r>
            <a:r>
              <a:rPr kumimoji="1" lang="en-US" altLang="ko-KR" sz="1400" dirty="0">
                <a:latin typeface="+mn-ea"/>
              </a:rPr>
              <a:t>“</a:t>
            </a:r>
            <a:r>
              <a:rPr kumimoji="1" lang="ko-KR" altLang="en-US" sz="1400" dirty="0">
                <a:latin typeface="+mn-ea"/>
              </a:rPr>
              <a:t>캐시</a:t>
            </a:r>
            <a:r>
              <a:rPr kumimoji="1" lang="en-US" altLang="ko-KR" sz="1400" dirty="0">
                <a:latin typeface="+mn-ea"/>
              </a:rPr>
              <a:t>＂</a:t>
            </a:r>
            <a:r>
              <a:rPr kumimoji="1" lang="ko-KR" altLang="en-US" sz="1400" dirty="0">
                <a:latin typeface="+mn-ea"/>
              </a:rPr>
              <a:t>라는 저장장치를 두어 </a:t>
            </a:r>
            <a:r>
              <a:rPr kumimoji="1" lang="en-US" altLang="ko-KR" sz="1400" dirty="0">
                <a:latin typeface="+mn-ea"/>
              </a:rPr>
              <a:t>RAM</a:t>
            </a:r>
            <a:r>
              <a:rPr kumimoji="1" lang="ko-KR" altLang="en-US" sz="1400" dirty="0">
                <a:latin typeface="+mn-ea"/>
              </a:rPr>
              <a:t>의 데이터를 캐시에 저장하여 사용한다</a:t>
            </a:r>
            <a:r>
              <a:rPr kumimoji="1" lang="en-US" altLang="ko-KR" sz="1400" dirty="0">
                <a:latin typeface="+mn-ea"/>
              </a:rPr>
              <a:t>.</a:t>
            </a:r>
            <a:endParaRPr kumimoji="1" lang="en-US" altLang="ko-Kore-KR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35071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193</TotalTime>
  <Words>163</Words>
  <Application>Microsoft Office PowerPoint</Application>
  <PresentationFormat>A4 용지(210x297mm)</PresentationFormat>
  <Paragraphs>20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Nam Gyu</dc:creator>
  <cp:lastModifiedBy>권 영훈</cp:lastModifiedBy>
  <cp:revision>21</cp:revision>
  <dcterms:created xsi:type="dcterms:W3CDTF">2020-12-27T02:05:04Z</dcterms:created>
  <dcterms:modified xsi:type="dcterms:W3CDTF">2021-04-02T05:11:22Z</dcterms:modified>
</cp:coreProperties>
</file>