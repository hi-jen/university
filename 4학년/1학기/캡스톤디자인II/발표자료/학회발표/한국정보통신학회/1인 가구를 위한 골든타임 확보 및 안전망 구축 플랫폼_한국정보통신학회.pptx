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  <p:sldId id="265" r:id="rId11"/>
    <p:sldId id="266" r:id="rId12"/>
    <p:sldId id="267" r:id="rId13"/>
  </p:sldIdLst>
  <p:sldSz cx="24384000" cy="13716000"/>
  <p:notesSz cx="6858000" cy="9144000"/>
  <p:embeddedFontLst>
    <p:embeddedFont>
      <p:font typeface="나눔고딕 ExtraBold" panose="020D0904000000000000" pitchFamily="50" charset="-127"/>
      <p:bold r:id="rId15"/>
    </p:embeddedFont>
    <p:embeddedFont>
      <p:font typeface="맑은 고딕" panose="020B0503020000020004" pitchFamily="50" charset="-127"/>
      <p:regular r:id="rId16"/>
      <p:bold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78241" autoAdjust="0"/>
  </p:normalViewPr>
  <p:slideViewPr>
    <p:cSldViewPr>
      <p:cViewPr varScale="1">
        <p:scale>
          <a:sx n="34" d="100"/>
          <a:sy n="34" d="100"/>
        </p:scale>
        <p:origin x="972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D09AF2-74F4-4E83-9D0F-E9FDD50AE22C}" type="datetimeFigureOut">
              <a:rPr lang="ko-KR" altLang="en-US" smtClean="0"/>
              <a:t>2026-05-12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71CBD9-B5FB-4538-B5A2-868971ADA8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64648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안녕하십니까</a:t>
            </a:r>
          </a:p>
          <a:p>
            <a:r>
              <a:rPr lang="en-US" altLang="ko-KR" dirty="0"/>
              <a:t>2026</a:t>
            </a:r>
            <a:r>
              <a:rPr lang="ko-KR" altLang="en-US" dirty="0"/>
              <a:t>년도 한국정보통신학회 춘계종합학술대회의 발표를 맡은 </a:t>
            </a:r>
            <a:r>
              <a:rPr lang="ko-KR" altLang="en-US" dirty="0" err="1"/>
              <a:t>강신혁입니다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저희 팀이 연구 기획 및 개발한 프로젝트는 </a:t>
            </a:r>
            <a:r>
              <a:rPr lang="en-US" altLang="ko-KR" dirty="0"/>
              <a:t>1</a:t>
            </a:r>
            <a:r>
              <a:rPr lang="ko-KR" altLang="en-US" dirty="0"/>
              <a:t>인 가구를 위한 </a:t>
            </a:r>
            <a:r>
              <a:rPr lang="ko-KR" altLang="en-US" dirty="0" err="1"/>
              <a:t>골든타임</a:t>
            </a:r>
            <a:r>
              <a:rPr lang="ko-KR" altLang="en-US" dirty="0"/>
              <a:t> 확보 및 안전망 구축 플랫폼인</a:t>
            </a:r>
            <a:r>
              <a:rPr lang="en-US" altLang="ko-KR" dirty="0"/>
              <a:t> </a:t>
            </a:r>
            <a:r>
              <a:rPr lang="ko-KR" altLang="en-US" dirty="0"/>
              <a:t>라이프라인입니다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최근 급격히 증가하는 고독사 문제를 기술적으로 어떻게 해결하고자 했는지</a:t>
            </a:r>
            <a:r>
              <a:rPr lang="en-US" altLang="ko-KR" dirty="0"/>
              <a:t>, </a:t>
            </a:r>
            <a:r>
              <a:rPr lang="ko-KR" altLang="en-US" dirty="0"/>
              <a:t>지금부터 저희의 연구와 개발 성과를 말씀드리도록 하겠습니다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1CBD9-B5FB-4538-B5A2-868971ADA8C6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70235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본격적인 발표에 앞서 저희 팀의 역할 분담을 간략히 소개해드리도록 하겠습니다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팀장인 저는 </a:t>
            </a:r>
            <a:r>
              <a:rPr lang="en-US" altLang="ko-KR" dirty="0"/>
              <a:t>PM</a:t>
            </a:r>
            <a:r>
              <a:rPr lang="ko-KR" altLang="en-US" dirty="0"/>
              <a:t>으로서 </a:t>
            </a:r>
            <a:r>
              <a:rPr lang="en-US" altLang="ko-KR" dirty="0"/>
              <a:t>Agile Sprint</a:t>
            </a:r>
            <a:r>
              <a:rPr lang="ko-KR" altLang="en-US" dirty="0"/>
              <a:t>를 총괄하며 전반적인 </a:t>
            </a:r>
            <a:r>
              <a:rPr lang="en-US" altLang="ko-KR" dirty="0"/>
              <a:t>UX </a:t>
            </a:r>
            <a:r>
              <a:rPr lang="ko-KR" altLang="en-US" dirty="0"/>
              <a:t>기획과 시스템 아키텍처 설계를 맡았습니다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다음으로　이호준 팀원은 </a:t>
            </a:r>
            <a:r>
              <a:rPr lang="en-US" altLang="ko-KR" dirty="0"/>
              <a:t>CTO</a:t>
            </a:r>
            <a:r>
              <a:rPr lang="ko-KR" altLang="en-US" dirty="0"/>
              <a:t>로서 </a:t>
            </a:r>
            <a:r>
              <a:rPr lang="en-US" altLang="ko-KR" dirty="0"/>
              <a:t>AWS </a:t>
            </a:r>
            <a:r>
              <a:rPr lang="ko-KR" altLang="en-US" dirty="0"/>
              <a:t>클라우드 인프라 구축과 </a:t>
            </a:r>
            <a:r>
              <a:rPr lang="en-US" altLang="ko-KR" dirty="0"/>
              <a:t>CI/CD </a:t>
            </a:r>
            <a:r>
              <a:rPr lang="ko-KR" altLang="en-US" dirty="0"/>
              <a:t>자동화 파이프라인 및 시스템 보안을 담당하였습니다</a:t>
            </a:r>
            <a:r>
              <a:rPr lang="en-US" altLang="ko-KR" dirty="0"/>
              <a:t>. </a:t>
            </a:r>
          </a:p>
          <a:p>
            <a:r>
              <a:rPr lang="ko-KR" altLang="en-US" dirty="0" err="1"/>
              <a:t>강신혁</a:t>
            </a:r>
            <a:r>
              <a:rPr lang="ko-KR" altLang="en-US" dirty="0"/>
              <a:t> 팀원은 </a:t>
            </a:r>
            <a:r>
              <a:rPr lang="ko-KR" altLang="en-US" dirty="0" err="1"/>
              <a:t>백엔드를</a:t>
            </a:r>
            <a:r>
              <a:rPr lang="ko-KR" altLang="en-US" dirty="0"/>
              <a:t> 맡아 </a:t>
            </a:r>
            <a:r>
              <a:rPr lang="en-US" altLang="ko-KR" dirty="0"/>
              <a:t>Spring Boot</a:t>
            </a:r>
            <a:r>
              <a:rPr lang="ko-KR" altLang="en-US" dirty="0"/>
              <a:t>를 활용한 핵심 </a:t>
            </a:r>
            <a:r>
              <a:rPr lang="en-US" altLang="ko-KR" dirty="0"/>
              <a:t>API </a:t>
            </a:r>
            <a:r>
              <a:rPr lang="ko-KR" altLang="en-US" dirty="0"/>
              <a:t>개발과 더불어 주기적인 스케줄러 기반의 위기 감지 엔진을 구현하고 </a:t>
            </a:r>
            <a:r>
              <a:rPr lang="en-US" altLang="ko-KR" dirty="0"/>
              <a:t>Spring Data/JPA </a:t>
            </a:r>
            <a:r>
              <a:rPr lang="ko-KR" altLang="en-US"/>
              <a:t>복합 인덱스를 </a:t>
            </a:r>
            <a:r>
              <a:rPr lang="ko-KR" altLang="en-US" dirty="0"/>
              <a:t>통한 </a:t>
            </a:r>
            <a:r>
              <a:rPr lang="en-US" altLang="ko-KR" dirty="0"/>
              <a:t>DB </a:t>
            </a:r>
            <a:r>
              <a:rPr lang="ko-KR" altLang="en-US" dirty="0"/>
              <a:t>쿼리 튜닝을 실행하였습니다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마지막으로 </a:t>
            </a:r>
            <a:r>
              <a:rPr lang="ko-KR" altLang="en-US" dirty="0" err="1"/>
              <a:t>하유빈</a:t>
            </a:r>
            <a:r>
              <a:rPr lang="ko-KR" altLang="en-US" dirty="0"/>
              <a:t> 팀원은 </a:t>
            </a:r>
            <a:r>
              <a:rPr lang="ko-KR" altLang="en-US" dirty="0" err="1"/>
              <a:t>리액트와</a:t>
            </a:r>
            <a:r>
              <a:rPr lang="ko-KR" altLang="en-US" dirty="0"/>
              <a:t> 바이트 기반의 </a:t>
            </a:r>
            <a:r>
              <a:rPr lang="ko-KR" altLang="en-US" dirty="0" err="1"/>
              <a:t>프론트엔드</a:t>
            </a:r>
            <a:r>
              <a:rPr lang="ko-KR" altLang="en-US" dirty="0"/>
              <a:t> 클라이언트 개발</a:t>
            </a:r>
            <a:r>
              <a:rPr lang="en-US" altLang="ko-KR" dirty="0"/>
              <a:t>, </a:t>
            </a:r>
            <a:r>
              <a:rPr lang="ko-KR" altLang="en-US" dirty="0"/>
              <a:t>그리고 접근성을 높인 </a:t>
            </a:r>
            <a:r>
              <a:rPr lang="ko-KR" altLang="en-US" dirty="0" err="1"/>
              <a:t>웹앱</a:t>
            </a:r>
            <a:r>
              <a:rPr lang="ko-KR" altLang="en-US" dirty="0"/>
              <a:t> 아키텍처 구축과 모바일 최적화를 담당하였습니다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1CBD9-B5FB-4538-B5A2-868971ADA8C6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6663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저희가 이 프로젝트를 시작하게 된 사회적 배경입니다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현재 대한민국의 </a:t>
            </a:r>
            <a:r>
              <a:rPr lang="en-US" altLang="ko-KR" dirty="0"/>
              <a:t>1</a:t>
            </a:r>
            <a:r>
              <a:rPr lang="ko-KR" altLang="en-US" dirty="0"/>
              <a:t>인 가구는 전체의 </a:t>
            </a:r>
            <a:r>
              <a:rPr lang="en-US" altLang="ko-KR" dirty="0"/>
              <a:t>36.1%</a:t>
            </a:r>
            <a:r>
              <a:rPr lang="ko-KR" altLang="en-US" dirty="0"/>
              <a:t>를 넘어서며 가장 보편적인 가구 형태가 되었습니다</a:t>
            </a:r>
            <a:r>
              <a:rPr lang="en-US" altLang="ko-KR" dirty="0"/>
              <a:t>. </a:t>
            </a:r>
          </a:p>
          <a:p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하지만 이러한 가구 형태의 변화는 사회적 외로움과 고독사 문제라는 어두운 단면을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심화시키고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특히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2024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년 기준 고독사 사망자 수는 약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4,000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명에 육박하고 있으며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이는 더 이상 개인의 비극이 아닌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사회적 안전망의 부재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라는 관점에서 접근해야 할 국가적 과제입니다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여기서 가장 치명적인 문제는 바로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발견 지연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보건복지부의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2024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년 통계에 따르면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고독사 발생 후 시신이 발견되기까지 평균 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26.6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일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이나 소요된다고 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한 달에 가까운 시간 동안 아무도 그 죽음을 알지 못하는 것이 지금의 현실입니다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물론 이를 해결하기 위해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IoT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센서나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안부 전화 등 다양한 시스템이 도입되어 왔으나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저희는 기존 방식들이 가진 세 가지의 핵심적인 한계점을 확인하였습니다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ko-KR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첫째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구조적 한계입니다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이상 징후를 감지하더라도 결국 행정 인력의 사후 확인이 반드시 필요한 수동적인 대응 체계에 머물러 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ko-KR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둘째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심리적 거부감입니다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집 안에 카메라나 센서를 설치하는 방식은 사용자에게 상시 감시 받는다는 느낌을 주어 사생활 침해 논란을 유발합니다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ko-KR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셋째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기술적 진입 장벽입니다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스마트 기기에 익숙하지 않은 고령층이나 소외 계층이 복잡한 설치 및 가입 절차를 극복하기 어렵다는 점입니다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저희 라이프라인은 바로 이 지점에서 고민을 시작했습니다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1CBD9-B5FB-4538-B5A2-868971ADA8C6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99356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저희는 기존의 </a:t>
            </a:r>
            <a:r>
              <a:rPr lang="en-US" altLang="ko-KR" dirty="0"/>
              <a:t>IoT </a:t>
            </a:r>
            <a:r>
              <a:rPr lang="ko-KR" altLang="en-US" dirty="0"/>
              <a:t>기반 센서 시스템과 중국의 유사 서비스인 </a:t>
            </a:r>
            <a:r>
              <a:rPr lang="en-US" altLang="ko-KR" dirty="0"/>
              <a:t>'</a:t>
            </a:r>
            <a:r>
              <a:rPr lang="en-US" altLang="ko-KR" dirty="0" err="1"/>
              <a:t>Demumu</a:t>
            </a:r>
            <a:r>
              <a:rPr lang="en-US" altLang="ko-KR" dirty="0"/>
              <a:t>'</a:t>
            </a:r>
            <a:r>
              <a:rPr lang="ko-KR" altLang="en-US" dirty="0"/>
              <a:t>를 면밀히 벤치마킹하여</a:t>
            </a:r>
            <a:r>
              <a:rPr lang="en-US" altLang="ko-KR" dirty="0"/>
              <a:t>, </a:t>
            </a:r>
            <a:r>
              <a:rPr lang="ko-KR" altLang="en-US" dirty="0"/>
              <a:t>실제 현장에서 발생하는 문제점들을 보완하고 더 효과적인 목표 달성을 위한 차별점을 정립하였습니다</a:t>
            </a:r>
            <a:r>
              <a:rPr lang="en-US" altLang="ko-KR" dirty="0"/>
              <a:t>.  </a:t>
            </a:r>
          </a:p>
          <a:p>
            <a:r>
              <a:rPr lang="ko-KR" altLang="en-US" dirty="0"/>
              <a:t>가장 먼저</a:t>
            </a:r>
            <a:r>
              <a:rPr lang="en-US" altLang="ko-KR" dirty="0"/>
              <a:t>, </a:t>
            </a:r>
            <a:r>
              <a:rPr lang="ko-KR" altLang="en-US" dirty="0"/>
              <a:t>사용자에게 </a:t>
            </a:r>
            <a:r>
              <a:rPr lang="en-US" altLang="ko-KR" dirty="0"/>
              <a:t>'</a:t>
            </a:r>
            <a:r>
              <a:rPr lang="ko-KR" altLang="en-US" dirty="0" err="1"/>
              <a:t>감시받는다</a:t>
            </a:r>
            <a:r>
              <a:rPr lang="en-US" altLang="ko-KR" dirty="0"/>
              <a:t>'</a:t>
            </a:r>
            <a:r>
              <a:rPr lang="ko-KR" altLang="en-US" dirty="0"/>
              <a:t>는 심리적 압박감을 주지 않기 위해 </a:t>
            </a:r>
            <a:r>
              <a:rPr lang="ko-KR" altLang="en-US" dirty="0" err="1"/>
              <a:t>게이미피케이션</a:t>
            </a:r>
            <a:r>
              <a:rPr lang="ko-KR" altLang="en-US" dirty="0"/>
              <a:t> 요소를 도입했습니다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이를 통해 사용자가 피동적인 관리의 대상이 아닌</a:t>
            </a:r>
            <a:r>
              <a:rPr lang="en-US" altLang="ko-KR" dirty="0"/>
              <a:t>, </a:t>
            </a:r>
            <a:r>
              <a:rPr lang="ko-KR" altLang="en-US" dirty="0"/>
              <a:t>자발적이고 능동적인 참여 주체가 되도록 유도하였습니다</a:t>
            </a:r>
            <a:r>
              <a:rPr lang="en-US" altLang="ko-KR" dirty="0"/>
              <a:t>.  </a:t>
            </a:r>
          </a:p>
          <a:p>
            <a:r>
              <a:rPr lang="ko-KR" altLang="en-US" dirty="0"/>
              <a:t>또한</a:t>
            </a:r>
            <a:r>
              <a:rPr lang="en-US" altLang="ko-KR" dirty="0"/>
              <a:t>, </a:t>
            </a:r>
            <a:r>
              <a:rPr lang="ko-KR" altLang="en-US" dirty="0"/>
              <a:t>전 연령층을 아우르는 포용성을 확보하기 위해 노인층과 청년층의 특성을 각각 반영한 </a:t>
            </a:r>
            <a:r>
              <a:rPr lang="en-US" altLang="ko-KR" dirty="0"/>
              <a:t>'</a:t>
            </a:r>
            <a:r>
              <a:rPr lang="ko-KR" altLang="en-US" dirty="0"/>
              <a:t>유저별 듀얼 모드</a:t>
            </a:r>
            <a:r>
              <a:rPr lang="en-US" altLang="ko-KR" dirty="0"/>
              <a:t>'</a:t>
            </a:r>
            <a:r>
              <a:rPr lang="ko-KR" altLang="en-US" dirty="0"/>
              <a:t>를 적용하였습니다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마지막으로</a:t>
            </a:r>
            <a:r>
              <a:rPr lang="en-US" altLang="ko-KR" dirty="0"/>
              <a:t>, </a:t>
            </a:r>
            <a:r>
              <a:rPr lang="ko-KR" altLang="en-US" dirty="0"/>
              <a:t>민감한 개인정보 수집을 배제하거나 최소화하는 프라이버시 원칙을 설계의 최우선 순위로 두어</a:t>
            </a:r>
            <a:r>
              <a:rPr lang="en-US" altLang="ko-KR" dirty="0"/>
              <a:t>, </a:t>
            </a:r>
            <a:r>
              <a:rPr lang="ko-KR" altLang="en-US" dirty="0"/>
              <a:t>기술이 일상을 침해하지 않으면서도 안전망을 구축할 수 있도록 구현하였습니다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1CBD9-B5FB-4538-B5A2-868971ADA8C6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17979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저희 라이프라인이 지향하는 서비스 목표는 크게 세 가지입니다</a:t>
            </a:r>
            <a:r>
              <a:rPr lang="en-US" altLang="ko-KR" dirty="0"/>
              <a:t>. </a:t>
            </a:r>
          </a:p>
          <a:p>
            <a:r>
              <a:rPr lang="ko-KR" altLang="en-US" b="1" dirty="0"/>
              <a:t>첫째는 </a:t>
            </a:r>
            <a:r>
              <a:rPr lang="en-US" altLang="ko-KR" b="1" dirty="0"/>
              <a:t>'</a:t>
            </a:r>
            <a:r>
              <a:rPr lang="ko-KR" altLang="en-US" b="1" dirty="0"/>
              <a:t>안전성</a:t>
            </a:r>
            <a:r>
              <a:rPr lang="en-US" altLang="ko-KR" b="1" dirty="0"/>
              <a:t>'</a:t>
            </a:r>
            <a:r>
              <a:rPr lang="ko-KR" altLang="en-US" b="1" dirty="0"/>
              <a:t>입니다</a:t>
            </a:r>
            <a:r>
              <a:rPr lang="en-US" altLang="ko-KR" b="1" dirty="0"/>
              <a:t>.</a:t>
            </a:r>
            <a:r>
              <a:rPr lang="ko-KR" altLang="en-US" dirty="0"/>
              <a:t> 정교하게 설계된 위기 감지 알고리즘을 통해 사용자의 일상에서 발생하는 미세한 이상 징후를 놓치지 않고 포착하여 실질적인 보호망을 구축합니다</a:t>
            </a:r>
            <a:r>
              <a:rPr lang="en-US" altLang="ko-KR" dirty="0"/>
              <a:t>. </a:t>
            </a:r>
          </a:p>
          <a:p>
            <a:r>
              <a:rPr lang="ko-KR" altLang="en-US" b="1" dirty="0"/>
              <a:t>둘째는 </a:t>
            </a:r>
            <a:r>
              <a:rPr lang="en-US" altLang="ko-KR" b="1" dirty="0"/>
              <a:t>'</a:t>
            </a:r>
            <a:r>
              <a:rPr lang="ko-KR" altLang="en-US" b="1" dirty="0" err="1"/>
              <a:t>즉각성</a:t>
            </a:r>
            <a:r>
              <a:rPr lang="en-US" altLang="ko-KR" b="1" dirty="0"/>
              <a:t>'</a:t>
            </a:r>
            <a:r>
              <a:rPr lang="ko-KR" altLang="en-US" b="1" dirty="0"/>
              <a:t>입니다</a:t>
            </a:r>
            <a:r>
              <a:rPr lang="en-US" altLang="ko-KR" b="1" dirty="0"/>
              <a:t>.</a:t>
            </a:r>
            <a:r>
              <a:rPr lang="ko-KR" altLang="en-US" dirty="0"/>
              <a:t> 위기 상황이 감지되는 즉시 보호자나 관련 공공 기관에 실시간 알림을 전달함으로써</a:t>
            </a:r>
            <a:r>
              <a:rPr lang="en-US" altLang="ko-KR" dirty="0"/>
              <a:t>, </a:t>
            </a:r>
            <a:r>
              <a:rPr lang="ko-KR" altLang="en-US" dirty="0"/>
              <a:t>생명을 구하는 가장 결정적인 요소인 </a:t>
            </a:r>
            <a:r>
              <a:rPr lang="en-US" altLang="ko-KR" dirty="0"/>
              <a:t>'</a:t>
            </a:r>
            <a:r>
              <a:rPr lang="ko-KR" altLang="en-US" dirty="0" err="1"/>
              <a:t>골든타임</a:t>
            </a:r>
            <a:r>
              <a:rPr lang="en-US" altLang="ko-KR" dirty="0"/>
              <a:t>'</a:t>
            </a:r>
            <a:r>
              <a:rPr lang="ko-KR" altLang="en-US" dirty="0"/>
              <a:t>을 확실하게 확보합니다</a:t>
            </a:r>
            <a:r>
              <a:rPr lang="en-US" altLang="ko-KR" dirty="0"/>
              <a:t>. </a:t>
            </a:r>
          </a:p>
          <a:p>
            <a:r>
              <a:rPr lang="ko-KR" altLang="en-US" b="1" dirty="0"/>
              <a:t>마지막으로 </a:t>
            </a:r>
            <a:r>
              <a:rPr lang="en-US" altLang="ko-KR" b="1" dirty="0"/>
              <a:t>'</a:t>
            </a:r>
            <a:r>
              <a:rPr lang="ko-KR" altLang="en-US" b="1" dirty="0"/>
              <a:t>포용성</a:t>
            </a:r>
            <a:r>
              <a:rPr lang="en-US" altLang="ko-KR" b="1" dirty="0"/>
              <a:t>'</a:t>
            </a:r>
            <a:r>
              <a:rPr lang="ko-KR" altLang="en-US" b="1" dirty="0"/>
              <a:t>입니다</a:t>
            </a:r>
            <a:r>
              <a:rPr lang="en-US" altLang="ko-KR" b="1" dirty="0"/>
              <a:t>.</a:t>
            </a:r>
            <a:r>
              <a:rPr lang="ko-KR" altLang="en-US" dirty="0"/>
              <a:t> 사용자의 연령이나 디지털 숙련도에 관계없이 누구나 직관적으로 서비스를 이용할 수 있는 환경을 제공하는 것을 최우선 과제로 삼았습니다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이러한 세 가지 목표는 기술이 단순히 효율성에 머물지 않고</a:t>
            </a:r>
            <a:r>
              <a:rPr lang="en-US" altLang="ko-KR" dirty="0"/>
              <a:t>, </a:t>
            </a:r>
            <a:r>
              <a:rPr lang="ko-KR" altLang="en-US" dirty="0"/>
              <a:t>사람의 생명을 지키는 따뜻한 연결고리가 될 수 있도록 하는 라이프라인의 핵심 원동력입니다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1CBD9-B5FB-4538-B5A2-868971ADA8C6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06379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이러한 목표를 달성하기 위한 구체적인 핵심 가치입니다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우선 유저별 맞춤형 듀얼 모드 </a:t>
            </a:r>
            <a:r>
              <a:rPr lang="en-US" altLang="ko-KR" dirty="0"/>
              <a:t>UI</a:t>
            </a:r>
            <a:r>
              <a:rPr lang="ko-KR" altLang="en-US" dirty="0"/>
              <a:t>를 지원하여 디지털 소외계층까지 아울렀습니다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보안 측면에서는 프라이버시 퍼스트 원칙에 따라 익명 인증과 </a:t>
            </a:r>
            <a:r>
              <a:rPr lang="en-US" altLang="ko-KR" dirty="0"/>
              <a:t>UUID</a:t>
            </a:r>
            <a:r>
              <a:rPr lang="ko-KR" altLang="en-US" dirty="0"/>
              <a:t>를 활용해 개인정보 노출 우려를 원천 차단하였습니다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또한 접근성 극대화를 위해 웹과 앱의 모든 장점을 모두 살린 </a:t>
            </a:r>
            <a:r>
              <a:rPr lang="ko-KR" altLang="en-US" dirty="0" err="1"/>
              <a:t>투트랙</a:t>
            </a:r>
            <a:r>
              <a:rPr lang="ko-KR" altLang="en-US" dirty="0"/>
              <a:t> 배포 방식을 채택하였습니다</a:t>
            </a:r>
            <a:r>
              <a:rPr lang="en-US" altLang="ko-KR" dirty="0"/>
              <a:t>. </a:t>
            </a:r>
          </a:p>
          <a:p>
            <a:r>
              <a:rPr lang="en-US" altLang="ko-KR" dirty="0"/>
              <a:t>PWA </a:t>
            </a:r>
            <a:r>
              <a:rPr lang="ko-KR" altLang="en-US" dirty="0"/>
              <a:t>기술을 활용하여 별도의 설치 과정 없이도 모바일 앱과 동일한 푸시 알림과 사용성을 제공함으로써 기술적 장벽을 제거하였습니다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1CBD9-B5FB-4538-B5A2-868971ADA8C6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03741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이러한 핵심 가치들을 사용자에게 가장 효과적으로 전달하기 위한 저희 팀만의 전략은 바로 마스코트 캐릭터 </a:t>
            </a:r>
            <a:r>
              <a:rPr lang="en-US" altLang="ko-KR" dirty="0"/>
              <a:t>'</a:t>
            </a:r>
            <a:r>
              <a:rPr lang="ko-KR" altLang="en-US" dirty="0" err="1"/>
              <a:t>카나</a:t>
            </a:r>
            <a:r>
              <a:rPr lang="en-US" altLang="ko-KR" dirty="0"/>
              <a:t>'</a:t>
            </a:r>
            <a:r>
              <a:rPr lang="ko-KR" altLang="en-US" dirty="0"/>
              <a:t>의 도입입니다</a:t>
            </a:r>
            <a:r>
              <a:rPr lang="en-US" altLang="ko-KR" dirty="0"/>
              <a:t>.  </a:t>
            </a:r>
          </a:p>
          <a:p>
            <a:r>
              <a:rPr lang="ko-KR" altLang="en-US" dirty="0" err="1"/>
              <a:t>카나는</a:t>
            </a:r>
            <a:r>
              <a:rPr lang="ko-KR" altLang="en-US" dirty="0"/>
              <a:t> 과거 광부들이 탄광 속 눈에 보이지 않는 유독가스를 감지하기 위해 카나리아를 곁에 두었던 역사적 사실에서 모티브를 얻었습니다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카나리아가 위험을 알리는 </a:t>
            </a:r>
            <a:r>
              <a:rPr lang="en-US" altLang="ko-KR" dirty="0"/>
              <a:t>'</a:t>
            </a:r>
            <a:r>
              <a:rPr lang="ko-KR" altLang="en-US" dirty="0"/>
              <a:t>가장 빠른 경고 시스템</a:t>
            </a:r>
            <a:r>
              <a:rPr lang="en-US" altLang="ko-KR" dirty="0"/>
              <a:t>'</a:t>
            </a:r>
            <a:r>
              <a:rPr lang="ko-KR" altLang="en-US" dirty="0"/>
              <a:t>이었듯</a:t>
            </a:r>
            <a:r>
              <a:rPr lang="en-US" altLang="ko-KR" dirty="0"/>
              <a:t>, </a:t>
            </a:r>
            <a:r>
              <a:rPr lang="ko-KR" altLang="en-US" dirty="0"/>
              <a:t>캐릭터 </a:t>
            </a:r>
            <a:r>
              <a:rPr lang="en-US" altLang="ko-KR" dirty="0"/>
              <a:t>'</a:t>
            </a:r>
            <a:r>
              <a:rPr lang="ko-KR" altLang="en-US" dirty="0" err="1"/>
              <a:t>카나</a:t>
            </a:r>
            <a:r>
              <a:rPr lang="en-US" altLang="ko-KR" dirty="0"/>
              <a:t>'</a:t>
            </a:r>
            <a:r>
              <a:rPr lang="ko-KR" altLang="en-US" dirty="0"/>
              <a:t>는 사용자의 곁에서 </a:t>
            </a:r>
            <a:r>
              <a:rPr lang="ko-KR" altLang="en-US" dirty="0" err="1"/>
              <a:t>골든타임을</a:t>
            </a:r>
            <a:r>
              <a:rPr lang="ko-KR" altLang="en-US" dirty="0"/>
              <a:t> 사수하는 든든한 안전 지킴이 역할을 수행하게 됩니다</a:t>
            </a:r>
            <a:r>
              <a:rPr lang="en-US" altLang="ko-KR" dirty="0"/>
              <a:t>.  </a:t>
            </a:r>
          </a:p>
          <a:p>
            <a:r>
              <a:rPr lang="ko-KR" altLang="en-US" dirty="0"/>
              <a:t>기존 서비스들이 기계적인 알림이나 데이터 대조를 통해 사용자를 </a:t>
            </a:r>
            <a:r>
              <a:rPr lang="en-US" altLang="ko-KR" dirty="0"/>
              <a:t>'</a:t>
            </a:r>
            <a:r>
              <a:rPr lang="ko-KR" altLang="en-US" dirty="0"/>
              <a:t>수동적인 감시 대상</a:t>
            </a:r>
            <a:r>
              <a:rPr lang="en-US" altLang="ko-KR" dirty="0"/>
              <a:t>'</a:t>
            </a:r>
            <a:r>
              <a:rPr lang="ko-KR" altLang="en-US" dirty="0"/>
              <a:t>으로 느끼게 했다면</a:t>
            </a:r>
            <a:r>
              <a:rPr lang="en-US" altLang="ko-KR" dirty="0"/>
              <a:t>, </a:t>
            </a:r>
            <a:r>
              <a:rPr lang="ko-KR" altLang="en-US" dirty="0"/>
              <a:t>라이프라인은 친근한 캐릭터와 상호작용하며 일상을 공유하는 </a:t>
            </a:r>
            <a:r>
              <a:rPr lang="en-US" altLang="ko-KR" dirty="0"/>
              <a:t>'</a:t>
            </a:r>
            <a:r>
              <a:rPr lang="ko-KR" altLang="en-US" dirty="0"/>
              <a:t>능동적 참여</a:t>
            </a:r>
            <a:r>
              <a:rPr lang="en-US" altLang="ko-KR" dirty="0"/>
              <a:t>'</a:t>
            </a:r>
            <a:r>
              <a:rPr lang="ko-KR" altLang="en-US" dirty="0"/>
              <a:t>를 이끌어냅니다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특히 캐릭터 성장과 소통이라는 </a:t>
            </a:r>
            <a:r>
              <a:rPr lang="ko-KR" altLang="en-US" dirty="0" err="1"/>
              <a:t>게이미피케이션</a:t>
            </a:r>
            <a:r>
              <a:rPr lang="ko-KR" altLang="en-US" dirty="0"/>
              <a:t> 요소를 서비스 전반에 녹여내어</a:t>
            </a:r>
            <a:r>
              <a:rPr lang="en-US" altLang="ko-KR" dirty="0"/>
              <a:t>, </a:t>
            </a:r>
            <a:r>
              <a:rPr lang="ko-KR" altLang="en-US" dirty="0"/>
              <a:t>사용자가 </a:t>
            </a:r>
            <a:r>
              <a:rPr lang="ko-KR" altLang="en-US" dirty="0" err="1"/>
              <a:t>감시당한다는</a:t>
            </a:r>
            <a:r>
              <a:rPr lang="ko-KR" altLang="en-US" dirty="0"/>
              <a:t> 불쾌감 대신 매일 자발적이고 즐겁게 서비스에 접속할 수 있도록 설계하였습니다</a:t>
            </a:r>
            <a:r>
              <a:rPr lang="en-US" altLang="ko-KR" dirty="0"/>
              <a:t>.  </a:t>
            </a:r>
          </a:p>
          <a:p>
            <a:r>
              <a:rPr lang="ko-KR" altLang="en-US" dirty="0"/>
              <a:t>결국 기존 시스템이 본인의 </a:t>
            </a:r>
            <a:r>
              <a:rPr lang="en-US" altLang="ko-KR" dirty="0"/>
              <a:t>'</a:t>
            </a:r>
            <a:r>
              <a:rPr lang="ko-KR" altLang="en-US" dirty="0"/>
              <a:t>생존을 증명</a:t>
            </a:r>
            <a:r>
              <a:rPr lang="en-US" altLang="ko-KR" dirty="0"/>
              <a:t>'</a:t>
            </a:r>
            <a:r>
              <a:rPr lang="ko-KR" altLang="en-US" dirty="0"/>
              <a:t>해야 하는 딱딱한 숙제였다면</a:t>
            </a:r>
            <a:r>
              <a:rPr lang="en-US" altLang="ko-KR" dirty="0"/>
              <a:t>, </a:t>
            </a:r>
            <a:r>
              <a:rPr lang="ko-KR" altLang="en-US" dirty="0"/>
              <a:t>라이프라인은 캐릭터와의 </a:t>
            </a:r>
            <a:r>
              <a:rPr lang="en-US" altLang="ko-KR" dirty="0"/>
              <a:t>'</a:t>
            </a:r>
            <a:r>
              <a:rPr lang="ko-KR" altLang="en-US" dirty="0"/>
              <a:t>교감</a:t>
            </a:r>
            <a:r>
              <a:rPr lang="en-US" altLang="ko-KR" dirty="0"/>
              <a:t>'</a:t>
            </a:r>
            <a:r>
              <a:rPr lang="ko-KR" altLang="en-US" dirty="0"/>
              <a:t>이 이루어지는 일상의 놀이가 됩니다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이러한 </a:t>
            </a:r>
            <a:r>
              <a:rPr lang="en-US" altLang="ko-KR" dirty="0"/>
              <a:t>'</a:t>
            </a:r>
            <a:r>
              <a:rPr lang="ko-KR" altLang="en-US" dirty="0"/>
              <a:t>감시가 아닌 관심</a:t>
            </a:r>
            <a:r>
              <a:rPr lang="en-US" altLang="ko-KR" dirty="0"/>
              <a:t>'</a:t>
            </a:r>
            <a:r>
              <a:rPr lang="ko-KR" altLang="en-US" dirty="0"/>
              <a:t>으로의 미세한 심리적 패러다임 </a:t>
            </a:r>
            <a:r>
              <a:rPr lang="ko-KR" altLang="en-US" dirty="0" err="1"/>
              <a:t>전환이야말로</a:t>
            </a:r>
            <a:r>
              <a:rPr lang="en-US" altLang="ko-KR" dirty="0"/>
              <a:t>, 1</a:t>
            </a:r>
            <a:r>
              <a:rPr lang="ko-KR" altLang="en-US" dirty="0"/>
              <a:t>인 가구의 사회적 단절을 방지하고 서비스 참여율을 높이는 라이프라인만의 가장 강력한 핵심 동력입니다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1CBD9-B5FB-4538-B5A2-868971ADA8C6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8802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이제 기술적인 구현 부분을 말씀드리겠습니다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전체적인 시스템 아키텍처는 효율성과 안전성에 초점을 맞추어 설계되었습니다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먼저 </a:t>
            </a:r>
            <a:r>
              <a:rPr lang="ko-KR" altLang="en-US" dirty="0" err="1"/>
              <a:t>프론트엔드에서</a:t>
            </a:r>
            <a:r>
              <a:rPr lang="ko-KR" altLang="en-US" dirty="0"/>
              <a:t> 수집된 사용자의 체크인 데이터는 </a:t>
            </a:r>
            <a:r>
              <a:rPr lang="en-US" altLang="ko-KR" dirty="0"/>
              <a:t>AWS </a:t>
            </a:r>
            <a:r>
              <a:rPr lang="ko-KR" altLang="en-US" dirty="0"/>
              <a:t>환경에서 구동되는 스프링 부트 서버로 전달됩니다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이 과정에서 데이터의 흐름은 바로 암호화된 채널을 통해 안전하게 관리되며 시스템 내부의 각 레이어는 철저히 분리되어 향후 서비스가 커지더라도 대응할 수 있는 확장성을 확보하였습니다</a:t>
            </a:r>
            <a:r>
              <a:rPr lang="en-US" altLang="ko-KR" dirty="0"/>
              <a:t>. 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특히 사용자의 상태 변화에 따른 실시간 알림 시스템의 경우 이벤트 기반으로 설계하여 위기 상황이 발생했을 때 지원 없이 신속한 대응이 가능하도록 구축하였습니다</a:t>
            </a:r>
            <a:r>
              <a:rPr lang="en-US" altLang="ko-KR" dirty="0"/>
              <a:t>.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1CBD9-B5FB-4538-B5A2-868971ADA8C6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73732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다음으로 저희 로직의 핵심인 위기감지 엔진 파이프라인에 대해 설명해 드리겠습니다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저희 플랫폼은 수많은 사용자의 상태를 실시간으로 대조하기 위해 </a:t>
            </a:r>
            <a:r>
              <a:rPr lang="en-US" altLang="ko-KR" dirty="0"/>
              <a:t>Spring Scheduler</a:t>
            </a:r>
            <a:r>
              <a:rPr lang="ko-KR" altLang="en-US" dirty="0"/>
              <a:t>를 활용한 배치 </a:t>
            </a:r>
            <a:r>
              <a:rPr lang="ko-KR" altLang="en-US" dirty="0" err="1"/>
              <a:t>처리실</a:t>
            </a:r>
            <a:r>
              <a:rPr lang="ko-KR" altLang="en-US" dirty="0"/>
              <a:t> 파이프라인을 구축하였습니다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이는 단순한 데이터 조회를 넘어 정해진 주기마다 각 사용자의 마지막 체크인 시점과 활동 패턴을 분석하여 위기 징후를 선제적으로 포착합니다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임계치를 초과한 이상 징후가 발견되면 시스템은 즉시 위기 단계를 격상하고 비상연락망으로 알림을 송출합니다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이 과정에서 가장 큰 기술적 과제는 대량의 데이터를 주기적으로 처리할 때 발생하는 데이터베이스의 부하였습니다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저는 이를 해결하기 위하여 스프링 데이터 </a:t>
            </a:r>
            <a:r>
              <a:rPr lang="en-US" altLang="ko-KR" dirty="0"/>
              <a:t>JPA </a:t>
            </a:r>
            <a:r>
              <a:rPr lang="ko-KR" altLang="en-US" dirty="0"/>
              <a:t>환경에서 복합 </a:t>
            </a:r>
            <a:r>
              <a:rPr lang="ko-KR" altLang="en-US" dirty="0" err="1"/>
              <a:t>인데스</a:t>
            </a:r>
            <a:r>
              <a:rPr lang="ko-KR" altLang="en-US" dirty="0"/>
              <a:t> 튜닝을 진행하였습니다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결과적으로 시스템에 가해지는 부하를 최소화하면서도 누락 없이 정확한 위기 감지가 가능한 최적화된 파이프라인을 완성할 수 있었습니다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1CBD9-B5FB-4538-B5A2-868971ADA8C6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65146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저희가 개발 중인 실제 서비스의 구현 화면을 함께 보시겠습니다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좌측의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이지 모드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스마트 기기 조작에 익숙하지 않은 고령층을 대상으로 설계되었습니다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복잡한 기능은 과감히 덜어내고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큼직한 버튼과 직관적인 텍스트 위주로 화면을 구성하여 단 한 번의 터치만으로도 간편하게 체크인이 가능하도록 구현하였습니다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반면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우측의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노멀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모드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’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활동적인 젊은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 가구를 겨냥하고 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단순한 생존 신고를 넘어 하루 일기 작성이나 데일리 미션 같은 다양한 참여형 콘텐츠를 제공합니다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이러한 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듀얼 모드 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UI'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전략을 통해 라이프라인은 단순한 안전 확인 앱의 틀을 벗어납니다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사용자가 자신의 일상을 기록하고 마스코트와 함께 성장해 나가는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일상의 동반자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로서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어플리케이션을 매일 지속적으로 사용할 강력한 동기를 부여하게 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1CBD9-B5FB-4538-B5A2-868971ADA8C6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266326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마지막으로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라이프라인의 도입을 통해 기대할 수 있는 효과를 세 가지 측면에서 정리해 드리겠습니다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ko-KR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첫째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사회적 안전망의 실질적인 강화입니다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저희의 능동적 체크인 모델과 위기 감지 파이프라인은 고독사의 가장 치명적인 문제인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발견 지연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원천적으로 방지하고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소중한 생명을 구할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골든타임을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확보해 줄 것입니다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ko-KR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둘째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정서적 지지를 통한 자발적 참여 유도입니다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마스코트와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게이미피케이션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요소를 활용해 사용자가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감시받는다는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불쾌감 없이 사회와 연결되어 있다는 유대감을 형성하고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이를 통해 서비스의 지속 가능한 이용을 이끌어낼 수 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ko-KR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셋째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디지털 사각지대 해소입니다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듀얼 모드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UI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와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PWA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기술을 바탕으로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연령이나 디지털 숙련도에 상관없이 누구나 혜택을 누릴 수 있는 포용적인 복지 인프라 구축에 기여할 것입니다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endParaRPr lang="en-US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이어서 저희의 향후 계획을 말씀드리겠습니다</a:t>
            </a:r>
            <a:r>
              <a:rPr lang="en-US" altLang="ko-KR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ko-KR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저희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팀은 본 프로젝트를 단순한 학술적 연구나 프로토타입 단계에 머무르게 하지 않을 것입니다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현재 구축된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백엔드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엔진과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PWA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아키텍처의 안정성을 더욱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고도화함과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동시에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베타 테스트를 통해 실사용자들의 피드백을 면밀히 수렴할 예정입니다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특히 사용자가 서비스에 매일 즐겁게 접속할 수 있도록 동기부여 로직을 지속적으로 연구하여 다양한 기능을 추가할 계획입니다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저희의 최종 목표는 라이프라인을 정식 출시하여 도움이 필요한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 가구가 일상에서 즉각 활용할 수 있는 실질적인 안전망을 제공하는 것입니다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출시 이후에는 지자체와의 긴밀한 협력을 통해 실제 공공복지 현장에서 본 플랫폼이 적극 활용될 수 있도록 서비스를 끊임없이 발전시켜 나가겠습니다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1CBD9-B5FB-4538-B5A2-868971ADA8C6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19782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저희 라이프라인은 단순한 기술적 구현을 넘어 </a:t>
            </a:r>
            <a:r>
              <a:rPr lang="en-US" altLang="ko-KR" dirty="0"/>
              <a:t>1</a:t>
            </a:r>
            <a:r>
              <a:rPr lang="ko-KR" altLang="en-US" dirty="0"/>
              <a:t>인 가구가 사회와 단절되지 않도록 돕는 가장 따뜻하고 능동적인 연결고리가 될 것입니다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이 연구 프로젝트가 고독사라는 사회적 아픔을 치유하는 데 작은 보탬이 되기를 진심으로 바랍니다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라이프라인이 </a:t>
            </a:r>
            <a:r>
              <a:rPr lang="en-US" altLang="ko-KR" dirty="0"/>
              <a:t>1</a:t>
            </a:r>
            <a:r>
              <a:rPr lang="ko-KR" altLang="en-US" dirty="0"/>
              <a:t>인 가구의 소중한 생명을 지키는 </a:t>
            </a:r>
            <a:r>
              <a:rPr lang="ko-KR" altLang="en-US" dirty="0" err="1"/>
              <a:t>골든타임을</a:t>
            </a:r>
            <a:r>
              <a:rPr lang="ko-KR" altLang="en-US" dirty="0"/>
              <a:t> 확보하는 실질적인 대안이 되기를 기대하며</a:t>
            </a:r>
            <a:r>
              <a:rPr lang="en-US" altLang="ko-KR" dirty="0"/>
              <a:t>, </a:t>
            </a:r>
            <a:r>
              <a:rPr lang="ko-KR" altLang="en-US" dirty="0"/>
              <a:t>이상으로 </a:t>
            </a:r>
            <a:r>
              <a:rPr lang="en-US" altLang="ko-KR" dirty="0"/>
              <a:t>2026</a:t>
            </a:r>
            <a:r>
              <a:rPr lang="ko-KR" altLang="en-US" dirty="0"/>
              <a:t>년도 </a:t>
            </a:r>
            <a:r>
              <a:rPr lang="en-US" altLang="ko-KR" dirty="0"/>
              <a:t>ASK </a:t>
            </a:r>
            <a:r>
              <a:rPr lang="ko-KR" altLang="en-US" dirty="0"/>
              <a:t>정보처리학회 춘계학술발표대회의 발표를 모두 마치겠습니다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긴 시간 경청해 주셔서 대단히 감사합니다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1CBD9-B5FB-4538-B5A2-868971ADA8C6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87986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6.png"/><Relationship Id="rId18" Type="http://schemas.openxmlformats.org/officeDocument/2006/relationships/image" Target="../media/image21.png"/><Relationship Id="rId26" Type="http://schemas.openxmlformats.org/officeDocument/2006/relationships/image" Target="../media/image29.png"/><Relationship Id="rId21" Type="http://schemas.openxmlformats.org/officeDocument/2006/relationships/image" Target="../media/image24.png"/><Relationship Id="rId34" Type="http://schemas.openxmlformats.org/officeDocument/2006/relationships/image" Target="../media/image37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17" Type="http://schemas.openxmlformats.org/officeDocument/2006/relationships/image" Target="../media/image20.png"/><Relationship Id="rId25" Type="http://schemas.openxmlformats.org/officeDocument/2006/relationships/image" Target="../media/image28.png"/><Relationship Id="rId33" Type="http://schemas.openxmlformats.org/officeDocument/2006/relationships/image" Target="../media/image36.png"/><Relationship Id="rId38" Type="http://schemas.openxmlformats.org/officeDocument/2006/relationships/image" Target="../media/image40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9.png"/><Relationship Id="rId20" Type="http://schemas.openxmlformats.org/officeDocument/2006/relationships/image" Target="../media/image23.png"/><Relationship Id="rId29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24" Type="http://schemas.openxmlformats.org/officeDocument/2006/relationships/image" Target="../media/image27.png"/><Relationship Id="rId32" Type="http://schemas.openxmlformats.org/officeDocument/2006/relationships/image" Target="../media/image35.png"/><Relationship Id="rId37" Type="http://schemas.openxmlformats.org/officeDocument/2006/relationships/image" Target="../media/image2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23" Type="http://schemas.openxmlformats.org/officeDocument/2006/relationships/image" Target="../media/image26.png"/><Relationship Id="rId28" Type="http://schemas.openxmlformats.org/officeDocument/2006/relationships/image" Target="../media/image31.png"/><Relationship Id="rId36" Type="http://schemas.openxmlformats.org/officeDocument/2006/relationships/image" Target="../media/image39.png"/><Relationship Id="rId10" Type="http://schemas.openxmlformats.org/officeDocument/2006/relationships/image" Target="../media/image13.png"/><Relationship Id="rId19" Type="http://schemas.openxmlformats.org/officeDocument/2006/relationships/image" Target="../media/image22.png"/><Relationship Id="rId31" Type="http://schemas.openxmlformats.org/officeDocument/2006/relationships/image" Target="../media/image34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Relationship Id="rId22" Type="http://schemas.openxmlformats.org/officeDocument/2006/relationships/image" Target="../media/image25.png"/><Relationship Id="rId27" Type="http://schemas.openxmlformats.org/officeDocument/2006/relationships/image" Target="../media/image30.png"/><Relationship Id="rId30" Type="http://schemas.openxmlformats.org/officeDocument/2006/relationships/image" Target="../media/image33.png"/><Relationship Id="rId35" Type="http://schemas.openxmlformats.org/officeDocument/2006/relationships/image" Target="../media/image38.png"/><Relationship Id="rId8" Type="http://schemas.openxmlformats.org/officeDocument/2006/relationships/image" Target="../media/image11.png"/><Relationship Id="rId3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49.png"/><Relationship Id="rId18" Type="http://schemas.openxmlformats.org/officeDocument/2006/relationships/image" Target="../media/image53.png"/><Relationship Id="rId3" Type="http://schemas.openxmlformats.org/officeDocument/2006/relationships/image" Target="../media/image41.png"/><Relationship Id="rId21" Type="http://schemas.openxmlformats.org/officeDocument/2006/relationships/image" Target="../media/image2.png"/><Relationship Id="rId7" Type="http://schemas.openxmlformats.org/officeDocument/2006/relationships/image" Target="../media/image44.png"/><Relationship Id="rId12" Type="http://schemas.openxmlformats.org/officeDocument/2006/relationships/image" Target="../media/image48.png"/><Relationship Id="rId17" Type="http://schemas.openxmlformats.org/officeDocument/2006/relationships/image" Target="../media/image52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51.png"/><Relationship Id="rId20" Type="http://schemas.openxmlformats.org/officeDocument/2006/relationships/image" Target="../media/image5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11" Type="http://schemas.openxmlformats.org/officeDocument/2006/relationships/image" Target="../media/image47.png"/><Relationship Id="rId5" Type="http://schemas.openxmlformats.org/officeDocument/2006/relationships/image" Target="../media/image42.png"/><Relationship Id="rId15" Type="http://schemas.openxmlformats.org/officeDocument/2006/relationships/image" Target="../media/image11.png"/><Relationship Id="rId10" Type="http://schemas.openxmlformats.org/officeDocument/2006/relationships/image" Target="../media/image46.png"/><Relationship Id="rId19" Type="http://schemas.openxmlformats.org/officeDocument/2006/relationships/image" Target="../media/image54.png"/><Relationship Id="rId4" Type="http://schemas.openxmlformats.org/officeDocument/2006/relationships/image" Target="../media/image9.png"/><Relationship Id="rId9" Type="http://schemas.openxmlformats.org/officeDocument/2006/relationships/image" Target="../media/image10.png"/><Relationship Id="rId14" Type="http://schemas.openxmlformats.org/officeDocument/2006/relationships/image" Target="../media/image50.png"/><Relationship Id="rId22" Type="http://schemas.openxmlformats.org/officeDocument/2006/relationships/image" Target="../media/image40.png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4.png"/><Relationship Id="rId18" Type="http://schemas.openxmlformats.org/officeDocument/2006/relationships/image" Target="../media/image69.png"/><Relationship Id="rId26" Type="http://schemas.openxmlformats.org/officeDocument/2006/relationships/image" Target="../media/image77.png"/><Relationship Id="rId21" Type="http://schemas.openxmlformats.org/officeDocument/2006/relationships/image" Target="../media/image72.png"/><Relationship Id="rId34" Type="http://schemas.openxmlformats.org/officeDocument/2006/relationships/image" Target="../media/image85.png"/><Relationship Id="rId7" Type="http://schemas.openxmlformats.org/officeDocument/2006/relationships/image" Target="../media/image58.png"/><Relationship Id="rId12" Type="http://schemas.openxmlformats.org/officeDocument/2006/relationships/image" Target="../media/image63.png"/><Relationship Id="rId17" Type="http://schemas.openxmlformats.org/officeDocument/2006/relationships/image" Target="../media/image68.png"/><Relationship Id="rId25" Type="http://schemas.openxmlformats.org/officeDocument/2006/relationships/image" Target="../media/image76.png"/><Relationship Id="rId33" Type="http://schemas.openxmlformats.org/officeDocument/2006/relationships/image" Target="../media/image84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67.png"/><Relationship Id="rId20" Type="http://schemas.openxmlformats.org/officeDocument/2006/relationships/image" Target="../media/image71.png"/><Relationship Id="rId29" Type="http://schemas.openxmlformats.org/officeDocument/2006/relationships/image" Target="../media/image8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7.png"/><Relationship Id="rId11" Type="http://schemas.openxmlformats.org/officeDocument/2006/relationships/image" Target="../media/image62.png"/><Relationship Id="rId24" Type="http://schemas.openxmlformats.org/officeDocument/2006/relationships/image" Target="../media/image75.png"/><Relationship Id="rId32" Type="http://schemas.openxmlformats.org/officeDocument/2006/relationships/image" Target="../media/image83.png"/><Relationship Id="rId37" Type="http://schemas.openxmlformats.org/officeDocument/2006/relationships/image" Target="../media/image40.png"/><Relationship Id="rId5" Type="http://schemas.openxmlformats.org/officeDocument/2006/relationships/image" Target="../media/image11.png"/><Relationship Id="rId15" Type="http://schemas.openxmlformats.org/officeDocument/2006/relationships/image" Target="../media/image66.png"/><Relationship Id="rId23" Type="http://schemas.openxmlformats.org/officeDocument/2006/relationships/image" Target="../media/image74.png"/><Relationship Id="rId28" Type="http://schemas.openxmlformats.org/officeDocument/2006/relationships/image" Target="../media/image79.png"/><Relationship Id="rId36" Type="http://schemas.openxmlformats.org/officeDocument/2006/relationships/image" Target="../media/image2.png"/><Relationship Id="rId10" Type="http://schemas.openxmlformats.org/officeDocument/2006/relationships/image" Target="../media/image61.png"/><Relationship Id="rId19" Type="http://schemas.openxmlformats.org/officeDocument/2006/relationships/image" Target="../media/image70.png"/><Relationship Id="rId31" Type="http://schemas.openxmlformats.org/officeDocument/2006/relationships/image" Target="../media/image82.png"/><Relationship Id="rId4" Type="http://schemas.openxmlformats.org/officeDocument/2006/relationships/image" Target="../media/image9.png"/><Relationship Id="rId9" Type="http://schemas.openxmlformats.org/officeDocument/2006/relationships/image" Target="../media/image60.png"/><Relationship Id="rId14" Type="http://schemas.openxmlformats.org/officeDocument/2006/relationships/image" Target="../media/image65.png"/><Relationship Id="rId22" Type="http://schemas.openxmlformats.org/officeDocument/2006/relationships/image" Target="../media/image73.png"/><Relationship Id="rId27" Type="http://schemas.openxmlformats.org/officeDocument/2006/relationships/image" Target="../media/image78.png"/><Relationship Id="rId30" Type="http://schemas.openxmlformats.org/officeDocument/2006/relationships/image" Target="../media/image81.png"/><Relationship Id="rId35" Type="http://schemas.openxmlformats.org/officeDocument/2006/relationships/image" Target="../media/image86.png"/><Relationship Id="rId8" Type="http://schemas.openxmlformats.org/officeDocument/2006/relationships/image" Target="../media/image59.png"/><Relationship Id="rId3" Type="http://schemas.openxmlformats.org/officeDocument/2006/relationships/image" Target="../media/image5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95.png"/><Relationship Id="rId3" Type="http://schemas.openxmlformats.org/officeDocument/2006/relationships/image" Target="../media/image9.png"/><Relationship Id="rId7" Type="http://schemas.openxmlformats.org/officeDocument/2006/relationships/image" Target="../media/image90.png"/><Relationship Id="rId12" Type="http://schemas.openxmlformats.org/officeDocument/2006/relationships/image" Target="../media/image94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9.png"/><Relationship Id="rId11" Type="http://schemas.openxmlformats.org/officeDocument/2006/relationships/image" Target="../media/image93.png"/><Relationship Id="rId5" Type="http://schemas.openxmlformats.org/officeDocument/2006/relationships/image" Target="../media/image88.png"/><Relationship Id="rId15" Type="http://schemas.openxmlformats.org/officeDocument/2006/relationships/image" Target="../media/image2.png"/><Relationship Id="rId10" Type="http://schemas.openxmlformats.org/officeDocument/2006/relationships/image" Target="../media/image92.png"/><Relationship Id="rId4" Type="http://schemas.openxmlformats.org/officeDocument/2006/relationships/image" Target="../media/image87.png"/><Relationship Id="rId9" Type="http://schemas.openxmlformats.org/officeDocument/2006/relationships/image" Target="../media/image91.png"/><Relationship Id="rId14" Type="http://schemas.openxmlformats.org/officeDocument/2006/relationships/image" Target="../media/image9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13" Type="http://schemas.openxmlformats.org/officeDocument/2006/relationships/image" Target="../media/image105.png"/><Relationship Id="rId18" Type="http://schemas.openxmlformats.org/officeDocument/2006/relationships/image" Target="../media/image110.png"/><Relationship Id="rId26" Type="http://schemas.openxmlformats.org/officeDocument/2006/relationships/image" Target="../media/image40.png"/><Relationship Id="rId3" Type="http://schemas.openxmlformats.org/officeDocument/2006/relationships/image" Target="../media/image9.png"/><Relationship Id="rId21" Type="http://schemas.openxmlformats.org/officeDocument/2006/relationships/image" Target="../media/image112.png"/><Relationship Id="rId7" Type="http://schemas.openxmlformats.org/officeDocument/2006/relationships/image" Target="../media/image99.png"/><Relationship Id="rId12" Type="http://schemas.openxmlformats.org/officeDocument/2006/relationships/image" Target="../media/image104.png"/><Relationship Id="rId17" Type="http://schemas.openxmlformats.org/officeDocument/2006/relationships/image" Target="../media/image109.png"/><Relationship Id="rId25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108.png"/><Relationship Id="rId20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8.png"/><Relationship Id="rId11" Type="http://schemas.openxmlformats.org/officeDocument/2006/relationships/image" Target="../media/image103.png"/><Relationship Id="rId24" Type="http://schemas.openxmlformats.org/officeDocument/2006/relationships/image" Target="../media/image115.png"/><Relationship Id="rId5" Type="http://schemas.openxmlformats.org/officeDocument/2006/relationships/image" Target="../media/image97.png"/><Relationship Id="rId15" Type="http://schemas.openxmlformats.org/officeDocument/2006/relationships/image" Target="../media/image107.png"/><Relationship Id="rId23" Type="http://schemas.openxmlformats.org/officeDocument/2006/relationships/image" Target="../media/image114.png"/><Relationship Id="rId10" Type="http://schemas.openxmlformats.org/officeDocument/2006/relationships/image" Target="../media/image102.png"/><Relationship Id="rId19" Type="http://schemas.openxmlformats.org/officeDocument/2006/relationships/image" Target="../media/image111.png"/><Relationship Id="rId4" Type="http://schemas.openxmlformats.org/officeDocument/2006/relationships/image" Target="../media/image10.png"/><Relationship Id="rId9" Type="http://schemas.openxmlformats.org/officeDocument/2006/relationships/image" Target="../media/image101.png"/><Relationship Id="rId14" Type="http://schemas.openxmlformats.org/officeDocument/2006/relationships/image" Target="../media/image106.png"/><Relationship Id="rId22" Type="http://schemas.openxmlformats.org/officeDocument/2006/relationships/image" Target="../media/image11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openxmlformats.org/officeDocument/2006/relationships/image" Target="../media/image121.png"/><Relationship Id="rId18" Type="http://schemas.openxmlformats.org/officeDocument/2006/relationships/image" Target="../media/image126.png"/><Relationship Id="rId26" Type="http://schemas.openxmlformats.org/officeDocument/2006/relationships/image" Target="../media/image40.png"/><Relationship Id="rId3" Type="http://schemas.openxmlformats.org/officeDocument/2006/relationships/image" Target="../media/image9.png"/><Relationship Id="rId21" Type="http://schemas.openxmlformats.org/officeDocument/2006/relationships/image" Target="../media/image129.png"/><Relationship Id="rId7" Type="http://schemas.openxmlformats.org/officeDocument/2006/relationships/image" Target="../media/image117.png"/><Relationship Id="rId12" Type="http://schemas.openxmlformats.org/officeDocument/2006/relationships/image" Target="../media/image120.png"/><Relationship Id="rId17" Type="http://schemas.openxmlformats.org/officeDocument/2006/relationships/image" Target="../media/image125.png"/><Relationship Id="rId25" Type="http://schemas.openxmlformats.org/officeDocument/2006/relationships/image" Target="../media/image133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124.png"/><Relationship Id="rId20" Type="http://schemas.openxmlformats.org/officeDocument/2006/relationships/image" Target="../media/image1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6.png"/><Relationship Id="rId11" Type="http://schemas.openxmlformats.org/officeDocument/2006/relationships/image" Target="../media/image119.png"/><Relationship Id="rId24" Type="http://schemas.openxmlformats.org/officeDocument/2006/relationships/image" Target="../media/image132.png"/><Relationship Id="rId5" Type="http://schemas.openxmlformats.org/officeDocument/2006/relationships/image" Target="../media/image42.png"/><Relationship Id="rId15" Type="http://schemas.openxmlformats.org/officeDocument/2006/relationships/image" Target="../media/image123.png"/><Relationship Id="rId23" Type="http://schemas.openxmlformats.org/officeDocument/2006/relationships/image" Target="../media/image131.png"/><Relationship Id="rId10" Type="http://schemas.openxmlformats.org/officeDocument/2006/relationships/image" Target="../media/image118.png"/><Relationship Id="rId19" Type="http://schemas.openxmlformats.org/officeDocument/2006/relationships/image" Target="../media/image127.png"/><Relationship Id="rId4" Type="http://schemas.openxmlformats.org/officeDocument/2006/relationships/image" Target="../media/image10.png"/><Relationship Id="rId9" Type="http://schemas.openxmlformats.org/officeDocument/2006/relationships/image" Target="../media/image41.png"/><Relationship Id="rId14" Type="http://schemas.openxmlformats.org/officeDocument/2006/relationships/image" Target="../media/image122.png"/><Relationship Id="rId22" Type="http://schemas.openxmlformats.org/officeDocument/2006/relationships/image" Target="../media/image13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8.png"/><Relationship Id="rId13" Type="http://schemas.openxmlformats.org/officeDocument/2006/relationships/image" Target="../media/image2.png"/><Relationship Id="rId3" Type="http://schemas.openxmlformats.org/officeDocument/2006/relationships/image" Target="../media/image9.png"/><Relationship Id="rId7" Type="http://schemas.openxmlformats.org/officeDocument/2006/relationships/image" Target="../media/image137.png"/><Relationship Id="rId12" Type="http://schemas.openxmlformats.org/officeDocument/2006/relationships/image" Target="../media/image14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6.png"/><Relationship Id="rId11" Type="http://schemas.openxmlformats.org/officeDocument/2006/relationships/image" Target="../media/image140.png"/><Relationship Id="rId5" Type="http://schemas.openxmlformats.org/officeDocument/2006/relationships/image" Target="../media/image135.png"/><Relationship Id="rId10" Type="http://schemas.openxmlformats.org/officeDocument/2006/relationships/image" Target="../media/image139.png"/><Relationship Id="rId4" Type="http://schemas.openxmlformats.org/officeDocument/2006/relationships/image" Target="../media/image134.png"/><Relationship Id="rId9" Type="http://schemas.openxmlformats.org/officeDocument/2006/relationships/image" Target="../media/image11.png"/><Relationship Id="rId14" Type="http://schemas.openxmlformats.org/officeDocument/2006/relationships/image" Target="../media/image4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47.png"/><Relationship Id="rId3" Type="http://schemas.openxmlformats.org/officeDocument/2006/relationships/image" Target="../media/image9.png"/><Relationship Id="rId7" Type="http://schemas.openxmlformats.org/officeDocument/2006/relationships/image" Target="../media/image142.png"/><Relationship Id="rId12" Type="http://schemas.openxmlformats.org/officeDocument/2006/relationships/image" Target="../media/image146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6.png"/><Relationship Id="rId11" Type="http://schemas.openxmlformats.org/officeDocument/2006/relationships/image" Target="../media/image145.png"/><Relationship Id="rId5" Type="http://schemas.openxmlformats.org/officeDocument/2006/relationships/image" Target="../media/image135.png"/><Relationship Id="rId15" Type="http://schemas.openxmlformats.org/officeDocument/2006/relationships/image" Target="../media/image2.png"/><Relationship Id="rId10" Type="http://schemas.openxmlformats.org/officeDocument/2006/relationships/image" Target="../media/image144.png"/><Relationship Id="rId4" Type="http://schemas.openxmlformats.org/officeDocument/2006/relationships/image" Target="../media/image134.png"/><Relationship Id="rId9" Type="http://schemas.openxmlformats.org/officeDocument/2006/relationships/image" Target="../media/image143.png"/><Relationship Id="rId14" Type="http://schemas.openxmlformats.org/officeDocument/2006/relationships/image" Target="../media/image14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1.png"/><Relationship Id="rId13" Type="http://schemas.openxmlformats.org/officeDocument/2006/relationships/image" Target="../media/image156.png"/><Relationship Id="rId18" Type="http://schemas.openxmlformats.org/officeDocument/2006/relationships/image" Target="../media/image2.png"/><Relationship Id="rId3" Type="http://schemas.openxmlformats.org/officeDocument/2006/relationships/image" Target="../media/image149.png"/><Relationship Id="rId21" Type="http://schemas.openxmlformats.org/officeDocument/2006/relationships/image" Target="../media/image40.png"/><Relationship Id="rId7" Type="http://schemas.openxmlformats.org/officeDocument/2006/relationships/image" Target="../media/image150.png"/><Relationship Id="rId12" Type="http://schemas.openxmlformats.org/officeDocument/2006/relationships/image" Target="../media/image155.png"/><Relationship Id="rId17" Type="http://schemas.openxmlformats.org/officeDocument/2006/relationships/image" Target="../media/image160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159.png"/><Relationship Id="rId20" Type="http://schemas.openxmlformats.org/officeDocument/2006/relationships/image" Target="../media/image16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0.png"/><Relationship Id="rId11" Type="http://schemas.openxmlformats.org/officeDocument/2006/relationships/image" Target="../media/image154.png"/><Relationship Id="rId5" Type="http://schemas.openxmlformats.org/officeDocument/2006/relationships/image" Target="../media/image11.png"/><Relationship Id="rId15" Type="http://schemas.openxmlformats.org/officeDocument/2006/relationships/image" Target="../media/image158.png"/><Relationship Id="rId10" Type="http://schemas.openxmlformats.org/officeDocument/2006/relationships/image" Target="../media/image153.png"/><Relationship Id="rId19" Type="http://schemas.openxmlformats.org/officeDocument/2006/relationships/image" Target="../media/image161.png"/><Relationship Id="rId4" Type="http://schemas.openxmlformats.org/officeDocument/2006/relationships/image" Target="../media/image9.png"/><Relationship Id="rId9" Type="http://schemas.openxmlformats.org/officeDocument/2006/relationships/image" Target="../media/image152.png"/><Relationship Id="rId14" Type="http://schemas.openxmlformats.org/officeDocument/2006/relationships/image" Target="../media/image15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6.png"/><Relationship Id="rId13" Type="http://schemas.openxmlformats.org/officeDocument/2006/relationships/image" Target="../media/image170.png"/><Relationship Id="rId18" Type="http://schemas.openxmlformats.org/officeDocument/2006/relationships/image" Target="../media/image174.png"/><Relationship Id="rId26" Type="http://schemas.openxmlformats.org/officeDocument/2006/relationships/image" Target="../media/image182.png"/><Relationship Id="rId3" Type="http://schemas.openxmlformats.org/officeDocument/2006/relationships/image" Target="../media/image9.png"/><Relationship Id="rId21" Type="http://schemas.openxmlformats.org/officeDocument/2006/relationships/image" Target="../media/image177.png"/><Relationship Id="rId7" Type="http://schemas.openxmlformats.org/officeDocument/2006/relationships/image" Target="../media/image165.png"/><Relationship Id="rId12" Type="http://schemas.openxmlformats.org/officeDocument/2006/relationships/image" Target="../media/image169.png"/><Relationship Id="rId17" Type="http://schemas.openxmlformats.org/officeDocument/2006/relationships/image" Target="../media/image173.png"/><Relationship Id="rId25" Type="http://schemas.openxmlformats.org/officeDocument/2006/relationships/image" Target="../media/image181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2.png"/><Relationship Id="rId20" Type="http://schemas.openxmlformats.org/officeDocument/2006/relationships/image" Target="../media/image17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4.png"/><Relationship Id="rId11" Type="http://schemas.openxmlformats.org/officeDocument/2006/relationships/image" Target="../media/image168.png"/><Relationship Id="rId24" Type="http://schemas.openxmlformats.org/officeDocument/2006/relationships/image" Target="../media/image180.png"/><Relationship Id="rId5" Type="http://schemas.openxmlformats.org/officeDocument/2006/relationships/image" Target="../media/image163.png"/><Relationship Id="rId15" Type="http://schemas.openxmlformats.org/officeDocument/2006/relationships/image" Target="../media/image172.png"/><Relationship Id="rId23" Type="http://schemas.openxmlformats.org/officeDocument/2006/relationships/image" Target="../media/image179.png"/><Relationship Id="rId10" Type="http://schemas.openxmlformats.org/officeDocument/2006/relationships/image" Target="../media/image167.png"/><Relationship Id="rId19" Type="http://schemas.openxmlformats.org/officeDocument/2006/relationships/image" Target="../media/image175.png"/><Relationship Id="rId4" Type="http://schemas.openxmlformats.org/officeDocument/2006/relationships/image" Target="../media/image138.png"/><Relationship Id="rId9" Type="http://schemas.openxmlformats.org/officeDocument/2006/relationships/image" Target="../media/image117.png"/><Relationship Id="rId14" Type="http://schemas.openxmlformats.org/officeDocument/2006/relationships/image" Target="../media/image171.png"/><Relationship Id="rId22" Type="http://schemas.openxmlformats.org/officeDocument/2006/relationships/image" Target="../media/image178.png"/><Relationship Id="rId27" Type="http://schemas.openxmlformats.org/officeDocument/2006/relationships/image" Target="../media/image4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3.png"/><Relationship Id="rId7" Type="http://schemas.openxmlformats.org/officeDocument/2006/relationships/image" Target="../media/image18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5" Type="http://schemas.openxmlformats.org/officeDocument/2006/relationships/image" Target="../media/image184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3400" y="5676900"/>
            <a:ext cx="18249900" cy="1181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77000" y="5321300"/>
            <a:ext cx="1905000" cy="508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54500" y="12357100"/>
            <a:ext cx="20231100" cy="508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9800" y="11023600"/>
            <a:ext cx="7162800" cy="7874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9800" y="11798300"/>
            <a:ext cx="3365500" cy="800100"/>
          </a:xfrm>
          <a:prstGeom prst="rect">
            <a:avLst/>
          </a:prstGeom>
        </p:spPr>
      </p:pic>
      <p:sp>
        <p:nvSpPr>
          <p:cNvPr id="18" name="TextBox 7">
            <a:extLst>
              <a:ext uri="{FF2B5EF4-FFF2-40B4-BE49-F238E27FC236}">
                <a16:creationId xmlns:a16="http://schemas.microsoft.com/office/drawing/2014/main" id="{0391B8DE-250D-CC9F-BA83-8DF942D6927B}"/>
              </a:ext>
            </a:extLst>
          </p:cNvPr>
          <p:cNvSpPr txBox="1"/>
          <p:nvPr/>
        </p:nvSpPr>
        <p:spPr>
          <a:xfrm>
            <a:off x="7245350" y="5118100"/>
            <a:ext cx="9893300" cy="711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4000" b="1" i="0" u="none" strike="noStrike" dirty="0" err="1">
                <a:solidFill>
                  <a:srgbClr val="000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NanumBarunGothic"/>
              </a:rPr>
              <a:t>한국정보통신학회</a:t>
            </a:r>
            <a:r>
              <a:rPr lang="en-US" sz="4000" b="1" i="0" u="none" strike="noStrike" dirty="0">
                <a:solidFill>
                  <a:srgbClr val="000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NanumBarunGothic"/>
              </a:rPr>
              <a:t> 제59회 </a:t>
            </a:r>
            <a:r>
              <a:rPr lang="en-US" sz="4000" b="1" i="0" u="none" strike="noStrike" dirty="0" err="1">
                <a:solidFill>
                  <a:srgbClr val="000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NanumBarunGothic"/>
              </a:rPr>
              <a:t>춘계종합학술대회</a:t>
            </a:r>
            <a:endParaRPr lang="en-US" sz="4000" b="1" i="0" u="none" strike="noStrike" dirty="0">
              <a:solidFill>
                <a:srgbClr val="000000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  <a:cs typeface="NanumBarunGoth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19000" y="2819400"/>
            <a:ext cx="5753100" cy="10185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51500" y="2819400"/>
            <a:ext cx="5753100" cy="101854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9200" y="2819400"/>
            <a:ext cx="5753100" cy="101854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9400" y="2819400"/>
            <a:ext cx="5753100" cy="101854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215900" y="2349500"/>
            <a:ext cx="20320000" cy="38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9400" y="1206500"/>
            <a:ext cx="127000" cy="6350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90700" y="13487400"/>
            <a:ext cx="22834600" cy="38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6400" y="939800"/>
            <a:ext cx="3517900" cy="12319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57300" y="3060700"/>
            <a:ext cx="3810000" cy="10160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65300" y="3162300"/>
            <a:ext cx="2781300" cy="8255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77100" y="3060700"/>
            <a:ext cx="3810000" cy="10160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785100" y="3162300"/>
            <a:ext cx="2781300" cy="8255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3296900" y="3060700"/>
            <a:ext cx="3810000" cy="10160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3817600" y="3162300"/>
            <a:ext cx="2781300" cy="8255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9316700" y="3060700"/>
            <a:ext cx="3810000" cy="10160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9837400" y="3162300"/>
            <a:ext cx="2781300" cy="8255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171700" y="4432300"/>
            <a:ext cx="1981200" cy="19812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527300" y="4800600"/>
            <a:ext cx="1257300" cy="12573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46100" y="6769100"/>
            <a:ext cx="5219700" cy="6096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46100" y="7734300"/>
            <a:ext cx="5219700" cy="254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46100" y="8331200"/>
            <a:ext cx="5219700" cy="40259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191500" y="4432300"/>
            <a:ext cx="1981200" cy="19812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565900" y="6769100"/>
            <a:ext cx="5219700" cy="6096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565900" y="7734300"/>
            <a:ext cx="5219700" cy="254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553200" y="8255000"/>
            <a:ext cx="5245100" cy="4178300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4211300" y="4432300"/>
            <a:ext cx="1981200" cy="1981200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2585700" y="6769100"/>
            <a:ext cx="5219700" cy="609600"/>
          </a:xfrm>
          <a:prstGeom prst="rect">
            <a:avLst/>
          </a:prstGeom>
        </p:spPr>
      </p:pic>
      <p:pic>
        <p:nvPicPr>
          <p:cNvPr id="29" name="Picture 29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2598400" y="7734300"/>
            <a:ext cx="5219700" cy="25400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2522200" y="8255000"/>
            <a:ext cx="5346700" cy="4025900"/>
          </a:xfrm>
          <a:prstGeom prst="rect">
            <a:avLst/>
          </a:prstGeom>
        </p:spPr>
      </p:pic>
      <p:pic>
        <p:nvPicPr>
          <p:cNvPr id="31" name="Picture 31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20231100" y="4432300"/>
            <a:ext cx="1981200" cy="1981200"/>
          </a:xfrm>
          <a:prstGeom prst="rect">
            <a:avLst/>
          </a:prstGeom>
        </p:spPr>
      </p:pic>
      <p:pic>
        <p:nvPicPr>
          <p:cNvPr id="32" name="Picture 32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8618200" y="6769100"/>
            <a:ext cx="5219700" cy="609600"/>
          </a:xfrm>
          <a:prstGeom prst="rect">
            <a:avLst/>
          </a:prstGeom>
        </p:spPr>
      </p:pic>
      <p:pic>
        <p:nvPicPr>
          <p:cNvPr id="33" name="Picture 33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8618200" y="7734300"/>
            <a:ext cx="5219700" cy="25400"/>
          </a:xfrm>
          <a:prstGeom prst="rect">
            <a:avLst/>
          </a:prstGeom>
        </p:spPr>
      </p:pic>
      <p:pic>
        <p:nvPicPr>
          <p:cNvPr id="34" name="Picture 34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8618200" y="8255000"/>
            <a:ext cx="5219700" cy="4025900"/>
          </a:xfrm>
          <a:prstGeom prst="rect">
            <a:avLst/>
          </a:prstGeom>
        </p:spPr>
      </p:pic>
      <p:pic>
        <p:nvPicPr>
          <p:cNvPr id="35" name="Picture 35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14808200" y="4851400"/>
            <a:ext cx="787400" cy="1143000"/>
          </a:xfrm>
          <a:prstGeom prst="rect">
            <a:avLst/>
          </a:prstGeom>
        </p:spPr>
      </p:pic>
      <p:pic>
        <p:nvPicPr>
          <p:cNvPr id="36" name="Picture 36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8559800" y="4826000"/>
            <a:ext cx="1244600" cy="1244600"/>
          </a:xfrm>
          <a:prstGeom prst="rect">
            <a:avLst/>
          </a:prstGeom>
        </p:spPr>
      </p:pic>
      <p:pic>
        <p:nvPicPr>
          <p:cNvPr id="37" name="Picture 37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20828000" y="4851400"/>
            <a:ext cx="787400" cy="1143000"/>
          </a:xfrm>
          <a:prstGeom prst="rect">
            <a:avLst/>
          </a:prstGeom>
        </p:spPr>
      </p:pic>
      <p:pic>
        <p:nvPicPr>
          <p:cNvPr id="38" name="Picture 38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22199600" y="190500"/>
            <a:ext cx="1905000" cy="508000"/>
          </a:xfrm>
          <a:prstGeom prst="rect">
            <a:avLst/>
          </a:prstGeom>
        </p:spPr>
      </p:pic>
      <p:pic>
        <p:nvPicPr>
          <p:cNvPr id="39" name="Picture 39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279400" y="13169900"/>
            <a:ext cx="1511300" cy="5461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3900" y="2692400"/>
            <a:ext cx="7683500" cy="104775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15900" y="2349500"/>
            <a:ext cx="20320000" cy="381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9400" y="2692400"/>
            <a:ext cx="7683500" cy="10477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79000" y="3149600"/>
            <a:ext cx="4826000" cy="8255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6900" y="3149600"/>
            <a:ext cx="7061200" cy="8255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4500" y="4559300"/>
            <a:ext cx="7353300" cy="1308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9400" y="1206500"/>
            <a:ext cx="127000" cy="6350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408400" y="2692400"/>
            <a:ext cx="7683500" cy="104775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446500" y="11925300"/>
            <a:ext cx="7696200" cy="10922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20100" y="12293600"/>
            <a:ext cx="7569200" cy="3302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7183100" y="3149600"/>
            <a:ext cx="6159500" cy="8255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17500" y="12103100"/>
            <a:ext cx="7632700" cy="7112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06400" y="939800"/>
            <a:ext cx="4292600" cy="12319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790700" y="13487400"/>
            <a:ext cx="22834600" cy="381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788400" y="4622800"/>
            <a:ext cx="6845300" cy="11811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6865600" y="4622800"/>
            <a:ext cx="6794500" cy="11811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712200" y="6426200"/>
            <a:ext cx="6985000" cy="53340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6764000" y="6426200"/>
            <a:ext cx="6985000" cy="53340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60400" y="6426200"/>
            <a:ext cx="6985000" cy="53340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2199600" y="190500"/>
            <a:ext cx="1905000" cy="5080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79400" y="13169900"/>
            <a:ext cx="1511300" cy="5461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400" y="1206500"/>
            <a:ext cx="127000" cy="635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15900" y="2349500"/>
            <a:ext cx="20320000" cy="381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90700" y="13487400"/>
            <a:ext cx="22834600" cy="38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80500" y="2844800"/>
            <a:ext cx="6223000" cy="889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47200" y="2933700"/>
            <a:ext cx="5702300" cy="7112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6400" y="939800"/>
            <a:ext cx="5054600" cy="12319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075400" y="2895600"/>
            <a:ext cx="2603500" cy="7747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35100" y="2933700"/>
            <a:ext cx="5130800" cy="7112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79400" y="4521200"/>
            <a:ext cx="5715000" cy="9525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79400" y="5600700"/>
            <a:ext cx="23825200" cy="254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79400" y="6311900"/>
            <a:ext cx="23825200" cy="11049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79400" y="6311900"/>
            <a:ext cx="5715000" cy="9525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79400" y="7391400"/>
            <a:ext cx="23825200" cy="254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79400" y="8089900"/>
            <a:ext cx="5715000" cy="9525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79400" y="9169400"/>
            <a:ext cx="23825200" cy="254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79400" y="9880600"/>
            <a:ext cx="5715000" cy="8763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79400" y="10883900"/>
            <a:ext cx="23825200" cy="254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79400" y="11658600"/>
            <a:ext cx="5715000" cy="8763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79400" y="12661900"/>
            <a:ext cx="23876000" cy="254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801100" y="4673600"/>
            <a:ext cx="6769100" cy="7112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182100" y="6451600"/>
            <a:ext cx="6134100" cy="7112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541000" y="8229600"/>
            <a:ext cx="3314700" cy="7112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258300" y="10020300"/>
            <a:ext cx="5778500" cy="7112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258300" y="11811000"/>
            <a:ext cx="5994400" cy="7112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7259300" y="4673600"/>
            <a:ext cx="6223000" cy="711200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7056100" y="6451600"/>
            <a:ext cx="6616700" cy="711200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6802100" y="8229600"/>
            <a:ext cx="7137400" cy="711200"/>
          </a:xfrm>
          <a:prstGeom prst="rect">
            <a:avLst/>
          </a:prstGeom>
        </p:spPr>
      </p:pic>
      <p:pic>
        <p:nvPicPr>
          <p:cNvPr id="29" name="Picture 29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6725900" y="10020300"/>
            <a:ext cx="7315200" cy="711200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7170400" y="11811000"/>
            <a:ext cx="6388100" cy="711200"/>
          </a:xfrm>
          <a:prstGeom prst="rect">
            <a:avLst/>
          </a:prstGeom>
        </p:spPr>
      </p:pic>
      <p:pic>
        <p:nvPicPr>
          <p:cNvPr id="31" name="Picture 31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2044700" y="13004800"/>
            <a:ext cx="22313900" cy="330200"/>
          </a:xfrm>
          <a:prstGeom prst="rect">
            <a:avLst/>
          </a:prstGeom>
        </p:spPr>
      </p:pic>
      <p:pic>
        <p:nvPicPr>
          <p:cNvPr id="32" name="Picture 32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901700" y="2844800"/>
            <a:ext cx="6223000" cy="889000"/>
          </a:xfrm>
          <a:prstGeom prst="rect">
            <a:avLst/>
          </a:prstGeom>
        </p:spPr>
      </p:pic>
      <p:pic>
        <p:nvPicPr>
          <p:cNvPr id="33" name="Picture 33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155700" y="2933700"/>
            <a:ext cx="5702300" cy="711200"/>
          </a:xfrm>
          <a:prstGeom prst="rect">
            <a:avLst/>
          </a:prstGeom>
        </p:spPr>
      </p:pic>
      <p:pic>
        <p:nvPicPr>
          <p:cNvPr id="34" name="Picture 34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17259300" y="2844800"/>
            <a:ext cx="6223000" cy="889000"/>
          </a:xfrm>
          <a:prstGeom prst="rect">
            <a:avLst/>
          </a:prstGeom>
        </p:spPr>
      </p:pic>
      <p:pic>
        <p:nvPicPr>
          <p:cNvPr id="35" name="Picture 35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17526000" y="2933700"/>
            <a:ext cx="5702300" cy="711200"/>
          </a:xfrm>
          <a:prstGeom prst="rect">
            <a:avLst/>
          </a:prstGeom>
        </p:spPr>
      </p:pic>
      <p:pic>
        <p:nvPicPr>
          <p:cNvPr id="36" name="Picture 36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22199600" y="190500"/>
            <a:ext cx="1905000" cy="508000"/>
          </a:xfrm>
          <a:prstGeom prst="rect">
            <a:avLst/>
          </a:prstGeom>
        </p:spPr>
      </p:pic>
      <p:pic>
        <p:nvPicPr>
          <p:cNvPr id="37" name="Picture 37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279400" y="13169900"/>
            <a:ext cx="1511300" cy="5461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15900" y="2349500"/>
            <a:ext cx="20320000" cy="38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400" y="1206500"/>
            <a:ext cx="127000" cy="635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6300" y="2882900"/>
            <a:ext cx="9931400" cy="99314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28000" y="7404100"/>
            <a:ext cx="1308100" cy="5969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595100" y="11811000"/>
            <a:ext cx="1193800" cy="596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90700" y="13487400"/>
            <a:ext cx="22834600" cy="38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6400" y="939800"/>
            <a:ext cx="17716500" cy="1231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50200" y="5753100"/>
            <a:ext cx="1651000" cy="16510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960600" y="7404100"/>
            <a:ext cx="1308100" cy="5969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715500" y="5130800"/>
            <a:ext cx="4953000" cy="50292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366500" y="10160000"/>
            <a:ext cx="1651000" cy="16510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4782800" y="5753100"/>
            <a:ext cx="1651000" cy="16510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2199600" y="190500"/>
            <a:ext cx="1905000" cy="5080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79400" y="13169900"/>
            <a:ext cx="1511300" cy="5461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15900" y="2349500"/>
            <a:ext cx="20320000" cy="38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400" y="1206500"/>
            <a:ext cx="127000" cy="635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5400000">
            <a:off x="5359400" y="2768600"/>
            <a:ext cx="330200" cy="64516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-5400000">
            <a:off x="18453100" y="2806700"/>
            <a:ext cx="330200" cy="63754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7">
            <a:alphaModFix amt="70000"/>
          </a:blip>
          <a:stretch>
            <a:fillRect/>
          </a:stretch>
        </p:blipFill>
        <p:spPr>
          <a:xfrm rot="-5400000">
            <a:off x="11925300" y="2768600"/>
            <a:ext cx="330200" cy="64516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8">
            <a:alphaModFix amt="80000"/>
          </a:blip>
          <a:stretch>
            <a:fillRect/>
          </a:stretch>
        </p:blipFill>
        <p:spPr>
          <a:xfrm>
            <a:off x="11874500" y="6565900"/>
            <a:ext cx="635000" cy="6350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542000" y="6565900"/>
            <a:ext cx="635000" cy="6350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97200" y="7620000"/>
            <a:ext cx="5041900" cy="7112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652000" y="7620000"/>
            <a:ext cx="5067300" cy="7112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938000" y="6642100"/>
            <a:ext cx="508000" cy="4953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580100" y="6642100"/>
            <a:ext cx="571500" cy="4953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073400" y="9359900"/>
            <a:ext cx="4889500" cy="9271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271000" y="9359900"/>
            <a:ext cx="5842000" cy="9271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6052800" y="9359900"/>
            <a:ext cx="5613400" cy="9271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207000" y="6565900"/>
            <a:ext cx="635000" cy="6350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270500" y="6642100"/>
            <a:ext cx="508000" cy="4953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6319500" y="7620000"/>
            <a:ext cx="5080000" cy="7112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790700" y="13487400"/>
            <a:ext cx="22834600" cy="381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06400" y="939800"/>
            <a:ext cx="6045200" cy="12319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445000" y="3594100"/>
            <a:ext cx="2159000" cy="21590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1112500" y="3594100"/>
            <a:ext cx="2159000" cy="21590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7780000" y="3594100"/>
            <a:ext cx="2159000" cy="21590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22199600" y="190500"/>
            <a:ext cx="1905000" cy="5080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279400" y="13169900"/>
            <a:ext cx="1511300" cy="5461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15900" y="2349500"/>
            <a:ext cx="20320000" cy="38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400" y="1206500"/>
            <a:ext cx="127000" cy="635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408400" y="2692400"/>
            <a:ext cx="7683500" cy="10477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6400" y="939800"/>
            <a:ext cx="8356600" cy="12319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90700" y="13487400"/>
            <a:ext cx="22834600" cy="38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199600" y="190500"/>
            <a:ext cx="1905000" cy="5080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9400" y="2692400"/>
            <a:ext cx="7683500" cy="104775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82000" y="2692400"/>
            <a:ext cx="7683500" cy="104775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10600" y="10655300"/>
            <a:ext cx="7162800" cy="20193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706100" y="2997200"/>
            <a:ext cx="3022600" cy="8509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706100" y="3009900"/>
            <a:ext cx="3022600" cy="8001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375900" y="5257800"/>
            <a:ext cx="3695700" cy="51054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77900" y="7950200"/>
            <a:ext cx="6299200" cy="44069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616200" y="2997200"/>
            <a:ext cx="3022600" cy="8509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616200" y="3009900"/>
            <a:ext cx="3022600" cy="8001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8745200" y="2997200"/>
            <a:ext cx="3022600" cy="8509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8745200" y="3009900"/>
            <a:ext cx="3022600" cy="8001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714500" y="4127500"/>
            <a:ext cx="4826000" cy="8255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877300" y="4127500"/>
            <a:ext cx="6692900" cy="8255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7551400" y="4064000"/>
            <a:ext cx="5422900" cy="17780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857500" y="5181600"/>
            <a:ext cx="2540000" cy="25400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11200" y="12484100"/>
            <a:ext cx="6819900" cy="5588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6675100" y="10655300"/>
            <a:ext cx="7162800" cy="20193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6764000" y="6565900"/>
            <a:ext cx="6985000" cy="33655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279400" y="13169900"/>
            <a:ext cx="1511300" cy="5461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15900" y="2349500"/>
            <a:ext cx="20320000" cy="38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3500" y="3733800"/>
            <a:ext cx="3987800" cy="723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3500" y="5981700"/>
            <a:ext cx="3987800" cy="7239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03500" y="8242300"/>
            <a:ext cx="3987800" cy="7239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14600" y="10502900"/>
            <a:ext cx="3987800" cy="723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9400" y="1206500"/>
            <a:ext cx="127000" cy="6350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90700" y="13487400"/>
            <a:ext cx="22834600" cy="38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6400" y="939800"/>
            <a:ext cx="20383500" cy="12319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937000" y="11569700"/>
            <a:ext cx="16510000" cy="9525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4500" y="3111500"/>
            <a:ext cx="23495000" cy="74930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2199600" y="190500"/>
            <a:ext cx="1905000" cy="5080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79400" y="13169900"/>
            <a:ext cx="1511300" cy="5461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15900" y="2349500"/>
            <a:ext cx="20320000" cy="38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3500" y="3733800"/>
            <a:ext cx="3987800" cy="723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3500" y="5981700"/>
            <a:ext cx="3987800" cy="7239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03500" y="8242300"/>
            <a:ext cx="3987800" cy="7239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9400" y="1206500"/>
            <a:ext cx="127000" cy="635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90700" y="13487400"/>
            <a:ext cx="22834600" cy="38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6400" y="939800"/>
            <a:ext cx="20383500" cy="1231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4500" y="3111500"/>
            <a:ext cx="23495000" cy="74930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4500" y="11036300"/>
            <a:ext cx="23495000" cy="17780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4630400" y="12014200"/>
            <a:ext cx="736600" cy="6604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74100" y="12014200"/>
            <a:ext cx="736600" cy="6604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882900" y="11849100"/>
            <a:ext cx="1028700" cy="9779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2199600" y="190500"/>
            <a:ext cx="1905000" cy="5080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79400" y="13169900"/>
            <a:ext cx="1511300" cy="5461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400" y="1206500"/>
            <a:ext cx="127000" cy="635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15900" y="2349500"/>
            <a:ext cx="20320000" cy="381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15900" y="2349500"/>
            <a:ext cx="20320000" cy="38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90700" y="13487400"/>
            <a:ext cx="22834600" cy="38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903700" y="3060700"/>
            <a:ext cx="2603500" cy="774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9400" y="2692400"/>
            <a:ext cx="11772900" cy="104775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24200" y="3022600"/>
            <a:ext cx="5715000" cy="8128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16300" y="3060700"/>
            <a:ext cx="5130800" cy="7112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319000" y="2692400"/>
            <a:ext cx="11785600" cy="104775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903700" y="3098800"/>
            <a:ext cx="2603500" cy="7747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8200" y="11772900"/>
            <a:ext cx="10655300" cy="13335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877800" y="11772900"/>
            <a:ext cx="10655300" cy="13335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06400" y="939800"/>
            <a:ext cx="11645900" cy="12319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354300" y="3022600"/>
            <a:ext cx="5715000" cy="8128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5646400" y="3086100"/>
            <a:ext cx="5130800" cy="7112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3690600" y="4140200"/>
            <a:ext cx="3898900" cy="73660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8834100" y="4140200"/>
            <a:ext cx="3898900" cy="73660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2199600" y="190500"/>
            <a:ext cx="1905000" cy="5080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 rot="5399999">
            <a:off x="14401800" y="7874000"/>
            <a:ext cx="7620000" cy="1143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038600" y="4140200"/>
            <a:ext cx="3898900" cy="73660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79400" y="13169900"/>
            <a:ext cx="1511300" cy="5461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15900" y="2349500"/>
            <a:ext cx="20320000" cy="38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400" y="1206500"/>
            <a:ext cx="127000" cy="635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9400" y="2692400"/>
            <a:ext cx="11772900" cy="10477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08100" y="4241800"/>
            <a:ext cx="8559800" cy="8293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86300" y="2997200"/>
            <a:ext cx="3022600" cy="850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02200" y="3060700"/>
            <a:ext cx="2603500" cy="7747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90700" y="13487400"/>
            <a:ext cx="22834600" cy="38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6400" y="939800"/>
            <a:ext cx="10337800" cy="12319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058400" y="7937500"/>
            <a:ext cx="762000" cy="8890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931400" y="7874000"/>
            <a:ext cx="1016000" cy="10160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994900" y="11341100"/>
            <a:ext cx="889000" cy="10922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931400" y="4406900"/>
            <a:ext cx="1016000" cy="8890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867900" y="6172200"/>
            <a:ext cx="1143000" cy="11430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2199600" y="190500"/>
            <a:ext cx="1905000" cy="5080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931400" y="9626600"/>
            <a:ext cx="1016000" cy="10160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2357100" y="2692400"/>
            <a:ext cx="11772900" cy="104775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6713200" y="3035300"/>
            <a:ext cx="3022600" cy="8509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6929100" y="3098800"/>
            <a:ext cx="2603500" cy="7747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7526000" y="4762500"/>
            <a:ext cx="1422400" cy="14224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 rot="5400000">
            <a:off x="17792700" y="8547100"/>
            <a:ext cx="889000" cy="8890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5392400" y="9626600"/>
            <a:ext cx="5753100" cy="12827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5278100" y="6350000"/>
            <a:ext cx="5918200" cy="12827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7526000" y="7797800"/>
            <a:ext cx="1498600" cy="5969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7526000" y="11087100"/>
            <a:ext cx="1651000" cy="5969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279400" y="13169900"/>
            <a:ext cx="1511300" cy="5461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6100" y="5549900"/>
            <a:ext cx="8051800" cy="26035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0700" y="13487400"/>
            <a:ext cx="22834600" cy="381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15900" y="190500"/>
            <a:ext cx="22834600" cy="38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53600" y="2438400"/>
            <a:ext cx="4864100" cy="34798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9400" y="13169900"/>
            <a:ext cx="1511300" cy="546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618700" y="0"/>
            <a:ext cx="1638300" cy="5461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1404</Words>
  <Application>Microsoft Office PowerPoint</Application>
  <PresentationFormat>사용자 지정</PresentationFormat>
  <Paragraphs>87</Paragraphs>
  <Slides>12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7" baseType="lpstr">
      <vt:lpstr>나눔고딕 ExtraBold</vt:lpstr>
      <vt:lpstr>Calibri</vt:lpstr>
      <vt:lpstr>Arial</vt:lpstr>
      <vt:lpstr>맑은 고딕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영훈 권</cp:lastModifiedBy>
  <cp:revision>7</cp:revision>
  <dcterms:created xsi:type="dcterms:W3CDTF">2006-08-16T00:00:00Z</dcterms:created>
  <dcterms:modified xsi:type="dcterms:W3CDTF">2026-05-12T03:26:28Z</dcterms:modified>
</cp:coreProperties>
</file>