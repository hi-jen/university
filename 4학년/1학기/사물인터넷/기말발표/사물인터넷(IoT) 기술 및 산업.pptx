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Noto Sans KR" panose="020B0200000000000000" pitchFamily="50" charset="-127"/>
      <p:regular r:id="rId15"/>
      <p:bold r:id="rId16"/>
    </p:embeddedFont>
    <p:embeddedFont>
      <p:font typeface="Space Grotesk" panose="020B0600000101010101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994" autoAdjust="0"/>
  </p:normalViewPr>
  <p:slideViewPr>
    <p:cSldViewPr snapToGrid="0">
      <p:cViewPr>
        <p:scale>
          <a:sx n="66" d="100"/>
          <a:sy n="66" d="100"/>
        </p:scale>
        <p:origin x="1068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발표를 맡은</a:t>
            </a:r>
            <a:r>
              <a:rPr lang="en-US" altLang="ko-KR" dirty="0"/>
              <a:t> </a:t>
            </a:r>
            <a:r>
              <a:rPr lang="ko-KR" altLang="en-US" dirty="0"/>
              <a:t>권영훈입니다</a:t>
            </a:r>
            <a:r>
              <a:rPr lang="en-US" altLang="ko-KR" dirty="0"/>
              <a:t>. </a:t>
            </a:r>
          </a:p>
          <a:p>
            <a:pPr marL="158750" indent="0">
              <a:buNone/>
            </a:pPr>
            <a:r>
              <a:rPr lang="ko-KR" altLang="en-US" dirty="0"/>
              <a:t>오늘 발표 주제는 </a:t>
            </a:r>
            <a:r>
              <a:rPr lang="en-US" altLang="ko-KR" dirty="0"/>
              <a:t>'</a:t>
            </a:r>
            <a:r>
              <a:rPr lang="ko-KR" altLang="en-US" dirty="0"/>
              <a:t>사물인터넷</a:t>
            </a:r>
            <a:r>
              <a:rPr lang="en-US" altLang="ko-KR" dirty="0"/>
              <a:t>(IoT) </a:t>
            </a:r>
            <a:r>
              <a:rPr lang="ko-KR" altLang="en-US" dirty="0"/>
              <a:t>기술 및 혁신</a:t>
            </a:r>
            <a:r>
              <a:rPr lang="en-US" altLang="ko-KR" dirty="0"/>
              <a:t>'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pPr marL="158750" indent="0">
              <a:buNone/>
            </a:pPr>
            <a:r>
              <a:rPr lang="en-US" altLang="ko-KR" dirty="0"/>
              <a:t>IoT</a:t>
            </a:r>
            <a:r>
              <a:rPr lang="ko-KR" altLang="en-US" dirty="0"/>
              <a:t>의 개념과 특징</a:t>
            </a:r>
            <a:r>
              <a:rPr lang="en-US" altLang="ko-KR" dirty="0"/>
              <a:t>, </a:t>
            </a:r>
            <a:r>
              <a:rPr lang="ko-KR" altLang="en-US" dirty="0"/>
              <a:t>주요 기술</a:t>
            </a:r>
            <a:r>
              <a:rPr lang="en-US" altLang="ko-KR" dirty="0"/>
              <a:t>, </a:t>
            </a:r>
            <a:r>
              <a:rPr lang="ko-KR" altLang="en-US" dirty="0"/>
              <a:t>산업 변화</a:t>
            </a:r>
            <a:r>
              <a:rPr lang="en-US" altLang="ko-KR" dirty="0"/>
              <a:t>, </a:t>
            </a:r>
            <a:r>
              <a:rPr lang="ko-KR" altLang="en-US" dirty="0"/>
              <a:t>발전 방향 순서로 살펴보겠습니다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ko-KR" altLang="en-US" dirty="0"/>
              <a:t>첫 번째 주제는 </a:t>
            </a:r>
            <a:r>
              <a:rPr lang="ko-KR" altLang="en-US" b="1" dirty="0"/>
              <a:t>제</a:t>
            </a:r>
            <a:r>
              <a:rPr lang="en-US" altLang="ko-KR" b="1" dirty="0"/>
              <a:t>4</a:t>
            </a:r>
            <a:r>
              <a:rPr lang="ko-KR" altLang="en-US" b="1" dirty="0"/>
              <a:t>차 산업혁명의 정의와 변천 과정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r>
              <a:rPr lang="en-US" altLang="ko-KR" dirty="0"/>
              <a:t>1</a:t>
            </a:r>
            <a:r>
              <a:rPr lang="ko-KR" altLang="en-US" dirty="0"/>
              <a:t>차 혁명이 증기기관</a:t>
            </a:r>
            <a:r>
              <a:rPr lang="en-US" altLang="ko-KR" dirty="0"/>
              <a:t>, 2</a:t>
            </a:r>
            <a:r>
              <a:rPr lang="ko-KR" altLang="en-US" dirty="0"/>
              <a:t>차가 전기 기반 대량생산</a:t>
            </a:r>
            <a:r>
              <a:rPr lang="en-US" altLang="ko-KR" dirty="0"/>
              <a:t>, 3</a:t>
            </a:r>
            <a:r>
              <a:rPr lang="ko-KR" altLang="en-US" dirty="0"/>
              <a:t>차가 컴퓨터와 자동화였다면</a:t>
            </a:r>
            <a:r>
              <a:rPr lang="en-US" altLang="ko-KR" dirty="0"/>
              <a:t>, </a:t>
            </a:r>
          </a:p>
          <a:p>
            <a:pPr marL="158750" indent="0">
              <a:buNone/>
            </a:pPr>
            <a:r>
              <a:rPr lang="en-US" altLang="ko-KR" dirty="0"/>
              <a:t>4</a:t>
            </a:r>
            <a:r>
              <a:rPr lang="ko-KR" altLang="en-US" dirty="0"/>
              <a:t>차 산업혁명은 </a:t>
            </a:r>
            <a:r>
              <a:rPr lang="en-US" altLang="ko-KR" dirty="0"/>
              <a:t>AI·</a:t>
            </a:r>
            <a:r>
              <a:rPr lang="ko-KR" altLang="en-US" dirty="0"/>
              <a:t>빅데이터</a:t>
            </a:r>
            <a:r>
              <a:rPr lang="en-US" altLang="ko-KR" dirty="0"/>
              <a:t>·IoT</a:t>
            </a:r>
            <a:r>
              <a:rPr lang="ko-KR" altLang="en-US" dirty="0"/>
              <a:t>가 물리 세계와 융합되어 모든 것을 연결하고 </a:t>
            </a:r>
            <a:r>
              <a:rPr lang="ko-KR" altLang="en-US" dirty="0" err="1"/>
              <a:t>지능화하는</a:t>
            </a:r>
            <a:r>
              <a:rPr lang="ko-KR" altLang="en-US" dirty="0"/>
              <a:t> 단계입니다</a:t>
            </a:r>
            <a:r>
              <a:rPr lang="en-US" altLang="ko-KR" dirty="0"/>
              <a:t>. </a:t>
            </a:r>
          </a:p>
          <a:p>
            <a:pPr marL="158750" indent="0">
              <a:buNone/>
            </a:pPr>
            <a:r>
              <a:rPr lang="ko-KR" altLang="en-US" dirty="0"/>
              <a:t>이 변화의 중심에 바로 사물인터넷이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ko-KR" altLang="en-US" dirty="0"/>
              <a:t>다음은 </a:t>
            </a:r>
            <a:r>
              <a:rPr lang="ko-KR" altLang="en-US" b="1" dirty="0"/>
              <a:t>산업별 패러다임 변화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r>
              <a:rPr lang="ko-KR" altLang="en-US" b="1" dirty="0"/>
              <a:t>가전</a:t>
            </a:r>
            <a:r>
              <a:rPr lang="en-US" altLang="ko-KR" b="1" dirty="0"/>
              <a:t>·</a:t>
            </a:r>
            <a:r>
              <a:rPr lang="ko-KR" altLang="en-US" b="1" dirty="0"/>
              <a:t>물류 산업</a:t>
            </a:r>
            <a:r>
              <a:rPr lang="ko-KR" altLang="en-US" dirty="0"/>
              <a:t>에서는 단순 제품 판매에서</a:t>
            </a:r>
            <a:r>
              <a:rPr lang="en-US" altLang="ko-KR" dirty="0"/>
              <a:t>, </a:t>
            </a:r>
            <a:r>
              <a:rPr lang="ko-KR" altLang="en-US" dirty="0"/>
              <a:t>소비 패턴 데이터를 분석해 맞춤형 즉시 배송을 제공하는 지속적 서비스 모델로 전환되고 있습니다</a:t>
            </a:r>
            <a:r>
              <a:rPr lang="en-US" altLang="ko-KR" dirty="0"/>
              <a:t>. </a:t>
            </a:r>
          </a:p>
          <a:p>
            <a:pPr marL="158750" indent="0">
              <a:buNone/>
            </a:pPr>
            <a:r>
              <a:rPr lang="ko-KR" altLang="en-US" b="1" dirty="0"/>
              <a:t>의료</a:t>
            </a:r>
            <a:r>
              <a:rPr lang="en-US" altLang="ko-KR" b="1" dirty="0"/>
              <a:t>·</a:t>
            </a:r>
            <a:r>
              <a:rPr lang="ko-KR" altLang="en-US" b="1" dirty="0"/>
              <a:t>제조 산업</a:t>
            </a:r>
            <a:r>
              <a:rPr lang="ko-KR" altLang="en-US" dirty="0"/>
              <a:t>에서는 </a:t>
            </a:r>
            <a:r>
              <a:rPr lang="en-US" altLang="ko-KR" dirty="0"/>
              <a:t>IBM Watson </a:t>
            </a:r>
            <a:r>
              <a:rPr lang="ko-KR" altLang="en-US" dirty="0"/>
              <a:t>같은 </a:t>
            </a:r>
            <a:r>
              <a:rPr lang="en-US" altLang="ko-KR" dirty="0"/>
              <a:t>AI</a:t>
            </a:r>
            <a:r>
              <a:rPr lang="ko-KR" altLang="en-US" dirty="0"/>
              <a:t>가 조기 진단을 지원하고</a:t>
            </a:r>
            <a:r>
              <a:rPr lang="en-US" altLang="ko-KR" dirty="0"/>
              <a:t>, </a:t>
            </a:r>
            <a:r>
              <a:rPr lang="ko-KR" altLang="en-US" dirty="0"/>
              <a:t>대량생산 체제가 다품종 맞춤 생산으로 바뀌고 있습니다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r>
              <a:rPr lang="ko-KR" altLang="en-US" dirty="0"/>
              <a:t>공통 키워드는 </a:t>
            </a:r>
            <a:r>
              <a:rPr lang="en-US" altLang="ko-KR" dirty="0"/>
              <a:t>'</a:t>
            </a:r>
            <a:r>
              <a:rPr lang="ko-KR" altLang="en-US" dirty="0"/>
              <a:t>사후 대응</a:t>
            </a:r>
            <a:r>
              <a:rPr lang="en-US" altLang="ko-KR" dirty="0"/>
              <a:t>'</a:t>
            </a:r>
            <a:r>
              <a:rPr lang="ko-KR" altLang="en-US" dirty="0"/>
              <a:t>에서 </a:t>
            </a:r>
            <a:r>
              <a:rPr lang="en-US" altLang="ko-KR" dirty="0"/>
              <a:t>'</a:t>
            </a:r>
            <a:r>
              <a:rPr lang="ko-KR" altLang="en-US" dirty="0"/>
              <a:t>사전 예측</a:t>
            </a:r>
            <a:r>
              <a:rPr lang="en-US" altLang="ko-KR" dirty="0"/>
              <a:t>'</a:t>
            </a:r>
            <a:r>
              <a:rPr lang="ko-KR" altLang="en-US" dirty="0"/>
              <a:t>으로의 전환입니다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altLang="ko-KR" b="1" dirty="0"/>
              <a:t>IoT </a:t>
            </a:r>
            <a:r>
              <a:rPr lang="ko-KR" altLang="en-US" b="1" dirty="0"/>
              <a:t>발전 </a:t>
            </a:r>
            <a:r>
              <a:rPr lang="en-US" altLang="ko-KR" b="1" dirty="0"/>
              <a:t>3</a:t>
            </a:r>
            <a:r>
              <a:rPr lang="ko-KR" altLang="en-US" b="1" dirty="0"/>
              <a:t>단계</a:t>
            </a:r>
            <a:r>
              <a:rPr lang="ko-KR" altLang="en-US" dirty="0"/>
              <a:t>를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endParaRPr lang="en-US" altLang="ko-KR" dirty="0"/>
          </a:p>
          <a:p>
            <a:pPr marL="158750" indent="0">
              <a:buNone/>
            </a:pPr>
            <a:r>
              <a:rPr lang="en-US" altLang="ko-KR" b="1" dirty="0"/>
              <a:t>1</a:t>
            </a:r>
            <a:r>
              <a:rPr lang="ko-KR" altLang="en-US" b="1" dirty="0"/>
              <a:t>단계 디바이스 연결</a:t>
            </a:r>
            <a:r>
              <a:rPr lang="en-US" altLang="ko-KR" dirty="0"/>
              <a:t>: RFID·</a:t>
            </a:r>
            <a:r>
              <a:rPr lang="ko-KR" altLang="en-US" dirty="0"/>
              <a:t>센서로 데이터를 수집하고 실시간 상태를 모니터링합니다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r>
              <a:rPr lang="en-US" altLang="ko-KR" b="1" dirty="0"/>
              <a:t>2</a:t>
            </a:r>
            <a:r>
              <a:rPr lang="ko-KR" altLang="en-US" b="1" dirty="0"/>
              <a:t>단계 인프라 구축</a:t>
            </a:r>
            <a:r>
              <a:rPr lang="en-US" altLang="ko-KR" dirty="0"/>
              <a:t>: </a:t>
            </a:r>
            <a:r>
              <a:rPr lang="ko-KR" altLang="en-US" dirty="0"/>
              <a:t>빅데이터 분석 플랫폼과 </a:t>
            </a:r>
            <a:r>
              <a:rPr lang="en-US" altLang="ko-KR" dirty="0"/>
              <a:t>IoT </a:t>
            </a:r>
            <a:r>
              <a:rPr lang="ko-KR" altLang="en-US" dirty="0"/>
              <a:t>미들웨어로 데이터에서 가치를 창출합니다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r>
              <a:rPr lang="en-US" altLang="ko-KR" b="1" dirty="0"/>
              <a:t>3</a:t>
            </a:r>
            <a:r>
              <a:rPr lang="ko-KR" altLang="en-US" b="1" dirty="0"/>
              <a:t>단계 산업 혁신 솔루션</a:t>
            </a:r>
            <a:r>
              <a:rPr lang="en-US" altLang="ko-KR" dirty="0"/>
              <a:t>: </a:t>
            </a:r>
            <a:r>
              <a:rPr lang="ko-KR" altLang="en-US" dirty="0"/>
              <a:t>클라우드</a:t>
            </a:r>
            <a:r>
              <a:rPr lang="en-US" altLang="ko-KR" dirty="0"/>
              <a:t>·</a:t>
            </a:r>
            <a:r>
              <a:rPr lang="ko-KR" altLang="en-US" dirty="0" err="1"/>
              <a:t>엣지</a:t>
            </a:r>
            <a:r>
              <a:rPr lang="ko-KR" altLang="en-US" dirty="0"/>
              <a:t> 컴퓨팅 기반의 자율주행</a:t>
            </a:r>
            <a:r>
              <a:rPr lang="en-US" altLang="ko-KR" dirty="0"/>
              <a:t>·</a:t>
            </a:r>
            <a:r>
              <a:rPr lang="ko-KR" altLang="en-US" dirty="0" err="1"/>
              <a:t>스마트팩토리로</a:t>
            </a:r>
            <a:r>
              <a:rPr lang="ko-KR" altLang="en-US" dirty="0"/>
              <a:t> 고도화됩니다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endParaRPr lang="en-US" altLang="ko-KR" dirty="0"/>
          </a:p>
          <a:p>
            <a:pPr marL="158750" indent="0">
              <a:buNone/>
            </a:pPr>
            <a:r>
              <a:rPr lang="ko-KR" altLang="en-US" dirty="0"/>
              <a:t>현재 선도 기업들은 </a:t>
            </a:r>
            <a:r>
              <a:rPr lang="en-US" altLang="ko-KR" dirty="0"/>
              <a:t>2</a:t>
            </a:r>
            <a:r>
              <a:rPr lang="ko-KR" altLang="en-US" dirty="0"/>
              <a:t>단계에서 </a:t>
            </a:r>
            <a:r>
              <a:rPr lang="en-US" altLang="ko-KR" dirty="0"/>
              <a:t>3</a:t>
            </a:r>
            <a:r>
              <a:rPr lang="ko-KR" altLang="en-US" dirty="0"/>
              <a:t>단계로 진입하는 전환점에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ko-KR" altLang="en-US" b="1" dirty="0" err="1"/>
              <a:t>스마트팩토리</a:t>
            </a:r>
            <a:r>
              <a:rPr lang="ko-KR" altLang="en-US" b="1" dirty="0"/>
              <a:t> 제어 계층의 진화</a:t>
            </a:r>
            <a:r>
              <a:rPr lang="ko-KR" altLang="en-US" dirty="0"/>
              <a:t>를 다룹니다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r>
              <a:rPr lang="ko-KR" altLang="en-US" dirty="0"/>
              <a:t>기존에는 </a:t>
            </a:r>
            <a:r>
              <a:rPr lang="en-US" altLang="ko-KR" dirty="0"/>
              <a:t>ERP(</a:t>
            </a:r>
            <a:r>
              <a:rPr lang="ko-KR" altLang="en-US" dirty="0"/>
              <a:t>계획</a:t>
            </a:r>
            <a:r>
              <a:rPr lang="en-US" altLang="ko-KR" dirty="0"/>
              <a:t>), MES(</a:t>
            </a:r>
            <a:r>
              <a:rPr lang="ko-KR" altLang="en-US" dirty="0"/>
              <a:t>실행</a:t>
            </a:r>
            <a:r>
              <a:rPr lang="en-US" altLang="ko-KR" dirty="0"/>
              <a:t>), PLC(</a:t>
            </a:r>
            <a:r>
              <a:rPr lang="ko-KR" altLang="en-US" dirty="0"/>
              <a:t>제어</a:t>
            </a:r>
            <a:r>
              <a:rPr lang="en-US" altLang="ko-KR" dirty="0"/>
              <a:t>)</a:t>
            </a:r>
            <a:r>
              <a:rPr lang="ko-KR" altLang="en-US" dirty="0"/>
              <a:t>가 각각 독립 운용되었지만</a:t>
            </a:r>
            <a:r>
              <a:rPr lang="en-US" altLang="ko-KR" dirty="0"/>
              <a:t>, IoT </a:t>
            </a:r>
            <a:r>
              <a:rPr lang="ko-KR" altLang="en-US" dirty="0"/>
              <a:t>도입 이후 클라우드와 통합 </a:t>
            </a:r>
            <a:r>
              <a:rPr lang="en-US" altLang="ko-KR" dirty="0"/>
              <a:t>DB</a:t>
            </a:r>
            <a:r>
              <a:rPr lang="ko-KR" altLang="en-US" dirty="0"/>
              <a:t>를 통해 유기적으로 동기화됩니다</a:t>
            </a:r>
            <a:r>
              <a:rPr lang="en-US" altLang="ko-KR" dirty="0"/>
              <a:t>. PLC</a:t>
            </a:r>
            <a:r>
              <a:rPr lang="ko-KR" altLang="en-US" dirty="0"/>
              <a:t>는 단순 제어기에서 공장 빅데이터를 클라우드로 전송하는 </a:t>
            </a:r>
            <a:r>
              <a:rPr lang="ko-KR" altLang="en-US" b="1" dirty="0"/>
              <a:t>무선 데이터 허브</a:t>
            </a:r>
            <a:r>
              <a:rPr lang="ko-KR" altLang="en-US" dirty="0"/>
              <a:t>로 진화하며</a:t>
            </a:r>
            <a:r>
              <a:rPr lang="en-US" altLang="ko-KR" dirty="0"/>
              <a:t>, </a:t>
            </a:r>
            <a:r>
              <a:rPr lang="ko-KR" altLang="en-US" dirty="0"/>
              <a:t>무선 분산 제어로 다품종 소량 생산이 가능한 유연한 공정이 실현됩니다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ko-KR" altLang="en-US" b="1" dirty="0"/>
              <a:t>초연결을 구현하는 </a:t>
            </a:r>
            <a:r>
              <a:rPr lang="en-US" altLang="ko-KR" b="1" dirty="0"/>
              <a:t>IoT 4</a:t>
            </a:r>
            <a:r>
              <a:rPr lang="ko-KR" altLang="en-US" b="1" dirty="0"/>
              <a:t>대 핵심 기술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endParaRPr lang="en-US" altLang="ko-KR" dirty="0"/>
          </a:p>
          <a:p>
            <a:r>
              <a:rPr lang="ko-KR" altLang="en-US" b="1" dirty="0"/>
              <a:t>디바이스</a:t>
            </a:r>
            <a:r>
              <a:rPr lang="en-US" altLang="ko-KR" dirty="0"/>
              <a:t>: </a:t>
            </a:r>
            <a:r>
              <a:rPr lang="ko-KR" altLang="en-US" dirty="0"/>
              <a:t>초소형 센서 모듈과 오픈소스 하드웨어가 </a:t>
            </a:r>
            <a:r>
              <a:rPr lang="ko-KR" altLang="en-US" dirty="0" err="1"/>
              <a:t>실세계</a:t>
            </a:r>
            <a:r>
              <a:rPr lang="ko-KR" altLang="en-US" dirty="0"/>
              <a:t> 데이터를 감지</a:t>
            </a:r>
            <a:r>
              <a:rPr lang="en-US" altLang="ko-KR" dirty="0"/>
              <a:t>·</a:t>
            </a:r>
            <a:r>
              <a:rPr lang="ko-KR" altLang="en-US" dirty="0"/>
              <a:t>제어합니다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네트워크</a:t>
            </a:r>
            <a:r>
              <a:rPr lang="en-US" altLang="ko-KR" dirty="0"/>
              <a:t>: </a:t>
            </a:r>
            <a:r>
              <a:rPr lang="en-US" altLang="ko-KR" dirty="0" err="1"/>
              <a:t>LoRa·NB-IoT</a:t>
            </a:r>
            <a:r>
              <a:rPr lang="en-US" altLang="ko-KR" dirty="0"/>
              <a:t> </a:t>
            </a:r>
            <a:r>
              <a:rPr lang="ko-KR" altLang="en-US" dirty="0"/>
              <a:t>등 저전력 무선통신과 </a:t>
            </a:r>
            <a:r>
              <a:rPr lang="en-US" altLang="ko-KR" dirty="0"/>
              <a:t>5G/6G </a:t>
            </a:r>
            <a:r>
              <a:rPr lang="ko-KR" altLang="en-US" dirty="0"/>
              <a:t>인프라가 디바이스를 연결합니다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플랫폼</a:t>
            </a:r>
            <a:r>
              <a:rPr lang="en-US" altLang="ko-KR" dirty="0"/>
              <a:t>: </a:t>
            </a:r>
            <a:r>
              <a:rPr lang="ko-KR" altLang="en-US" dirty="0" err="1"/>
              <a:t>포그</a:t>
            </a:r>
            <a:r>
              <a:rPr lang="en-US" altLang="ko-KR" dirty="0"/>
              <a:t>/</a:t>
            </a:r>
            <a:r>
              <a:rPr lang="ko-KR" altLang="en-US" dirty="0" err="1"/>
              <a:t>엣지</a:t>
            </a:r>
            <a:r>
              <a:rPr lang="ko-KR" altLang="en-US" dirty="0"/>
              <a:t> 컴퓨팅 기반으로 센싱 빅데이터를 분석하고 의사결정을 수행합니다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서비스</a:t>
            </a:r>
            <a:r>
              <a:rPr lang="en-US" altLang="ko-KR" dirty="0"/>
              <a:t>: </a:t>
            </a:r>
            <a:r>
              <a:rPr lang="ko-KR" altLang="en-US" dirty="0" err="1"/>
              <a:t>스마트홈</a:t>
            </a:r>
            <a:r>
              <a:rPr lang="en-US" altLang="ko-KR" dirty="0"/>
              <a:t>·</a:t>
            </a:r>
            <a:r>
              <a:rPr lang="ko-KR" altLang="en-US" dirty="0"/>
              <a:t>헬스케어</a:t>
            </a:r>
            <a:r>
              <a:rPr lang="en-US" altLang="ko-KR" dirty="0"/>
              <a:t>·</a:t>
            </a:r>
            <a:r>
              <a:rPr lang="ko-KR" altLang="en-US" dirty="0"/>
              <a:t>스마트시티 등 맞춤형 실시간 최적화 솔루션을 제공합니다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altLang="ko-KR" b="1" dirty="0"/>
              <a:t>IoT </a:t>
            </a:r>
            <a:r>
              <a:rPr lang="ko-KR" altLang="en-US" b="1" dirty="0"/>
              <a:t>도입의 실질적 성과</a:t>
            </a:r>
            <a:r>
              <a:rPr lang="ko-KR" altLang="en-US" dirty="0"/>
              <a:t>를 수치로 확인합니다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r>
              <a:rPr lang="ko-KR" altLang="en-US" dirty="0"/>
              <a:t>맥킨지 보고서에 따르면</a:t>
            </a:r>
            <a:r>
              <a:rPr lang="en-US" altLang="ko-KR" dirty="0"/>
              <a:t>, </a:t>
            </a:r>
            <a:r>
              <a:rPr lang="ko-KR" altLang="en-US" dirty="0"/>
              <a:t>제조 현장 </a:t>
            </a:r>
            <a:r>
              <a:rPr lang="en-US" altLang="ko-KR" dirty="0"/>
              <a:t>IoT </a:t>
            </a:r>
            <a:r>
              <a:rPr lang="ko-KR" altLang="en-US" dirty="0"/>
              <a:t>도입 결과 </a:t>
            </a:r>
            <a:r>
              <a:rPr lang="ko-KR" altLang="en-US" b="1" dirty="0"/>
              <a:t>노동 효율성 </a:t>
            </a:r>
            <a:r>
              <a:rPr lang="en-US" altLang="ko-KR" b="1" dirty="0"/>
              <a:t>25% </a:t>
            </a:r>
            <a:r>
              <a:rPr lang="ko-KR" altLang="en-US" b="1" dirty="0"/>
              <a:t>향상</a:t>
            </a:r>
            <a:r>
              <a:rPr lang="en-US" altLang="ko-KR" b="1" dirty="0"/>
              <a:t>, </a:t>
            </a:r>
            <a:r>
              <a:rPr lang="ko-KR" altLang="en-US" b="1" dirty="0"/>
              <a:t>전력 에너지 </a:t>
            </a:r>
            <a:r>
              <a:rPr lang="en-US" altLang="ko-KR" b="1" dirty="0"/>
              <a:t>20% </a:t>
            </a:r>
            <a:r>
              <a:rPr lang="ko-KR" altLang="en-US" b="1" dirty="0"/>
              <a:t>절감</a:t>
            </a:r>
            <a:r>
              <a:rPr lang="ko-KR" altLang="en-US" dirty="0"/>
              <a:t>이 달성되었습니다</a:t>
            </a:r>
            <a:r>
              <a:rPr lang="en-US" altLang="ko-KR" dirty="0"/>
              <a:t>. </a:t>
            </a:r>
          </a:p>
          <a:p>
            <a:pPr marL="158750" indent="0">
              <a:buNone/>
            </a:pPr>
            <a:r>
              <a:rPr lang="ko-KR" altLang="en-US" dirty="0"/>
              <a:t>설비와 에너지를 실시간으로 최적화하고 </a:t>
            </a:r>
            <a:r>
              <a:rPr lang="ko-KR" altLang="en-US" dirty="0" err="1"/>
              <a:t>비계획</a:t>
            </a:r>
            <a:r>
              <a:rPr lang="ko-KR" altLang="en-US" dirty="0"/>
              <a:t> 가동 중단도 줄인 결과입니다</a:t>
            </a:r>
            <a:r>
              <a:rPr lang="en-US" altLang="ko-KR" dirty="0"/>
              <a:t>. </a:t>
            </a:r>
          </a:p>
          <a:p>
            <a:pPr marL="158750" indent="0">
              <a:buNone/>
            </a:pPr>
            <a:r>
              <a:rPr lang="en-US" altLang="ko-KR" dirty="0"/>
              <a:t>IoT</a:t>
            </a:r>
            <a:r>
              <a:rPr lang="ko-KR" altLang="en-US" dirty="0"/>
              <a:t>가 기업 경영 성과에 직접적인 영향을 미친다는 것을 보여주는 수치입니다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altLang="ko-KR" b="1" dirty="0" err="1"/>
              <a:t>AIoT</a:t>
            </a:r>
            <a:r>
              <a:rPr lang="ko-KR" altLang="en-US" b="1" dirty="0"/>
              <a:t>에서 </a:t>
            </a:r>
            <a:r>
              <a:rPr lang="en-US" altLang="ko-KR" b="1" dirty="0"/>
              <a:t>A-IoT</a:t>
            </a:r>
            <a:r>
              <a:rPr lang="ko-KR" altLang="en-US" b="1" dirty="0"/>
              <a:t>로의 진화</a:t>
            </a:r>
            <a:r>
              <a:rPr lang="ko-KR" altLang="en-US" dirty="0"/>
              <a:t>를 살펴보겠습니다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r>
              <a:rPr lang="ko-KR" altLang="en-US" dirty="0"/>
              <a:t>현재의 </a:t>
            </a:r>
            <a:r>
              <a:rPr lang="en-US" altLang="ko-KR" b="1" dirty="0" err="1"/>
              <a:t>AIoT</a:t>
            </a:r>
            <a:r>
              <a:rPr lang="ko-KR" altLang="en-US" dirty="0"/>
              <a:t>는 센싱 데이터를 클라우드로 전송해 </a:t>
            </a:r>
            <a:r>
              <a:rPr lang="en-US" altLang="ko-KR" dirty="0"/>
              <a:t>AI</a:t>
            </a:r>
            <a:r>
              <a:rPr lang="ko-KR" altLang="en-US" dirty="0"/>
              <a:t>가 분석하고 인간의 의사결정을 보조하는 단계입니다</a:t>
            </a:r>
            <a:r>
              <a:rPr lang="en-US" altLang="ko-KR" dirty="0"/>
              <a:t>. </a:t>
            </a:r>
          </a:p>
          <a:p>
            <a:pPr marL="158750" indent="0">
              <a:buNone/>
            </a:pPr>
            <a:r>
              <a:rPr lang="ko-KR" altLang="en-US" dirty="0"/>
              <a:t>미래의 </a:t>
            </a:r>
            <a:r>
              <a:rPr lang="en-US" altLang="ko-KR" b="1" dirty="0"/>
              <a:t>A-IoT</a:t>
            </a:r>
            <a:r>
              <a:rPr lang="ko-KR" altLang="en-US" dirty="0"/>
              <a:t>는 </a:t>
            </a:r>
            <a:r>
              <a:rPr lang="en-US" altLang="ko-KR" dirty="0"/>
              <a:t>AI </a:t>
            </a:r>
            <a:r>
              <a:rPr lang="ko-KR" altLang="en-US" dirty="0"/>
              <a:t>연산이 </a:t>
            </a:r>
            <a:r>
              <a:rPr lang="ko-KR" altLang="en-US" dirty="0" err="1"/>
              <a:t>엣지</a:t>
            </a:r>
            <a:r>
              <a:rPr lang="ko-KR" altLang="en-US" dirty="0"/>
              <a:t> 장치 자체에 탑재되어 인간 개입 없이 기기끼리 자율 협업하는 완전 자율 시스템입니다</a:t>
            </a:r>
            <a:r>
              <a:rPr lang="en-US" altLang="ko-KR" dirty="0"/>
              <a:t>. </a:t>
            </a:r>
          </a:p>
          <a:p>
            <a:pPr marL="158750" indent="0">
              <a:buNone/>
            </a:pPr>
            <a:r>
              <a:rPr lang="ko-KR" altLang="en-US" dirty="0"/>
              <a:t>이 전환의 핵심은 </a:t>
            </a:r>
            <a:r>
              <a:rPr lang="ko-KR" altLang="en-US" b="1" dirty="0" err="1"/>
              <a:t>고신뢰</a:t>
            </a:r>
            <a:r>
              <a:rPr lang="en-US" altLang="ko-KR" b="1" dirty="0"/>
              <a:t>·</a:t>
            </a:r>
            <a:r>
              <a:rPr lang="ko-KR" altLang="en-US" b="1" dirty="0" err="1"/>
              <a:t>저지연</a:t>
            </a:r>
            <a:r>
              <a:rPr lang="ko-KR" altLang="en-US" b="1" dirty="0"/>
              <a:t> 통신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altLang="ko-KR" b="1" dirty="0"/>
              <a:t>IoT</a:t>
            </a:r>
            <a:r>
              <a:rPr lang="ko-KR" altLang="en-US" b="1" dirty="0"/>
              <a:t>와 메타버스의 연결</a:t>
            </a:r>
            <a:r>
              <a:rPr lang="ko-KR" altLang="en-US" dirty="0"/>
              <a:t>에 대해 </a:t>
            </a:r>
            <a:r>
              <a:rPr lang="ko-KR" altLang="en-US" dirty="0" err="1"/>
              <a:t>설명드립니다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endParaRPr lang="en-US" altLang="ko-KR" dirty="0"/>
          </a:p>
          <a:p>
            <a:pPr marL="158750" indent="0">
              <a:buNone/>
            </a:pPr>
            <a:r>
              <a:rPr lang="en-US" altLang="ko-KR" dirty="0"/>
              <a:t>IoT </a:t>
            </a:r>
            <a:r>
              <a:rPr lang="ko-KR" altLang="en-US" dirty="0"/>
              <a:t>센서 네트워크가 현실 데이터를 수집해 메타버스와 실시간 동기화하는 </a:t>
            </a:r>
            <a:r>
              <a:rPr lang="en-US" altLang="ko-KR" dirty="0"/>
              <a:t>'</a:t>
            </a:r>
            <a:r>
              <a:rPr lang="ko-KR" altLang="en-US" dirty="0"/>
              <a:t>거울 세계</a:t>
            </a:r>
            <a:r>
              <a:rPr lang="en-US" altLang="ko-KR" dirty="0"/>
              <a:t>(Mirror World)' </a:t>
            </a:r>
            <a:r>
              <a:rPr lang="ko-KR" altLang="en-US" dirty="0"/>
              <a:t>개념이 구현되고 있습니다</a:t>
            </a:r>
            <a:r>
              <a:rPr lang="en-US" altLang="ko-KR" dirty="0"/>
              <a:t>. </a:t>
            </a:r>
          </a:p>
          <a:p>
            <a:pPr marL="158750" indent="0">
              <a:buNone/>
            </a:pPr>
            <a:r>
              <a:rPr lang="ko-KR" altLang="en-US" dirty="0"/>
              <a:t>감각 효과 메타데이터</a:t>
            </a:r>
            <a:r>
              <a:rPr lang="en-US" altLang="ko-KR" dirty="0"/>
              <a:t>(SEM) </a:t>
            </a:r>
            <a:r>
              <a:rPr lang="ko-KR" altLang="en-US" dirty="0"/>
              <a:t>표준화로 오감까지 메타버스에 구현되며</a:t>
            </a:r>
            <a:r>
              <a:rPr lang="en-US" altLang="ko-KR" dirty="0"/>
              <a:t>, </a:t>
            </a:r>
            <a:r>
              <a:rPr lang="ko-KR" altLang="en-US" dirty="0"/>
              <a:t>가상 전구를 조작하면 </a:t>
            </a:r>
            <a:endParaRPr lang="en-US" altLang="ko-KR" dirty="0"/>
          </a:p>
          <a:p>
            <a:pPr marL="158750" indent="0">
              <a:buNone/>
            </a:pPr>
            <a:r>
              <a:rPr lang="ko-KR" altLang="en-US" dirty="0"/>
              <a:t>실제 조명이 켜지는 </a:t>
            </a:r>
            <a:r>
              <a:rPr lang="en-US" altLang="ko-KR" b="1" dirty="0"/>
              <a:t>XR-IoT </a:t>
            </a:r>
            <a:r>
              <a:rPr lang="ko-KR" altLang="en-US" b="1" dirty="0"/>
              <a:t>컨트롤러</a:t>
            </a:r>
            <a:r>
              <a:rPr lang="ko-KR" altLang="en-US" dirty="0"/>
              <a:t>처럼 가상과 현실의 경계가 허물어지고 있습니다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" name="Google Shape;2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altLang="ko-KR" dirty="0"/>
              <a:t>IoT</a:t>
            </a:r>
            <a:r>
              <a:rPr lang="ko-KR" altLang="en-US" dirty="0"/>
              <a:t>와 결합되는 </a:t>
            </a:r>
            <a:r>
              <a:rPr lang="en-US" altLang="ko-KR" b="1" dirty="0"/>
              <a:t>AI </a:t>
            </a:r>
            <a:r>
              <a:rPr lang="ko-KR" altLang="en-US" b="1" dirty="0"/>
              <a:t>주요 기술</a:t>
            </a:r>
            <a:r>
              <a:rPr lang="ko-KR" altLang="en-US" dirty="0"/>
              <a:t>을 소개합니다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기계 학습</a:t>
            </a:r>
            <a:r>
              <a:rPr lang="en-US" altLang="ko-KR" dirty="0"/>
              <a:t>(ML)</a:t>
            </a:r>
            <a:r>
              <a:rPr lang="ko-KR" altLang="en-US" dirty="0"/>
              <a:t>은 지도</a:t>
            </a:r>
            <a:r>
              <a:rPr lang="en-US" altLang="ko-KR" dirty="0"/>
              <a:t>·</a:t>
            </a:r>
            <a:r>
              <a:rPr lang="ko-KR" altLang="en-US" dirty="0"/>
              <a:t>비지도</a:t>
            </a:r>
            <a:r>
              <a:rPr lang="en-US" altLang="ko-KR" dirty="0"/>
              <a:t>·</a:t>
            </a:r>
            <a:r>
              <a:rPr lang="ko-KR" altLang="en-US" dirty="0"/>
              <a:t>강화학습 세 방식으로 나뉘며</a:t>
            </a:r>
            <a:r>
              <a:rPr lang="en-US" altLang="ko-KR" dirty="0"/>
              <a:t>, </a:t>
            </a:r>
            <a:r>
              <a:rPr lang="ko-KR" altLang="en-US" b="1" dirty="0" err="1"/>
              <a:t>딥러닝</a:t>
            </a:r>
            <a:r>
              <a:rPr lang="ko-KR" altLang="en-US" dirty="0" err="1"/>
              <a:t>은</a:t>
            </a:r>
            <a:r>
              <a:rPr lang="ko-KR" altLang="en-US" dirty="0"/>
              <a:t> 뇌 뉴런 구조를 모델화해 복잡한 패턴을 인식합니다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퍼지 시스템</a:t>
            </a:r>
            <a:r>
              <a:rPr lang="ko-KR" altLang="en-US" dirty="0"/>
              <a:t>은 현실의 모호한 상황을 수학적으로 처리하여 분류 정확도를 높입니다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이러한 </a:t>
            </a:r>
            <a:r>
              <a:rPr lang="en-US" altLang="ko-KR" dirty="0"/>
              <a:t>AI </a:t>
            </a:r>
            <a:r>
              <a:rPr lang="ko-KR" altLang="en-US" dirty="0"/>
              <a:t>기술이 </a:t>
            </a:r>
            <a:r>
              <a:rPr lang="en-US" altLang="ko-KR" dirty="0"/>
              <a:t>IoT </a:t>
            </a:r>
            <a:r>
              <a:rPr lang="ko-KR" altLang="en-US" dirty="0"/>
              <a:t>플랫폼과 결합되어 정밀한 예측과 자동화를 가능하게 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7" name="Google Shape;2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 dirty="0"/>
              <a:t>인간과 공존하는 지능형 협업 로봇을</a:t>
            </a:r>
            <a:r>
              <a:rPr lang="en-US" altLang="ko-KR" dirty="0"/>
              <a:t> </a:t>
            </a:r>
            <a:r>
              <a:rPr lang="ko-KR" altLang="en-US" dirty="0"/>
              <a:t>소개해 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 산업용 로봇은 차단 펜스 안에 격리되어야 했지만</a:t>
            </a:r>
            <a:r>
              <a:rPr lang="en-US" altLang="ko-KR" dirty="0"/>
              <a:t>, </a:t>
            </a:r>
            <a:r>
              <a:rPr lang="ko-KR" altLang="en-US" dirty="0"/>
              <a:t>오늘날 협업 로봇은 작업자의 시선</a:t>
            </a:r>
            <a:r>
              <a:rPr lang="en-US" altLang="ko-KR" dirty="0"/>
              <a:t>·</a:t>
            </a:r>
            <a:r>
              <a:rPr lang="ko-KR" altLang="en-US" dirty="0"/>
              <a:t>동작을 실시간 인식해 </a:t>
            </a:r>
            <a:r>
              <a:rPr lang="ko-KR" altLang="en-US" b="1" dirty="0"/>
              <a:t>자율 회피 제어</a:t>
            </a:r>
            <a:r>
              <a:rPr lang="ko-KR" altLang="en-US" dirty="0"/>
              <a:t>를 수행합니다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직접 팔을 움직여 동작을 가르치는 직관적 모션 훈련 방식과</a:t>
            </a:r>
            <a:r>
              <a:rPr lang="en-US" altLang="ko-KR" dirty="0"/>
              <a:t>, </a:t>
            </a:r>
            <a:r>
              <a:rPr lang="ko-KR" altLang="en-US" dirty="0" err="1"/>
              <a:t>화낙</a:t>
            </a:r>
            <a:r>
              <a:rPr lang="ko-KR" altLang="en-US" dirty="0"/>
              <a:t> </a:t>
            </a:r>
            <a:r>
              <a:rPr lang="en-US" altLang="ko-KR" dirty="0"/>
              <a:t>FIELD </a:t>
            </a:r>
            <a:r>
              <a:rPr lang="ko-KR" altLang="en-US" dirty="0"/>
              <a:t>시스템 같은 이기종 장비 간 오픈 </a:t>
            </a:r>
            <a:r>
              <a:rPr lang="en-US" altLang="ko-KR" dirty="0"/>
              <a:t>API</a:t>
            </a:r>
            <a:r>
              <a:rPr lang="ko-KR" altLang="en-US" dirty="0"/>
              <a:t>로 </a:t>
            </a:r>
            <a:r>
              <a:rPr lang="ko-KR" altLang="en-US" dirty="0" err="1"/>
              <a:t>스마트팩토리</a:t>
            </a:r>
            <a:r>
              <a:rPr lang="ko-KR" altLang="en-US" dirty="0"/>
              <a:t> 환경이 완성됩니다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9" name="Google Shape;2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altLang="ko-KR" dirty="0"/>
              <a:t>IoT</a:t>
            </a:r>
            <a:r>
              <a:rPr lang="ko-KR" altLang="en-US" dirty="0"/>
              <a:t>는 단순히 기기를 연결하는 기술이 아니라</a:t>
            </a:r>
            <a:r>
              <a:rPr lang="en-US" altLang="ko-KR" dirty="0"/>
              <a:t>, </a:t>
            </a:r>
            <a:r>
              <a:rPr lang="ko-KR" altLang="en-US" dirty="0"/>
              <a:t>제조</a:t>
            </a:r>
            <a:r>
              <a:rPr lang="en-US" altLang="ko-KR" dirty="0"/>
              <a:t>·</a:t>
            </a:r>
            <a:r>
              <a:rPr lang="ko-KR" altLang="en-US" dirty="0"/>
              <a:t>의료</a:t>
            </a:r>
            <a:r>
              <a:rPr lang="en-US" altLang="ko-KR" dirty="0"/>
              <a:t>·</a:t>
            </a:r>
            <a:r>
              <a:rPr lang="ko-KR" altLang="en-US" dirty="0"/>
              <a:t>물류</a:t>
            </a:r>
            <a:r>
              <a:rPr lang="en-US" altLang="ko-KR" dirty="0"/>
              <a:t>·</a:t>
            </a:r>
            <a:r>
              <a:rPr lang="ko-KR" altLang="en-US" dirty="0"/>
              <a:t>메타버스</a:t>
            </a:r>
            <a:r>
              <a:rPr lang="en-US" altLang="ko-KR" dirty="0"/>
              <a:t>·</a:t>
            </a:r>
            <a:r>
              <a:rPr lang="ko-KR" altLang="en-US" dirty="0"/>
              <a:t>로봇 등 모든 산업을 지능적으로 연결하는 </a:t>
            </a:r>
            <a:r>
              <a:rPr lang="en-US" altLang="ko-KR" dirty="0"/>
              <a:t>4</a:t>
            </a:r>
            <a:r>
              <a:rPr lang="ko-KR" altLang="en-US" dirty="0"/>
              <a:t>차 산업혁명의 핵심 동력입니다</a:t>
            </a:r>
            <a:r>
              <a:rPr lang="en-US" altLang="ko-KR" dirty="0"/>
              <a:t>. 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altLang="ko-KR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en-US"/>
              <a:t>이상으로 </a:t>
            </a:r>
            <a:r>
              <a:rPr lang="ko-KR" altLang="en-US" dirty="0"/>
              <a:t>발표를 마치겠습니다</a:t>
            </a:r>
            <a:r>
              <a:rPr lang="en-US" altLang="ko-KR" dirty="0"/>
              <a:t>.</a:t>
            </a:r>
          </a:p>
          <a:p>
            <a:pPr marL="158750" indent="0">
              <a:buNone/>
            </a:pPr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203328" y="2021234"/>
            <a:ext cx="178519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D9488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BRIEFING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19178" y="2592650"/>
            <a:ext cx="6553500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사물인터넷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(IoT) </a:t>
            </a:r>
            <a:r>
              <a:rPr lang="en-US" sz="3600" b="1" i="0" u="none" strike="noStrike" cap="none" dirty="0" err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기술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및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600" b="1" i="0" u="none" strike="noStrike" cap="none" dirty="0" err="1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혁신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628875" y="3542661"/>
            <a:ext cx="49341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20213032 권영훈</a:t>
            </a:r>
            <a:endParaRPr sz="1800" b="1"/>
          </a:p>
        </p:txBody>
      </p:sp>
      <p:sp>
        <p:nvSpPr>
          <p:cNvPr id="89" name="Google Shape;89;p13"/>
          <p:cNvSpPr/>
          <p:nvPr/>
        </p:nvSpPr>
        <p:spPr>
          <a:xfrm>
            <a:off x="5619750" y="4207966"/>
            <a:ext cx="952500" cy="2857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71525" y="6129337"/>
            <a:ext cx="66064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IoT Strategy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71525" y="6115050"/>
            <a:ext cx="174009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1장 제4차 산업 혁명이라는 신세계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070877" y="6129337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2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81050" y="2584995"/>
            <a:ext cx="26574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438525" y="2584995"/>
            <a:ext cx="26574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0" y="2584995"/>
            <a:ext cx="5314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781050" y="3299370"/>
            <a:ext cx="26574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3438525" y="3299370"/>
            <a:ext cx="26574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096000" y="3299370"/>
            <a:ext cx="5314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781050" y="3813720"/>
            <a:ext cx="26574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3438525" y="3813720"/>
            <a:ext cx="26574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096000" y="3813720"/>
            <a:ext cx="5314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81050" y="4328070"/>
            <a:ext cx="26574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3438525" y="4328070"/>
            <a:ext cx="26574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096000" y="4328070"/>
            <a:ext cx="531495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771525" y="581025"/>
            <a:ext cx="11181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01.</a:t>
            </a:r>
            <a:r>
              <a:rPr lang="en-US" sz="25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제4차 산업혁명의 정의 및 변천 과정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771525" y="969615"/>
            <a:ext cx="49300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2244200"/>
            <a:ext cx="11648024" cy="29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91667"/>
            <a:ext cx="5133975" cy="214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91667"/>
            <a:ext cx="5133975" cy="214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71525" y="6115050"/>
            <a:ext cx="153054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2장 비즈니스 패러다임의 변화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070877" y="6129337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3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66800" y="2686942"/>
            <a:ext cx="477059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가전제조 및 물류 산업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1066800" y="3020317"/>
            <a:ext cx="4543425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066800" y="3153667"/>
            <a:ext cx="45434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하드웨어 중심에서 지속 서비스로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66800" y="3559373"/>
            <a:ext cx="4543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소비 패턴 분석을 통해 냉장고 속 신선 식품 소비 요구에 유연하게 즉각 대응하고, 단순 배송 최적화 단계를 넘어 소비자 맞춤형 즉시 배송 경쟁으로 패러다임이 이동합니다.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81775" y="2686942"/>
            <a:ext cx="477059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의료 및 제조 산업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581775" y="3020317"/>
            <a:ext cx="4543425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581775" y="3153667"/>
            <a:ext cx="45434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사후 치료에서 사전 건강 관리로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581775" y="3559373"/>
            <a:ext cx="4543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의학 서적 및 환자 기록을 학습한 인공지능(예: IBM Watson)을 접목해 조기 진단 및 처방 서비스를 구현하며, 대량생산 체제에서 다품종 맞춤형 적량 생산으로 선진화됩니다.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71525" y="581025"/>
            <a:ext cx="1118139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02.</a:t>
            </a:r>
            <a:r>
              <a:rPr lang="en-US" sz="25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기술 혁신에 따른 산업별 패러다임 변화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71525" y="969615"/>
            <a:ext cx="44719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30623" y="277951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726" y="277951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84828" y="277951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771525" y="6115050"/>
            <a:ext cx="159394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4장 사물 인터넷의 개념 및 특징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1070877" y="6129337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4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851215" y="3590895"/>
            <a:ext cx="106489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691635" y="3289502"/>
            <a:ext cx="3354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디바이스 연결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63426" y="3703438"/>
            <a:ext cx="300409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RFID와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단순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센서를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연결하여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취합하고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</a:p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상태를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모니터링하는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데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주력하는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단계</a:t>
            </a:r>
            <a:endParaRPr dirty="0"/>
          </a:p>
        </p:txBody>
      </p:sp>
      <p:sp>
        <p:nvSpPr>
          <p:cNvPr id="148" name="Google Shape;148;p16"/>
          <p:cNvSpPr txBox="1"/>
          <p:nvPr/>
        </p:nvSpPr>
        <p:spPr>
          <a:xfrm>
            <a:off x="4418750" y="3289502"/>
            <a:ext cx="3354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인프라 구축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506264" y="3703438"/>
            <a:ext cx="3179173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대용량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분석하기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위한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빅데이터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, IoT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미들웨어를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보급하여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가치를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극대화하는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단계</a:t>
            </a:r>
            <a:endParaRPr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8145865" y="3289502"/>
            <a:ext cx="3354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산업 혁신 솔루션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200869" y="3703438"/>
            <a:ext cx="324416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클라우드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엣지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컴퓨팅을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활용한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자율주행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스마트공장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등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산업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맞춤형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자율제어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플랫폼을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고도화하는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단계</a:t>
            </a:r>
            <a:endParaRPr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771525" y="581025"/>
            <a:ext cx="1118139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03.</a:t>
            </a:r>
            <a:r>
              <a:rPr lang="en-US" sz="25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사물인터넷(IoT) 발전 3단계와 특징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771525" y="969615"/>
            <a:ext cx="5065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1365" y="1846808"/>
            <a:ext cx="406910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771525" y="6115050"/>
            <a:ext cx="182254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3장 사물 인터넷에 의한 산업의 변화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1070877" y="6129337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5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000125" y="2338536"/>
            <a:ext cx="58749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생산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관리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(MES, CIM)의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연동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독립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운용되던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ERP(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계획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), MES(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실행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), PLC(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제어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)가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클라우드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네트워크와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통합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데이터베이스를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유기적으로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동기화됩니다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1000125" y="3222277"/>
            <a:ext cx="587499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PLC 역할의 비약적 도약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기존 국소 설비 제어기 역할에서 탈피하여 공장 내 실시간 빅데이터를 클라우드로 중계 전송하는 </a:t>
            </a:r>
            <a:r>
              <a:rPr lang="en-US" sz="12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무선 데이터 허브</a:t>
            </a:r>
            <a:r>
              <a:rPr lang="en-US" sz="12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로 도약합니다.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00125" y="4106019"/>
            <a:ext cx="587499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유연하고 탄력적인 공정 라인 구현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무선 분산 제어로 생산 라인 변경 비용을 억제하며 다품종 소량 생산을 가능케 합니다.</a:t>
            </a:r>
            <a:endParaRPr/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60890" y="1856333"/>
            <a:ext cx="4050059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771525" y="2357586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71525" y="3241327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71525" y="4125069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71525" y="581025"/>
            <a:ext cx="1118139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04.</a:t>
            </a:r>
            <a:r>
              <a:rPr lang="en-US" sz="25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스마트 팩토리 제어 계층의 진화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771525" y="969615"/>
            <a:ext cx="549533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536626"/>
            <a:ext cx="2519362" cy="185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1387" y="2536626"/>
            <a:ext cx="2519362" cy="185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2536626"/>
            <a:ext cx="2519362" cy="185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1112" y="2536626"/>
            <a:ext cx="2519362" cy="185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771525" y="6115050"/>
            <a:ext cx="144794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5장 사물 인터넷의 주요 기술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1070877" y="6129337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6</a:t>
            </a:r>
            <a:endParaRPr/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774751"/>
            <a:ext cx="204311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1009650" y="3174801"/>
            <a:ext cx="21452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디바이스 (Device)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009650" y="3517701"/>
            <a:ext cx="2043112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감지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구동제어를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처리하는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고성능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초소형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모듈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오픈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소스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하드웨어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(OSHP)</a:t>
            </a:r>
            <a:endParaRPr dirty="0"/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19512" y="2774751"/>
            <a:ext cx="204311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3719512" y="3174801"/>
            <a:ext cx="21452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 (Network)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3719512" y="3517701"/>
            <a:ext cx="2043112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저전력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장거리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무선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통신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(LoRa, NB-IoT) 및 5G/6G의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초신뢰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저지연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네트워킹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핵심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인프라</a:t>
            </a:r>
            <a:endParaRPr dirty="0"/>
          </a:p>
        </p:txBody>
      </p:sp>
      <p:pic>
        <p:nvPicPr>
          <p:cNvPr id="190" name="Google Shape;19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29375" y="2774751"/>
            <a:ext cx="204311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6429375" y="3174801"/>
            <a:ext cx="21452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 (Platform)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429375" y="3517701"/>
            <a:ext cx="2043112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대규모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센싱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빅데이터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수집·분석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포그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엣지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컴퓨팅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판단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가상화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아키텍처</a:t>
            </a:r>
            <a:endParaRPr dirty="0"/>
          </a:p>
        </p:txBody>
      </p:sp>
      <p:pic>
        <p:nvPicPr>
          <p:cNvPr id="193" name="Google Shape;19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39237" y="2774751"/>
            <a:ext cx="204311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9139237" y="3174801"/>
            <a:ext cx="21452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(Service)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9139237" y="3517701"/>
            <a:ext cx="193164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스마트홈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헬스케어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스마트시티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등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공공안전과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기업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비즈니스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맞춤형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솔루션</a:t>
            </a:r>
            <a:endParaRPr dirty="0"/>
          </a:p>
        </p:txBody>
      </p:sp>
      <p:sp>
        <p:nvSpPr>
          <p:cNvPr id="196" name="Google Shape;196;p18"/>
          <p:cNvSpPr txBox="1"/>
          <p:nvPr/>
        </p:nvSpPr>
        <p:spPr>
          <a:xfrm>
            <a:off x="771525" y="581025"/>
            <a:ext cx="1118139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05.</a:t>
            </a:r>
            <a:r>
              <a:rPr lang="en-US" sz="25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초연결을 구현하는 4대 핵심 기술 구성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771525" y="969615"/>
            <a:ext cx="46157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651670"/>
            <a:ext cx="22860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8525" y="2651670"/>
            <a:ext cx="22860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771525" y="6115050"/>
            <a:ext cx="1822549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3장 사물 인터넷에 의한 산업의 변화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1070877" y="6129337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7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1066800" y="2946945"/>
            <a:ext cx="1695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D9488"/>
                </a:solidFill>
                <a:latin typeface="Space Grotesk"/>
                <a:ea typeface="Space Grotesk"/>
                <a:cs typeface="Space Grotesk"/>
                <a:sym typeface="Space Grotesk"/>
              </a:rPr>
              <a:t>25%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066800" y="3804195"/>
            <a:ext cx="1695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제조 노동 효율성 향상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3733800" y="2946945"/>
            <a:ext cx="1695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20%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3733800" y="3804195"/>
            <a:ext cx="1695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제조 전력 에너지 절감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096000" y="2835622"/>
            <a:ext cx="558069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맥킨지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보고서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(McKinsey &amp; Co.)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정량적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진단</a:t>
            </a:r>
            <a:endParaRPr dirty="0"/>
          </a:p>
        </p:txBody>
      </p:sp>
      <p:sp>
        <p:nvSpPr>
          <p:cNvPr id="213" name="Google Shape;213;p19"/>
          <p:cNvSpPr txBox="1"/>
          <p:nvPr/>
        </p:nvSpPr>
        <p:spPr>
          <a:xfrm>
            <a:off x="6105525" y="3276144"/>
            <a:ext cx="53149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공장의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전력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장비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최적화함으로써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10~20%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수준의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에너지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효율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200" b="1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극대화</a:t>
            </a:r>
            <a:r>
              <a:rPr lang="ko-KR" alt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와 가동 중단 시간 억제를 실현합니다</a:t>
            </a:r>
            <a:r>
              <a:rPr lang="en-US" altLang="ko-KR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lang="ko-KR" altLang="en-US" dirty="0"/>
          </a:p>
        </p:txBody>
      </p:sp>
      <p:sp>
        <p:nvSpPr>
          <p:cNvPr id="215" name="Google Shape;215;p19"/>
          <p:cNvSpPr txBox="1"/>
          <p:nvPr/>
        </p:nvSpPr>
        <p:spPr>
          <a:xfrm>
            <a:off x="771525" y="581025"/>
            <a:ext cx="1118139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06.</a:t>
            </a:r>
            <a:r>
              <a:rPr lang="en-US" sz="25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사물인터넷 도입에 따른 실질 가치와 성과</a:t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771525" y="969615"/>
            <a:ext cx="41576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391667"/>
            <a:ext cx="5133975" cy="214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91667"/>
            <a:ext cx="5133975" cy="214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771525" y="6115050"/>
            <a:ext cx="144794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6장 사물 인터넷의 발전 방향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1070877" y="6129337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8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095375" y="2686942"/>
            <a:ext cx="47405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지능형 사물인터넷 (AIoT)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1095375" y="3020317"/>
            <a:ext cx="45148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1095375" y="3153667"/>
            <a:ext cx="45148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진단 및 분석 지원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1095375" y="3559373"/>
            <a:ext cx="459230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수집된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센싱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데이터를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중앙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클라우드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컴퓨터로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전송하고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인공지능이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이를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기계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학습하여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복잡한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환경에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대처하고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인간의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지능적인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의사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결정을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보조합니다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31" name="Google Shape;231;p20"/>
          <p:cNvSpPr txBox="1"/>
          <p:nvPr/>
        </p:nvSpPr>
        <p:spPr>
          <a:xfrm>
            <a:off x="6610350" y="2686942"/>
            <a:ext cx="47405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자율형 사물인터넷 (A-IoT)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6610350" y="3020317"/>
            <a:ext cx="45148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610350" y="3153667"/>
            <a:ext cx="45148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인간 개입 최소화 및 스스로 판단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610349" y="3559373"/>
            <a:ext cx="467300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연산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소프트웨어가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단말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엣지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장치에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탑재됩니다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고신뢰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저지연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통신을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사람의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지시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없이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지능화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기기끼리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자율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분산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협업을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완성합니다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35" name="Google Shape;235;p20"/>
          <p:cNvSpPr txBox="1"/>
          <p:nvPr/>
        </p:nvSpPr>
        <p:spPr>
          <a:xfrm>
            <a:off x="771525" y="581025"/>
            <a:ext cx="1118139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07.</a:t>
            </a:r>
            <a:r>
              <a:rPr lang="en-US" sz="25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지능형 AIoT에서 자율형 A-IoT로의 발전</a:t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771525" y="969615"/>
            <a:ext cx="4348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1365" y="1846808"/>
            <a:ext cx="406910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771525" y="6115050"/>
            <a:ext cx="183534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7장 메타버스 / 8장 확장 현실의 활용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11070877" y="6129337"/>
            <a:ext cx="349597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9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000124" y="2216646"/>
            <a:ext cx="6010275" cy="59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현실-가상의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유기적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통합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동기화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사물인터넷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(IoT)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실제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연동으로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거울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세계와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가상의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세계가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실시간으로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동기화됩니다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47" name="Google Shape;247;p21"/>
          <p:cNvSpPr txBox="1"/>
          <p:nvPr/>
        </p:nvSpPr>
        <p:spPr>
          <a:xfrm>
            <a:off x="1000125" y="3100387"/>
            <a:ext cx="6067784" cy="59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실감형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오감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기술의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표준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적용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HMD를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활용한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시청각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정보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외에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감각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효과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(SEM)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표준화를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활용하여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기계적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자극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오감을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메타버스로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동기화합니다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48" name="Google Shape;248;p21"/>
          <p:cNvSpPr txBox="1"/>
          <p:nvPr/>
        </p:nvSpPr>
        <p:spPr>
          <a:xfrm>
            <a:off x="1000125" y="3984128"/>
            <a:ext cx="6067784" cy="59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가상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요소로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물리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제어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가상의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전구를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조정하여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실제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이케아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조명을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On/Off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시키는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XR-IoT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컨트롤러처럼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실세상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제어를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지원합니다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pic>
        <p:nvPicPr>
          <p:cNvPr id="249" name="Google Shape;24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60890" y="1856333"/>
            <a:ext cx="4050059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771525" y="2235696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771525" y="3119437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771525" y="4003178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771525" y="581025"/>
            <a:ext cx="1118139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08.</a:t>
            </a:r>
            <a:r>
              <a:rPr lang="en-US" sz="25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가상과 실제를 연결하는 메타버스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771525" y="969615"/>
            <a:ext cx="52615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536626"/>
            <a:ext cx="3422600" cy="185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4625" y="2536626"/>
            <a:ext cx="3422600" cy="185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7725" y="2536626"/>
            <a:ext cx="3422600" cy="185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771525" y="6115050"/>
            <a:ext cx="144794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9장 인공 지능을 활용한 혁신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1007328" y="6129337"/>
            <a:ext cx="41314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10</a:t>
            </a:r>
            <a:endParaRPr/>
          </a:p>
        </p:txBody>
      </p:sp>
      <p:pic>
        <p:nvPicPr>
          <p:cNvPr id="266" name="Google Shape;26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774751"/>
            <a:ext cx="29463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1009650" y="3174801"/>
            <a:ext cx="309366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기계 학습 (ML)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1009650" y="3517701"/>
            <a:ext cx="300450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지도학습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라벨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지정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정답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),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비지도학습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군집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),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강화학습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최적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행동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유도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pic>
        <p:nvPicPr>
          <p:cNvPr id="269" name="Google Shape;26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22750" y="2774751"/>
            <a:ext cx="29463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4622750" y="3174801"/>
            <a:ext cx="309366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다층 인공신경망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4622749" y="3517701"/>
            <a:ext cx="3037507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인간의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뇌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뉴런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신호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전달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방식을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모델화하여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</a:p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정형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비정형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오차가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최소화되도록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가중치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훈련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조정</a:t>
            </a:r>
            <a:endParaRPr dirty="0"/>
          </a:p>
        </p:txBody>
      </p:sp>
      <p:pic>
        <p:nvPicPr>
          <p:cNvPr id="272" name="Google Shape;272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35850" y="2774751"/>
            <a:ext cx="29463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>
            <a:off x="8235850" y="3174801"/>
            <a:ext cx="309366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퍼지 및 서포트벡터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8235850" y="3517701"/>
            <a:ext cx="294635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주관적이고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애매모호한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현실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표현의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수학적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반영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(Fuzzy) 및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마진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극대화를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통하여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이중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분류를</a:t>
            </a:r>
            <a:r>
              <a:rPr lang="en-US" sz="1050" b="0" i="0" u="none" strike="noStrike" cap="none" dirty="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50" b="0" i="0" u="none" strike="noStrike" cap="none" dirty="0" err="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</a:t>
            </a:r>
            <a:endParaRPr dirty="0"/>
          </a:p>
        </p:txBody>
      </p:sp>
      <p:sp>
        <p:nvSpPr>
          <p:cNvPr id="275" name="Google Shape;275;p22"/>
          <p:cNvSpPr txBox="1"/>
          <p:nvPr/>
        </p:nvSpPr>
        <p:spPr>
          <a:xfrm>
            <a:off x="771525" y="581025"/>
            <a:ext cx="1118139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09.</a:t>
            </a:r>
            <a:r>
              <a:rPr lang="en-US" sz="25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인공지능 주요 기술과 학습 프레임워크</a:t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771525" y="969615"/>
            <a:ext cx="45523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51365" y="1846808"/>
            <a:ext cx="406910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5962650"/>
            <a:ext cx="106489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3"/>
          <p:cNvSpPr txBox="1"/>
          <p:nvPr/>
        </p:nvSpPr>
        <p:spPr>
          <a:xfrm>
            <a:off x="771525" y="6115050"/>
            <a:ext cx="876448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10장 로봇의 진화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11015811" y="6129337"/>
            <a:ext cx="404663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11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000125" y="2216646"/>
            <a:ext cx="5874990" cy="59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장벽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없는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안전한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공간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작업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특수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차단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펜스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없이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작업자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옆에서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보행자의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시선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모션을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파악하여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자율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회피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제어를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수행합니다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87" name="Google Shape;287;p23"/>
          <p:cNvSpPr txBox="1"/>
          <p:nvPr/>
        </p:nvSpPr>
        <p:spPr>
          <a:xfrm>
            <a:off x="1000125" y="3100387"/>
            <a:ext cx="5993022" cy="39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직관적이고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신속한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모션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훈련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오픈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엔지니어가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직접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팔을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조작하는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간단한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조작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훈련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(GUI)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방식을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채택합니다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288" name="Google Shape;288;p23"/>
          <p:cNvSpPr txBox="1"/>
          <p:nvPr/>
        </p:nvSpPr>
        <p:spPr>
          <a:xfrm>
            <a:off x="1000125" y="3984128"/>
            <a:ext cx="5993022" cy="39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이기종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장비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간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오픈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1" i="0" u="none" strike="noStrike" cap="none" dirty="0" err="1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구현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화낙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FIELD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등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시스코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포그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서버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이기종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간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오픈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API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인터페이스를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지원합니다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pic>
        <p:nvPicPr>
          <p:cNvPr id="289" name="Google Shape;28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60890" y="1856333"/>
            <a:ext cx="4050059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 txBox="1"/>
          <p:nvPr/>
        </p:nvSpPr>
        <p:spPr>
          <a:xfrm>
            <a:off x="771525" y="2235696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771525" y="3119437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771525" y="4003178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■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771525" y="581025"/>
            <a:ext cx="1118139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10.</a:t>
            </a:r>
            <a:r>
              <a:rPr lang="en-US" sz="25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인간과 공존하는 지능형 협업 로봇</a:t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771525" y="969615"/>
            <a:ext cx="5181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8000" b="1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경청해 주셔서 감사합니다.</a:t>
            </a:r>
            <a:endParaRPr sz="1800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5619750" y="6286500"/>
            <a:ext cx="952500" cy="381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1421</Words>
  <Application>Microsoft Office PowerPoint</Application>
  <PresentationFormat>와이드스크린</PresentationFormat>
  <Paragraphs>145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Calibri</vt:lpstr>
      <vt:lpstr>Noto Sans KR</vt:lpstr>
      <vt:lpstr>Arial</vt:lpstr>
      <vt:lpstr>Space Grotesk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영훈 권</cp:lastModifiedBy>
  <cp:revision>3</cp:revision>
  <dcterms:modified xsi:type="dcterms:W3CDTF">2026-06-02T12:24:16Z</dcterms:modified>
</cp:coreProperties>
</file>